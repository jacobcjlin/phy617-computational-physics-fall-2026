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85" r:id="rId4"/>
    <p:sldId id="258" r:id="rId5"/>
    <p:sldId id="260" r:id="rId6"/>
    <p:sldId id="261" r:id="rId7"/>
    <p:sldId id="262" r:id="rId8"/>
    <p:sldId id="286" r:id="rId9"/>
    <p:sldId id="287"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6" r:id="rId23"/>
    <p:sldId id="277"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62"/>
    <p:restoredTop sz="94701"/>
  </p:normalViewPr>
  <p:slideViewPr>
    <p:cSldViewPr snapToGrid="0" snapToObjects="1">
      <p:cViewPr varScale="1">
        <p:scale>
          <a:sx n="105" d="100"/>
          <a:sy n="105" d="100"/>
        </p:scale>
        <p:origin x="224"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2543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a:t>
            </a:r>
          </a:p>
          <a:p>
            <a:r>
              <a:t>First half: how coding agents work and the five habits that matter. Second half: apply every habit to the fast simulator from NB03 Exercise 2, including the failure cases you must document.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Tie to the syllabus AI policy. Grading of NB03 Exercise 2 rewards the process documentation (prompts, instruction files, verification, failure case), not just working code.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28783-5338-1D8A-2355-03716CD77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B103C-C9F1-FC92-2EAD-9906C9C8F3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4BDE96-5ED0-A834-5763-C1CE937FD5BA}"/>
              </a:ext>
            </a:extLst>
          </p:cNvPr>
          <p:cNvSpPr>
            <a:spLocks noGrp="1"/>
          </p:cNvSpPr>
          <p:nvPr>
            <p:ph type="body" sz="quarter" idx="3"/>
          </p:nvPr>
        </p:nvSpPr>
        <p:spPr/>
        <p:txBody>
          <a:bodyPr/>
          <a:lstStyle/>
          <a:p>
            <a:r>
              <a:t>⏱ 2 min</a:t>
            </a:r>
          </a:p>
          <a:p>
            <a:r>
              <a:t>Tie to the syllabus AI policy. Grading of NB03 Exercise 2 rewards the process documentation (prompts, instruction files, verification, failure case), not just working code.</a:t>
            </a:r>
          </a:p>
        </p:txBody>
      </p:sp>
      <p:sp>
        <p:nvSpPr>
          <p:cNvPr id="4" name="Slide Number Placeholder 3">
            <a:extLst>
              <a:ext uri="{FF2B5EF4-FFF2-40B4-BE49-F238E27FC236}">
                <a16:creationId xmlns:a16="http://schemas.microsoft.com/office/drawing/2014/main" id="{9ACF7114-29DF-C856-E591-4D245F2F0DD0}"/>
              </a:ext>
            </a:extLst>
          </p:cNvPr>
          <p:cNvSpPr>
            <a:spLocks noGrp="1"/>
          </p:cNvSpPr>
          <p:nvPr>
            <p:ph type="sldNum" sz="quarter" idx="5"/>
          </p:nvPr>
        </p:nvSpPr>
        <p:spPr/>
      </p:sp>
    </p:spTree>
    <p:extLst>
      <p:ext uri="{BB962C8B-B14F-4D97-AF65-F5344CB8AC3E}">
        <p14:creationId xmlns:p14="http://schemas.microsoft.com/office/powerpoint/2010/main" val="752014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 min</a:t>
            </a:r>
          </a:p>
          <a:p>
            <a:r>
              <a:t>“Is Claude Code smarter?” It is the same model with hands. It can run your tests, so it can catch its own mistakes. It can also edit or delete files, so permissions matter (slide 14).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Read the two definitions from NB03 Section 2 aloud. Ask who has had AI-generated code that ran, produced a plot, and was wrong. That is the lecture’s motivating fear, and the reason Exercise 1 (your own naive simulator) came before Exercise 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 min</a:t>
            </a:r>
          </a:p>
          <a:p>
            <a:r>
              <a:t>Analogy: training is the disk (read-only, general); the context is RAM (fast, specific, small). You are the memory manager. The typical student failure: a three-hour session where the endianness convention was stated in message 2 and silently violated in message 60.</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Demonstrate /context after reading a large notebook to show how fast it fills. /compact with a focus instruction is much better than the automatic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A6413-5E21-52F6-C40E-0F3EAF1B9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88E6A-8785-7850-713C-A28F96394A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F23C89-F928-5C2E-714C-9FE0EF35CCE5}"/>
              </a:ext>
            </a:extLst>
          </p:cNvPr>
          <p:cNvSpPr>
            <a:spLocks noGrp="1"/>
          </p:cNvSpPr>
          <p:nvPr>
            <p:ph type="body" sz="quarter" idx="3"/>
          </p:nvPr>
        </p:nvSpPr>
        <p:spPr/>
        <p:txBody>
          <a:bodyPr/>
          <a:lstStyle/>
          <a:p>
            <a:r>
              <a:t>⏱ 2 min</a:t>
            </a:r>
          </a:p>
          <a:p>
            <a:r>
              <a:t>Demonstrate /context after reading a large notebook to show how fast it fills. /compact with a focus instruction is much better than the automatic one.</a:t>
            </a:r>
          </a:p>
        </p:txBody>
      </p:sp>
      <p:sp>
        <p:nvSpPr>
          <p:cNvPr id="4" name="Slide Number Placeholder 3">
            <a:extLst>
              <a:ext uri="{FF2B5EF4-FFF2-40B4-BE49-F238E27FC236}">
                <a16:creationId xmlns:a16="http://schemas.microsoft.com/office/drawing/2014/main" id="{65441C3B-D494-0933-A54C-AE83A3D73F60}"/>
              </a:ext>
            </a:extLst>
          </p:cNvPr>
          <p:cNvSpPr>
            <a:spLocks noGrp="1"/>
          </p:cNvSpPr>
          <p:nvPr>
            <p:ph type="sldNum" sz="quarter" idx="5"/>
          </p:nvPr>
        </p:nvSpPr>
        <p:spPr/>
      </p:sp>
    </p:spTree>
    <p:extLst>
      <p:ext uri="{BB962C8B-B14F-4D97-AF65-F5344CB8AC3E}">
        <p14:creationId xmlns:p14="http://schemas.microsoft.com/office/powerpoint/2010/main" val="497292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 2 min</a:t>
            </a:r>
          </a:p>
          <a:p>
            <a:r>
              <a:t>Students have written Markdown in notebook text cells; name it. The point here: the agent reads these files as text, so headings, bullets and backticks are how you speak precisely to it. Optional: open CLAUDE.md in VS Code next to its preview (Shift+Cmd+V).</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 min</a:t>
            </a:r>
          </a:p>
          <a:p>
            <a:r>
              <a:t>Treat it like the “conventions” page of a lab notebook: the one place a collaborator, human or AI, looks first. Every line costs context on every turn, so keep it short. The assignment accepts either file name.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Every line was earned by a real failure while developing the reference solution. Walk through the convention block slowly; it is the single most common source of AI bugs in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Skills package a procedure you want repeated identically: the verification recipe, the benchmark protocol, a plotting style. Note step 3: a timing test that encodes the physics of the algorithm. It catches a whole class of “looks fast but is not” failures (slide 24).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 min</a:t>
            </a:r>
          </a:p>
          <a:p>
            <a:r>
              <a:t>This is Anthropic’s recommended pattern (code.claude.com/docs/en/best-practices) and the workflow in NB03 Section 2. The plan is where you inject physics: axis mapping, convention, which tests discriminate. A test the agent wrote and passes is weak evidence; a test you understand that encodes a physical fact is strong evidence.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Do not teach the last bullet; show it exists. If short on time, this slide can be skipped and read later.</a:t>
            </a:r>
          </a:p>
          <a:p>
            <a:r>
              <a:t>Notebooks are hostile to agents: JSON with outputs and hidden execution state. Keep the physics in modules and let the notebook import and plot. Bad prompt: “write an Ising simulator with Trotter and plots”. Good prompt: “write apply_gate_2q_fast(state, U, j, k) only; it must match apply_gate_2q on random states.” The repo layout on slide 17 is the example.</a:t>
            </a:r>
          </a:p>
          <a:p>
            <a:r>
              <a:t>Secrets: everything in the context can end up in transcripts, autosaves and the model's output; a key pasted once is a key to rotate. The same care applies to unpublished data and institutional data rules.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Students felt the pain in Exercise 1 around n = 12.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Live demo if time permits: show what /init produced and what you had to add by hand (it will not know the qubit convention).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 min</a:t>
            </a:r>
          </a:p>
          <a:p>
            <a:r>
              <a:t>Read the plan critically. Common plan errors: axis j instead of n-1-j; np.einsum that secretly builds the full operator; “vectorise np.kron” (still O(4^n)). Fix the plan before code exists; it is the cheapest moment.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 min</a:t>
            </a:r>
          </a:p>
          <a:p>
            <a:r>
              <a:t>Here the student contributes physics: knowing which gates are symmetric under qubit exchange. The AI often proposes CZ for the ordering test, which is useless. The full test file is in Appendix E; it was run against the reference solution (18 pass) and against a transposed-convention mutant (17 of 18 fail). Companion repo: tests/test_simulator.py at tag step3-tests; the mutant is branch failure-1-transposed-convention.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Ask the class the four questions, then have the agent answer them and compare. (reshape(-1) after moveaxis copies because the array is no longer contiguous; that is a later optimisation target.)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 min</a:t>
            </a:r>
          </a:p>
          <a:p>
            <a:r>
              <a:t>Spend time here. Draw the bit layout  high | b_k | b_j | low.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Same protocol as NB02 Exercise 1.6. Skip this slide if short on time.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Case 1 is the one most students will hit. Reproduce it live if there is time: remove the convention lines from CLAUDE.md, ask for the function in a fresh session, and watch the ordering flip. Case 2 is not malice; the agent optimises for green tests, which is what you asked for. Your rules define “done”. Companion repo: branches failure-1-transposed-convention and failure-2-agent-edited-tests; the hook is at tag step8b-hook.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a:t>
            </a:r>
          </a:p>
          <a:p>
            <a:r>
              <a:t>Case 3 connects to the whole point of Topics 2 and 3: exponential scaling. Case 4 connects forward to Exercise 3 and the physics result they will plot. Companion repo: branches failure-3-fake-speedup (run scripts/scaling.py --n 8 10 12, not higher) and failure-4-removed-assertion (run scripts/trotter_check.py); the fix is tag step9-general-2q.</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slides. Not part of the 50-minute core deck.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companion repo’s git log is one commit per session, tagged step1-instructions to step9-general-2q.</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first two rows are implemented in the companion repo: tests/test_general_2q.py (a dense operator written out from the definition as the oracle) and scripts/trotter_check.py.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Do not teach; show that these exist.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Could also be handed out as a one-page checklist.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6419088"/>
            <a:ext cx="5486400" cy="153888"/>
          </a:xfrm>
          <a:prstGeom prst="rect">
            <a:avLst/>
          </a:prstGeom>
          <a:noFill/>
        </p:spPr>
        <p:txBody>
          <a:bodyPr wrap="square" lIns="0" tIns="0" rIns="0" bIns="0" anchor="t">
            <a:spAutoFit/>
          </a:bodyPr>
          <a:lstStyle/>
          <a:p>
            <a:pPr algn="l"/>
            <a:r>
              <a:rPr sz="1000" b="0" i="0" dirty="0">
                <a:solidFill>
                  <a:srgbClr val="5B6470"/>
                </a:solidFill>
                <a:latin typeface="Arial"/>
              </a:rPr>
              <a:t>PHY 517/617 · AI-assisted coding </a:t>
            </a:r>
          </a:p>
        </p:txBody>
      </p:sp>
      <p:sp>
        <p:nvSpPr>
          <p:cNvPr id="3" name="TextBox 2"/>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 / 25</a:t>
            </a:r>
          </a:p>
        </p:txBody>
      </p:sp>
      <p:sp>
        <p:nvSpPr>
          <p:cNvPr id="4" name="TextBox 3"/>
          <p:cNvSpPr txBox="1"/>
          <p:nvPr/>
        </p:nvSpPr>
        <p:spPr>
          <a:xfrm>
            <a:off x="548640" y="1417320"/>
            <a:ext cx="11094415" cy="169277"/>
          </a:xfrm>
          <a:prstGeom prst="rect">
            <a:avLst/>
          </a:prstGeom>
          <a:noFill/>
        </p:spPr>
        <p:txBody>
          <a:bodyPr wrap="square" lIns="0" tIns="0" rIns="0" bIns="0" anchor="t">
            <a:spAutoFit/>
          </a:bodyPr>
          <a:lstStyle/>
          <a:p>
            <a:pPr algn="l"/>
            <a:r>
              <a:rPr sz="1100" b="1" i="0" cap="all" spc="180" dirty="0">
                <a:solidFill>
                  <a:srgbClr val="0E5A8A"/>
                </a:solidFill>
                <a:latin typeface="Arial"/>
              </a:rPr>
              <a:t>PHY 517/617 Computational Physics</a:t>
            </a:r>
          </a:p>
        </p:txBody>
      </p:sp>
      <p:sp>
        <p:nvSpPr>
          <p:cNvPr id="5" name="TextBox 4"/>
          <p:cNvSpPr txBox="1"/>
          <p:nvPr/>
        </p:nvSpPr>
        <p:spPr>
          <a:xfrm>
            <a:off x="548640" y="1783080"/>
            <a:ext cx="9601200" cy="677108"/>
          </a:xfrm>
          <a:prstGeom prst="rect">
            <a:avLst/>
          </a:prstGeom>
          <a:noFill/>
        </p:spPr>
        <p:txBody>
          <a:bodyPr wrap="square" lIns="0" tIns="0" rIns="0" bIns="0" anchor="t">
            <a:spAutoFit/>
          </a:bodyPr>
          <a:lstStyle/>
          <a:p>
            <a:pPr algn="l"/>
            <a:r>
              <a:rPr sz="4400" b="1" i="0" dirty="0">
                <a:solidFill>
                  <a:srgbClr val="1B1F24"/>
                </a:solidFill>
                <a:latin typeface="Georgia"/>
              </a:rPr>
              <a:t>AI-Assisted Coding</a:t>
            </a:r>
          </a:p>
        </p:txBody>
      </p:sp>
      <p:sp>
        <p:nvSpPr>
          <p:cNvPr id="7" name="TextBox 6"/>
          <p:cNvSpPr txBox="1"/>
          <p:nvPr/>
        </p:nvSpPr>
        <p:spPr>
          <a:xfrm>
            <a:off x="548640" y="4434840"/>
            <a:ext cx="10058400" cy="365760"/>
          </a:xfrm>
          <a:prstGeom prst="rect">
            <a:avLst/>
          </a:prstGeom>
          <a:noFill/>
        </p:spPr>
        <p:txBody>
          <a:bodyPr wrap="square" lIns="0" tIns="0" rIns="0" bIns="0" anchor="t">
            <a:spAutoFit/>
          </a:bodyPr>
          <a:lstStyle/>
          <a:p>
            <a:pPr algn="l"/>
            <a:r>
              <a:rPr sz="1800" b="0" i="0">
                <a:solidFill>
                  <a:srgbClr val="1B1F24"/>
                </a:solidFill>
                <a:latin typeface="Arial"/>
              </a:rPr>
              <a:t>Case study: an efficient state-vector simulator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461665"/>
          </a:xfrm>
          <a:prstGeom prst="rect">
            <a:avLst/>
          </a:prstGeom>
          <a:noFill/>
        </p:spPr>
        <p:txBody>
          <a:bodyPr wrap="square" lIns="0" tIns="0" rIns="0" bIns="0" anchor="t">
            <a:spAutoFit/>
          </a:bodyPr>
          <a:lstStyle/>
          <a:p>
            <a:pPr algn="l"/>
            <a:r>
              <a:rPr lang="en-US" sz="3000" b="1" i="0" dirty="0">
                <a:solidFill>
                  <a:srgbClr val="1B1F24"/>
                </a:solidFill>
                <a:latin typeface="Georgia"/>
              </a:rPr>
              <a:t>Final Presentation</a:t>
            </a:r>
            <a:endParaRPr sz="3000" b="1" i="0" dirty="0">
              <a:solidFill>
                <a:srgbClr val="1B1F24"/>
              </a:solidFill>
              <a:latin typeface="Georgia"/>
            </a:endParaRP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2 / 25</a:t>
            </a:r>
          </a:p>
        </p:txBody>
      </p:sp>
      <p:sp>
        <p:nvSpPr>
          <p:cNvPr id="6" name="TextBox 5"/>
          <p:cNvSpPr txBox="1"/>
          <p:nvPr/>
        </p:nvSpPr>
        <p:spPr>
          <a:xfrm>
            <a:off x="548640" y="1463040"/>
            <a:ext cx="11094415" cy="4154984"/>
          </a:xfrm>
          <a:prstGeom prst="rect">
            <a:avLst/>
          </a:prstGeom>
          <a:noFill/>
        </p:spPr>
        <p:txBody>
          <a:bodyPr wrap="square" lIns="0" tIns="0" rIns="0" bIns="0">
            <a:spAutoFit/>
          </a:bodyPr>
          <a:lstStyle/>
          <a:p>
            <a:pPr marL="285750" lvl="0" indent="-285750">
              <a:buFont typeface="Arial" panose="020B0604020202020204" pitchFamily="34" charset="0"/>
              <a:buChar char="•"/>
            </a:pPr>
            <a:r>
              <a:rPr lang="en-US" b="1" dirty="0"/>
              <a:t>Time:</a:t>
            </a:r>
            <a:r>
              <a:rPr lang="en-US" dirty="0"/>
              <a:t> 15 minutes</a:t>
            </a:r>
          </a:p>
          <a:p>
            <a:pPr marL="285750" lvl="0" indent="-285750">
              <a:buFont typeface="Arial" panose="020B0604020202020204" pitchFamily="34" charset="0"/>
              <a:buChar char="•"/>
            </a:pPr>
            <a:r>
              <a:rPr lang="en-US" dirty="0"/>
              <a:t>Present a project or a homework assignment of your choice.</a:t>
            </a:r>
          </a:p>
          <a:p>
            <a:pPr marL="285750" lvl="0" indent="-285750">
              <a:buFont typeface="Arial" panose="020B0604020202020204" pitchFamily="34" charset="0"/>
              <a:buChar char="•"/>
            </a:pPr>
            <a:r>
              <a:rPr lang="en-US" b="1" dirty="0"/>
              <a:t>Strongly encouraged:</a:t>
            </a:r>
            <a:r>
              <a:rPr lang="en-US" dirty="0"/>
              <a:t> Explain how you used AI to help with your project or assignment. </a:t>
            </a:r>
            <a:br>
              <a:rPr lang="en-US" dirty="0"/>
            </a:br>
            <a:r>
              <a:rPr lang="en-US" dirty="0"/>
              <a:t>Document and present the following:</a:t>
            </a:r>
          </a:p>
          <a:p>
            <a:pPr lvl="1"/>
            <a:br>
              <a:rPr lang="en-US" b="1" dirty="0"/>
            </a:br>
            <a:r>
              <a:rPr lang="en-US" b="1" dirty="0"/>
              <a:t>Prompting strategies:</a:t>
            </a:r>
            <a:r>
              <a:rPr lang="en-US" dirty="0"/>
              <a:t> Describe useful practices, techniques, or prompt patterns that helped you get better results from the AI assistant.</a:t>
            </a:r>
            <a:br>
              <a:rPr lang="en-US" dirty="0"/>
            </a:br>
            <a:endParaRPr lang="en-US" dirty="0"/>
          </a:p>
          <a:p>
            <a:pPr lvl="1"/>
            <a:r>
              <a:rPr lang="en-US" b="1" dirty="0"/>
              <a:t>Instructions and supporting files:</a:t>
            </a:r>
            <a:r>
              <a:rPr lang="en-US" dirty="0"/>
              <a:t> Any Markdown files or other documents you used to guide the AI agent.</a:t>
            </a:r>
          </a:p>
          <a:p>
            <a:pPr lvl="1"/>
            <a:br>
              <a:rPr lang="en-US" b="1" dirty="0"/>
            </a:br>
            <a:r>
              <a:rPr lang="en-US" b="1" dirty="0"/>
              <a:t>Verification and debugging:</a:t>
            </a:r>
            <a:r>
              <a:rPr lang="en-US" dirty="0"/>
              <a:t> Explain how you verified the correctness of AI-generated code, identified errors, tested individual components, and checked the final results.</a:t>
            </a:r>
          </a:p>
          <a:p>
            <a:pPr lvl="1"/>
            <a:br>
              <a:rPr lang="en-US" b="1" dirty="0"/>
            </a:br>
            <a:r>
              <a:rPr lang="en-US" b="1" dirty="0"/>
              <a:t>Failure case:</a:t>
            </a:r>
            <a:r>
              <a:rPr lang="en-US" dirty="0"/>
              <a:t> Provide an example of AI-generated code that initially looked acceptable but was incorrect, inefficient, or poorly designed. Explain how you detected and corrected the problem.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A3CD-CCF5-89DA-EF96-86444BBD14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1CFC93-3B9C-7C62-C8E6-488956C7B056}"/>
              </a:ext>
            </a:extLst>
          </p:cNvPr>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a:extLst>
              <a:ext uri="{FF2B5EF4-FFF2-40B4-BE49-F238E27FC236}">
                <a16:creationId xmlns:a16="http://schemas.microsoft.com/office/drawing/2014/main" id="{9611A1BF-0389-9C4B-289A-2B33044A88B7}"/>
              </a:ext>
            </a:extLst>
          </p:cNvPr>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3 / 25</a:t>
            </a:r>
          </a:p>
        </p:txBody>
      </p:sp>
      <p:sp>
        <p:nvSpPr>
          <p:cNvPr id="7" name="TextBox 6">
            <a:extLst>
              <a:ext uri="{FF2B5EF4-FFF2-40B4-BE49-F238E27FC236}">
                <a16:creationId xmlns:a16="http://schemas.microsoft.com/office/drawing/2014/main" id="{551118B2-841C-37ED-4E21-B54E4A8144B1}"/>
              </a:ext>
            </a:extLst>
          </p:cNvPr>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8" name="TextBox 7">
            <a:extLst>
              <a:ext uri="{FF2B5EF4-FFF2-40B4-BE49-F238E27FC236}">
                <a16:creationId xmlns:a16="http://schemas.microsoft.com/office/drawing/2014/main" id="{9ECD4097-AE39-5912-2E55-D4FDEFF63501}"/>
              </a:ext>
            </a:extLst>
          </p:cNvPr>
          <p:cNvSpPr txBox="1"/>
          <p:nvPr/>
        </p:nvSpPr>
        <p:spPr>
          <a:xfrm>
            <a:off x="548640" y="621792"/>
            <a:ext cx="11094415" cy="502920"/>
          </a:xfrm>
          <a:prstGeom prst="rect">
            <a:avLst/>
          </a:prstGeom>
          <a:noFill/>
        </p:spPr>
        <p:txBody>
          <a:bodyPr wrap="square" lIns="0" tIns="0" rIns="0" bIns="0" anchor="t">
            <a:spAutoFit/>
          </a:bodyPr>
          <a:lstStyle/>
          <a:p>
            <a:pPr algn="l"/>
            <a:r>
              <a:rPr sz="3000" b="1" i="0" dirty="0">
                <a:solidFill>
                  <a:srgbClr val="1B1F24"/>
                </a:solidFill>
                <a:latin typeface="Georgia"/>
              </a:rPr>
              <a:t>Chat assistant versus coding agent</a:t>
            </a:r>
          </a:p>
        </p:txBody>
      </p:sp>
      <p:pic>
        <p:nvPicPr>
          <p:cNvPr id="9" name="Picture 8">
            <a:extLst>
              <a:ext uri="{FF2B5EF4-FFF2-40B4-BE49-F238E27FC236}">
                <a16:creationId xmlns:a16="http://schemas.microsoft.com/office/drawing/2014/main" id="{66650A88-1705-51AA-0957-AFC6290EF90C}"/>
              </a:ext>
            </a:extLst>
          </p:cNvPr>
          <p:cNvPicPr>
            <a:picLocks noChangeAspect="1"/>
          </p:cNvPicPr>
          <p:nvPr/>
        </p:nvPicPr>
        <p:blipFill>
          <a:blip r:embed="rId3"/>
          <a:stretch>
            <a:fillRect/>
          </a:stretch>
        </p:blipFill>
        <p:spPr>
          <a:xfrm>
            <a:off x="395561" y="1198395"/>
            <a:ext cx="5923596" cy="2230179"/>
          </a:xfrm>
          <a:prstGeom prst="rect">
            <a:avLst/>
          </a:prstGeom>
        </p:spPr>
      </p:pic>
      <p:pic>
        <p:nvPicPr>
          <p:cNvPr id="10" name="Picture 9">
            <a:extLst>
              <a:ext uri="{FF2B5EF4-FFF2-40B4-BE49-F238E27FC236}">
                <a16:creationId xmlns:a16="http://schemas.microsoft.com/office/drawing/2014/main" id="{D9508478-8650-EAB6-3331-2A58D95823B7}"/>
              </a:ext>
            </a:extLst>
          </p:cNvPr>
          <p:cNvPicPr>
            <a:picLocks noChangeAspect="1"/>
          </p:cNvPicPr>
          <p:nvPr/>
        </p:nvPicPr>
        <p:blipFill>
          <a:blip r:embed="rId4"/>
          <a:stretch>
            <a:fillRect/>
          </a:stretch>
        </p:blipFill>
        <p:spPr>
          <a:xfrm>
            <a:off x="5519056" y="3507522"/>
            <a:ext cx="6361793" cy="2783284"/>
          </a:xfrm>
          <a:prstGeom prst="rect">
            <a:avLst/>
          </a:prstGeom>
        </p:spPr>
      </p:pic>
    </p:spTree>
    <p:extLst>
      <p:ext uri="{BB962C8B-B14F-4D97-AF65-F5344CB8AC3E}">
        <p14:creationId xmlns:p14="http://schemas.microsoft.com/office/powerpoint/2010/main" val="427165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dirty="0">
                <a:solidFill>
                  <a:srgbClr val="1B1F24"/>
                </a:solidFill>
                <a:latin typeface="Georgia"/>
              </a:rPr>
              <a:t>Chat assistant versus coding agent</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4 / 25</a:t>
            </a:r>
          </a:p>
        </p:txBody>
      </p:sp>
      <p:graphicFrame>
        <p:nvGraphicFramePr>
          <p:cNvPr id="6" name="Table 5"/>
          <p:cNvGraphicFramePr>
            <a:graphicFrameLocks noGrp="1"/>
          </p:cNvGraphicFramePr>
          <p:nvPr/>
        </p:nvGraphicFramePr>
        <p:xfrm>
          <a:off x="548640" y="1371600"/>
          <a:ext cx="11094415" cy="2697480"/>
        </p:xfrm>
        <a:graphic>
          <a:graphicData uri="http://schemas.openxmlformats.org/drawingml/2006/table">
            <a:tbl>
              <a:tblPr/>
              <a:tblGrid>
                <a:gridCol w="19202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566928">
                <a:tc>
                  <a:txBody>
                    <a:bodyPr/>
                    <a:lstStyle/>
                    <a:p>
                      <a:pPr algn="l"/>
                      <a:endParaRPr/>
                    </a:p>
                  </a:txBody>
                  <a:tcPr marL="82296" marR="82296">
                    <a:lnL w="0">
                      <a:noFill/>
                    </a:lnL>
                    <a:lnR w="0">
                      <a:noFill/>
                    </a:lnR>
                    <a:lnT w="0">
                      <a:noFill/>
                    </a:lnT>
                    <a:lnB w="19050" cap="flat" cmpd="sng" algn="ctr">
                      <a:solidFill>
                        <a:srgbClr val="0E5A8A"/>
                      </a:solidFill>
                      <a:prstDash val="solid"/>
                    </a:lnB>
                  </a:tcPr>
                </a:tc>
                <a:tc>
                  <a:txBody>
                    <a:bodyPr/>
                    <a:lstStyle/>
                    <a:p>
                      <a:pPr algn="l"/>
                      <a:r>
                        <a:rPr sz="1500" b="1" i="0">
                          <a:solidFill>
                            <a:srgbClr val="1B1F24"/>
                          </a:solidFill>
                          <a:latin typeface="Arial"/>
                        </a:rPr>
                        <a:t>Chat assistant (claude.ai, ChatGPT)</a:t>
                      </a:r>
                    </a:p>
                  </a:txBody>
                  <a:tcPr marL="82296" marR="82296">
                    <a:lnL w="0">
                      <a:noFill/>
                    </a:lnL>
                    <a:lnR w="0">
                      <a:noFill/>
                    </a:lnR>
                    <a:lnT w="0">
                      <a:noFill/>
                    </a:lnT>
                    <a:lnB w="19050" cap="flat" cmpd="sng" algn="ctr">
                      <a:solidFill>
                        <a:srgbClr val="0E5A8A"/>
                      </a:solidFill>
                      <a:prstDash val="solid"/>
                    </a:lnB>
                  </a:tcPr>
                </a:tc>
                <a:tc>
                  <a:txBody>
                    <a:bodyPr/>
                    <a:lstStyle/>
                    <a:p>
                      <a:pPr algn="l"/>
                      <a:r>
                        <a:rPr sz="1500" b="1" i="0">
                          <a:solidFill>
                            <a:srgbClr val="1B1F24"/>
                          </a:solidFill>
                          <a:latin typeface="Arial"/>
                        </a:rPr>
                        <a:t>Coding agent (Claude Code, Codex, Cursor agent, Copilot agent)</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338328">
                <a:tc>
                  <a:txBody>
                    <a:bodyPr/>
                    <a:lstStyle/>
                    <a:p>
                      <a:pPr algn="l"/>
                      <a:r>
                        <a:rPr sz="1500" b="1" i="0">
                          <a:solidFill>
                            <a:srgbClr val="1B1F24"/>
                          </a:solidFill>
                          <a:latin typeface="Arial"/>
                        </a:rPr>
                        <a:t>Where it runs</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Browser or app window</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Your terminal, editor, or a cloud sandbox attached to your repo</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338328">
                <a:tc>
                  <a:txBody>
                    <a:bodyPr/>
                    <a:lstStyle/>
                    <a:p>
                      <a:pPr algn="l"/>
                      <a:r>
                        <a:rPr sz="1500" b="1" i="0">
                          <a:solidFill>
                            <a:srgbClr val="1B1F24"/>
                          </a:solidFill>
                          <a:latin typeface="Arial"/>
                        </a:rPr>
                        <a:t>What it sees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What you paste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Your files, directory tree, git history, command output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566928">
                <a:tc>
                  <a:txBody>
                    <a:bodyPr/>
                    <a:lstStyle/>
                    <a:p>
                      <a:pPr algn="l"/>
                      <a:r>
                        <a:rPr sz="1500" b="1" i="0">
                          <a:solidFill>
                            <a:srgbClr val="1B1F24"/>
                          </a:solidFill>
                          <a:latin typeface="Arial"/>
                        </a:rPr>
                        <a:t>What it can do</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Produce text and code for you to copy</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Read and edit files, run shell commands and tests, commit, search the web</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r h="338328">
                <a:tc>
                  <a:txBody>
                    <a:bodyPr/>
                    <a:lstStyle/>
                    <a:p>
                      <a:pPr algn="l"/>
                      <a:r>
                        <a:rPr sz="1500" b="1" i="0">
                          <a:solidFill>
                            <a:srgbClr val="1B1F24"/>
                          </a:solidFill>
                          <a:latin typeface="Arial"/>
                        </a:rPr>
                        <a:t>Loop</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One question, one answer</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Plan, act, observe result, act again, until the task is done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4"/>
                  </a:ext>
                </a:extLst>
              </a:tr>
              <a:tr h="338328">
                <a:tc>
                  <a:txBody>
                    <a:bodyPr/>
                    <a:lstStyle/>
                    <a:p>
                      <a:pPr algn="l"/>
                      <a:r>
                        <a:rPr sz="1500" b="1" i="0">
                          <a:solidFill>
                            <a:srgbClr val="1B1F24"/>
                          </a:solidFill>
                          <a:latin typeface="Arial"/>
                        </a:rPr>
                        <a:t>Your role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Copy, paste, run, report back</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Approve actions, review diffs, set constraints, verify</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4178807"/>
            <a:ext cx="11094415" cy="767080"/>
          </a:xfrm>
          <a:prstGeom prst="rect">
            <a:avLst/>
          </a:prstGeom>
          <a:noFill/>
        </p:spPr>
        <p:txBody>
          <a:bodyPr wrap="square" lIns="0" tIns="0" rIns="0" bIns="0">
            <a:spAutoFit/>
          </a:bodyPr>
          <a:lstStyle/>
          <a:p>
            <a:pPr marL="256032" indent="-256032">
              <a:spcAft>
                <a:spcPts val="800"/>
              </a:spcAft>
              <a:buClr>
                <a:srgbClr val="0E5A8A"/>
              </a:buClr>
              <a:buFont typeface="Arial"/>
              <a:buChar char="•"/>
            </a:pPr>
            <a:r>
              <a:rPr sz="1700" b="0" i="0">
                <a:solidFill>
                  <a:srgbClr val="1B1F24"/>
                </a:solidFill>
                <a:latin typeface="Arial"/>
              </a:rPr>
              <a:t>Same model family underneath. The difference is the </a:t>
            </a:r>
            <a:r>
              <a:rPr sz="1700" b="1" i="0">
                <a:solidFill>
                  <a:srgbClr val="1B1F24"/>
                </a:solidFill>
                <a:latin typeface="Arial"/>
              </a:rPr>
              <a:t>tools</a:t>
            </a:r>
            <a:r>
              <a:rPr sz="1700" b="0" i="0">
                <a:solidFill>
                  <a:srgbClr val="1B1F24"/>
                </a:solidFill>
                <a:latin typeface="Arial"/>
              </a:rPr>
              <a:t> and the </a:t>
            </a:r>
            <a:r>
              <a:rPr sz="1700" b="1" i="0">
                <a:solidFill>
                  <a:srgbClr val="1B1F24"/>
                </a:solidFill>
                <a:latin typeface="Arial"/>
              </a:rPr>
              <a:t>loop</a:t>
            </a:r>
            <a:r>
              <a:rPr sz="1700" b="0" i="0">
                <a:solidFill>
                  <a:srgbClr val="1B1F24"/>
                </a:solidFill>
                <a:latin typeface="Arial"/>
              </a:rPr>
              <a:t>.</a:t>
            </a:r>
          </a:p>
          <a:p>
            <a:pPr marL="256032" indent="-256032">
              <a:spcAft>
                <a:spcPts val="800"/>
              </a:spcAft>
              <a:buClr>
                <a:srgbClr val="0E5A8A"/>
              </a:buClr>
              <a:buFont typeface="Arial"/>
              <a:buChar char="•"/>
            </a:pPr>
            <a:r>
              <a:rPr sz="1700" b="0" i="0">
                <a:solidFill>
                  <a:srgbClr val="1B1F24"/>
                </a:solidFill>
                <a:latin typeface="Arial"/>
              </a:rPr>
              <a:t>Claude (chat) is to Claude Code as ChatGPT (chat) is to Codex. The pairs are analogous.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AI-assisted coding versus vibe coding</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5 / 25</a:t>
            </a:r>
          </a:p>
        </p:txBody>
      </p:sp>
      <p:graphicFrame>
        <p:nvGraphicFramePr>
          <p:cNvPr id="6" name="Table 5"/>
          <p:cNvGraphicFramePr>
            <a:graphicFrameLocks noGrp="1"/>
          </p:cNvGraphicFramePr>
          <p:nvPr/>
        </p:nvGraphicFramePr>
        <p:xfrm>
          <a:off x="548640" y="1371600"/>
          <a:ext cx="11094415" cy="1780032"/>
        </p:xfrm>
        <a:graphic>
          <a:graphicData uri="http://schemas.openxmlformats.org/drawingml/2006/table">
            <a:tbl>
              <a:tblPr/>
              <a:tblGrid>
                <a:gridCol w="2743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79215">
                  <a:extLst>
                    <a:ext uri="{9D8B030D-6E8A-4147-A177-3AD203B41FA5}">
                      <a16:colId xmlns:a16="http://schemas.microsoft.com/office/drawing/2014/main" val="20002"/>
                    </a:ext>
                  </a:extLst>
                </a:gridCol>
              </a:tblGrid>
              <a:tr h="353568">
                <a:tc>
                  <a:txBody>
                    <a:bodyPr/>
                    <a:lstStyle/>
                    <a:p>
                      <a:pPr algn="l"/>
                      <a:endParaRPr/>
                    </a:p>
                  </a:txBody>
                  <a:tcPr marL="82296" marR="82296">
                    <a:lnL w="0">
                      <a:noFill/>
                    </a:lnL>
                    <a:lnR w="0">
                      <a:noFill/>
                    </a:lnR>
                    <a:lnT w="0">
                      <a:noFill/>
                    </a:lnT>
                    <a:lnB w="19050" cap="flat" cmpd="sng" algn="ctr">
                      <a:solidFill>
                        <a:srgbClr val="0E5A8A"/>
                      </a:solidFill>
                      <a:prstDash val="solid"/>
                    </a:lnB>
                  </a:tcPr>
                </a:tc>
                <a:tc>
                  <a:txBody>
                    <a:bodyPr/>
                    <a:lstStyle/>
                    <a:p>
                      <a:pPr algn="l"/>
                      <a:r>
                        <a:rPr sz="1600" b="1" i="0">
                          <a:solidFill>
                            <a:srgbClr val="1B1F24"/>
                          </a:solidFill>
                          <a:latin typeface="Arial"/>
                        </a:rPr>
                        <a:t>AI-assisted coding</a:t>
                      </a:r>
                    </a:p>
                  </a:txBody>
                  <a:tcPr marL="82296" marR="82296">
                    <a:lnL w="0">
                      <a:noFill/>
                    </a:lnL>
                    <a:lnR w="0">
                      <a:noFill/>
                    </a:lnR>
                    <a:lnT w="0">
                      <a:noFill/>
                    </a:lnT>
                    <a:lnB w="19050" cap="flat" cmpd="sng" algn="ctr">
                      <a:solidFill>
                        <a:srgbClr val="0E5A8A"/>
                      </a:solidFill>
                      <a:prstDash val="solid"/>
                    </a:lnB>
                  </a:tcPr>
                </a:tc>
                <a:tc>
                  <a:txBody>
                    <a:bodyPr/>
                    <a:lstStyle/>
                    <a:p>
                      <a:pPr algn="l"/>
                      <a:r>
                        <a:rPr sz="1600" b="1" i="0">
                          <a:solidFill>
                            <a:srgbClr val="1B1F24"/>
                          </a:solidFill>
                          <a:latin typeface="Arial"/>
                        </a:rPr>
                        <a:t>Vibe coding</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353568">
                <a:tc>
                  <a:txBody>
                    <a:bodyPr/>
                    <a:lstStyle/>
                    <a:p>
                      <a:pPr algn="l"/>
                      <a:r>
                        <a:rPr sz="1600" b="1" i="0">
                          <a:solidFill>
                            <a:srgbClr val="1B1F24"/>
                          </a:solidFill>
                          <a:latin typeface="Arial"/>
                        </a:rPr>
                        <a:t>Who designs</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You, with the AI as a sounding board</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The AI</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353568">
                <a:tc>
                  <a:txBody>
                    <a:bodyPr/>
                    <a:lstStyle/>
                    <a:p>
                      <a:pPr algn="l"/>
                      <a:r>
                        <a:rPr sz="1600" b="1" i="0">
                          <a:solidFill>
                            <a:srgbClr val="1B1F24"/>
                          </a:solidFill>
                          <a:latin typeface="Arial"/>
                        </a:rPr>
                        <a:t>Who reads the code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You, every diff</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Nobody</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353568">
                <a:tc>
                  <a:txBody>
                    <a:bodyPr/>
                    <a:lstStyle/>
                    <a:p>
                      <a:pPr algn="l"/>
                      <a:r>
                        <a:rPr sz="1600" b="1" i="0">
                          <a:solidFill>
                            <a:srgbClr val="1B1F24"/>
                          </a:solidFill>
                          <a:latin typeface="Arial"/>
                        </a:rPr>
                        <a:t>How “done” is decided</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Independent tests you understand</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“It seems to work”</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r h="353568">
                <a:tc>
                  <a:txBody>
                    <a:bodyPr/>
                    <a:lstStyle/>
                    <a:p>
                      <a:pPr algn="l"/>
                      <a:r>
                        <a:rPr sz="1600" b="1" i="0">
                          <a:solidFill>
                            <a:srgbClr val="1B1F24"/>
                          </a:solidFill>
                          <a:latin typeface="Arial"/>
                        </a:rPr>
                        <a:t>Appropriate for</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Anything you will build on, publish, or submit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Throwaway scripts, quick plots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3459480"/>
            <a:ext cx="11094415" cy="1015663"/>
          </a:xfrm>
          <a:prstGeom prst="rect">
            <a:avLst/>
          </a:prstGeom>
          <a:noFill/>
        </p:spPr>
        <p:txBody>
          <a:bodyPr wrap="square" lIns="0" tIns="0" rIns="0" bIns="0">
            <a:spAutoFit/>
          </a:bodyPr>
          <a:lstStyle/>
          <a:p>
            <a:pPr marL="256032" indent="-256032">
              <a:spcAft>
                <a:spcPts val="900"/>
              </a:spcAft>
              <a:buClr>
                <a:srgbClr val="0E5A8A"/>
              </a:buClr>
              <a:buFont typeface="Arial"/>
              <a:buChar char="•"/>
            </a:pPr>
            <a:r>
              <a:rPr sz="1700" b="0" i="0" dirty="0">
                <a:solidFill>
                  <a:srgbClr val="1B1F24"/>
                </a:solidFill>
                <a:latin typeface="Arial"/>
              </a:rPr>
              <a:t>Both are legitimate. The mistake is doing the second while believing you are doing the first.</a:t>
            </a:r>
          </a:p>
          <a:p>
            <a:pPr marL="256032" indent="-256032">
              <a:spcAft>
                <a:spcPts val="900"/>
              </a:spcAft>
              <a:buClr>
                <a:srgbClr val="0E5A8A"/>
              </a:buClr>
              <a:buFont typeface="Arial"/>
              <a:buChar char="•"/>
            </a:pPr>
            <a:r>
              <a:rPr sz="1700" b="0" i="0" dirty="0">
                <a:solidFill>
                  <a:srgbClr val="1B1F24"/>
                </a:solidFill>
                <a:latin typeface="Arial"/>
              </a:rPr>
              <a:t>You keep three things: the </a:t>
            </a:r>
            <a:r>
              <a:rPr sz="1700" b="1" i="0" dirty="0">
                <a:solidFill>
                  <a:srgbClr val="1B1F24"/>
                </a:solidFill>
                <a:latin typeface="Arial"/>
              </a:rPr>
              <a:t>design</a:t>
            </a:r>
            <a:r>
              <a:rPr sz="1700" b="0" i="0" dirty="0">
                <a:solidFill>
                  <a:srgbClr val="1B1F24"/>
                </a:solidFill>
                <a:latin typeface="Arial"/>
              </a:rPr>
              <a:t>, the </a:t>
            </a:r>
            <a:r>
              <a:rPr sz="1700" b="1" i="0" dirty="0">
                <a:solidFill>
                  <a:srgbClr val="1B1F24"/>
                </a:solidFill>
                <a:latin typeface="Arial"/>
              </a:rPr>
              <a:t>verification</a:t>
            </a:r>
            <a:r>
              <a:rPr sz="1700" b="0" i="0" dirty="0">
                <a:solidFill>
                  <a:srgbClr val="1B1F24"/>
                </a:solidFill>
                <a:latin typeface="Arial"/>
              </a:rPr>
              <a:t> (independent of the code’s author), and the </a:t>
            </a:r>
            <a:r>
              <a:rPr sz="1700" b="1" i="0" dirty="0">
                <a:solidFill>
                  <a:srgbClr val="1B1F24"/>
                </a:solidFill>
                <a:latin typeface="Arial"/>
              </a:rPr>
              <a:t>understanding</a:t>
            </a:r>
            <a:r>
              <a:rPr sz="1700" b="0" i="0" dirty="0">
                <a:solidFill>
                  <a:srgbClr val="1B1F24"/>
                </a:solidFill>
                <a:latin typeface="Arial"/>
              </a:rPr>
              <a:t>.</a:t>
            </a:r>
          </a:p>
          <a:p>
            <a:pPr marL="256032" indent="-256032">
              <a:spcAft>
                <a:spcPts val="900"/>
              </a:spcAft>
              <a:buClr>
                <a:srgbClr val="0E5A8A"/>
              </a:buClr>
              <a:buFont typeface="Arial"/>
              <a:buChar char="•"/>
            </a:pPr>
            <a:r>
              <a:rPr sz="1700" b="0" i="0" dirty="0">
                <a:solidFill>
                  <a:srgbClr val="1B1F24"/>
                </a:solidFill>
                <a:latin typeface="Arial"/>
              </a:rPr>
              <a:t>Rule: </a:t>
            </a:r>
            <a:r>
              <a:rPr sz="1700" b="0" i="1" dirty="0">
                <a:solidFill>
                  <a:schemeClr val="accent2"/>
                </a:solidFill>
                <a:latin typeface="Arial"/>
              </a:rPr>
              <a:t>verify, then trust</a:t>
            </a:r>
            <a:r>
              <a:rPr sz="1700" b="0" i="0" dirty="0">
                <a:solidFill>
                  <a:srgbClr val="1B1F24"/>
                </a:solidFill>
                <a:latin typeface="Arial"/>
              </a:rPr>
              <a:t>. The AI is fast, well-read, and confidently wrong a few percent of the time.</a:t>
            </a:r>
          </a:p>
        </p:txBody>
      </p:sp>
      <p:sp>
        <p:nvSpPr>
          <p:cNvPr id="8" name="TextBox 7">
            <a:extLst>
              <a:ext uri="{FF2B5EF4-FFF2-40B4-BE49-F238E27FC236}">
                <a16:creationId xmlns:a16="http://schemas.microsoft.com/office/drawing/2014/main" id="{91F2450A-D084-17D5-A8E7-36972EA0997D}"/>
              </a:ext>
            </a:extLst>
          </p:cNvPr>
          <p:cNvSpPr txBox="1"/>
          <p:nvPr/>
        </p:nvSpPr>
        <p:spPr>
          <a:xfrm>
            <a:off x="1879964" y="4782991"/>
            <a:ext cx="7723414" cy="923330"/>
          </a:xfrm>
          <a:prstGeom prst="rect">
            <a:avLst/>
          </a:prstGeom>
          <a:noFill/>
        </p:spPr>
        <p:txBody>
          <a:bodyPr wrap="square" rtlCol="0">
            <a:spAutoFit/>
          </a:bodyPr>
          <a:lstStyle/>
          <a:p>
            <a:r>
              <a:rPr lang="en-US" dirty="0">
                <a:solidFill>
                  <a:schemeClr val="accent2"/>
                </a:solidFill>
              </a:rPr>
              <a:t>Discussion: Do we need to review (almost) all the codes written by the AI agent? If not, how do you verify the result? </a:t>
            </a:r>
            <a:br>
              <a:rPr lang="en-US" dirty="0">
                <a:solidFill>
                  <a:schemeClr val="accent2"/>
                </a:solidFill>
              </a:rPr>
            </a:br>
            <a:r>
              <a:rPr lang="en-US" dirty="0">
                <a:solidFill>
                  <a:schemeClr val="accent2"/>
                </a:solidFill>
              </a:rPr>
              <a:t>Is it still important to learn how to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The context window</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6 / 25</a:t>
            </a:r>
          </a:p>
        </p:txBody>
      </p:sp>
      <p:sp>
        <p:nvSpPr>
          <p:cNvPr id="6" name="TextBox 5"/>
          <p:cNvSpPr txBox="1"/>
          <p:nvPr/>
        </p:nvSpPr>
        <p:spPr>
          <a:xfrm>
            <a:off x="548640" y="1371600"/>
            <a:ext cx="11094415" cy="2478633"/>
          </a:xfrm>
          <a:prstGeom prst="rect">
            <a:avLst/>
          </a:prstGeom>
          <a:noFill/>
        </p:spPr>
        <p:txBody>
          <a:bodyPr wrap="square" lIns="0" tIns="0" rIns="0" bIns="0">
            <a:spAutoFit/>
          </a:bodyPr>
          <a:lstStyle/>
          <a:p>
            <a:pPr marL="256032" indent="-256032">
              <a:spcAft>
                <a:spcPts val="700"/>
              </a:spcAft>
              <a:buClr>
                <a:srgbClr val="0E5A8A"/>
              </a:buClr>
              <a:buFont typeface="Arial"/>
              <a:buChar char="•"/>
            </a:pPr>
            <a:r>
              <a:rPr sz="1600" b="0" i="0" dirty="0">
                <a:solidFill>
                  <a:srgbClr val="1B1F24"/>
                </a:solidFill>
                <a:latin typeface="Arial"/>
              </a:rPr>
              <a:t>The model sees one long token sequence. Everything it knows about </a:t>
            </a:r>
            <a:r>
              <a:rPr sz="1600" b="0" i="1" dirty="0">
                <a:solidFill>
                  <a:srgbClr val="1B1F24"/>
                </a:solidFill>
                <a:latin typeface="Arial"/>
              </a:rPr>
              <a:t>your</a:t>
            </a:r>
            <a:r>
              <a:rPr sz="1600" b="0" i="0" dirty="0">
                <a:solidFill>
                  <a:srgbClr val="1B1F24"/>
                </a:solidFill>
                <a:latin typeface="Arial"/>
              </a:rPr>
              <a:t> session is in it: system prompt and </a:t>
            </a:r>
            <a:r>
              <a:rPr sz="1472" b="0" i="0" dirty="0" err="1">
                <a:solidFill>
                  <a:srgbClr val="1B1F24"/>
                </a:solidFill>
                <a:highlight>
                  <a:srgbClr val="EEF1F4"/>
                </a:highlight>
                <a:latin typeface="Menlo"/>
              </a:rPr>
              <a:t>CLAUDE.md</a:t>
            </a:r>
            <a:r>
              <a:rPr sz="1600" b="0" i="0" dirty="0">
                <a:solidFill>
                  <a:srgbClr val="1B1F24"/>
                </a:solidFill>
                <a:latin typeface="Arial"/>
              </a:rPr>
              <a:t>, your messages, its replies, </a:t>
            </a:r>
            <a:r>
              <a:rPr sz="1600" b="1" i="0" dirty="0">
                <a:solidFill>
                  <a:srgbClr val="1B1F24"/>
                </a:solidFill>
                <a:latin typeface="Arial"/>
              </a:rPr>
              <a:t>every file it read, every command output</a:t>
            </a:r>
            <a:r>
              <a:rPr sz="1600" b="0" i="0" dirty="0">
                <a:solidFill>
                  <a:srgbClr val="1B1F24"/>
                </a:solidFill>
                <a:latin typeface="Arial"/>
              </a:rPr>
              <a:t>.</a:t>
            </a:r>
          </a:p>
          <a:p>
            <a:pPr marL="256032" indent="-256032">
              <a:spcAft>
                <a:spcPts val="700"/>
              </a:spcAft>
              <a:buClr>
                <a:srgbClr val="0E5A8A"/>
              </a:buClr>
              <a:buFont typeface="Arial"/>
              <a:buChar char="•"/>
            </a:pPr>
            <a:r>
              <a:rPr sz="1600" b="0" i="0" dirty="0">
                <a:solidFill>
                  <a:srgbClr val="1B1F24"/>
                </a:solidFill>
                <a:latin typeface="Arial"/>
              </a:rPr>
              <a:t>Sizes today: current Claude models have a 1M-token window; smaller or older ones 200K. A token is roughly 3 to 4 characters; 1,000 lines of Python is about 10 to 15K tokens.</a:t>
            </a:r>
          </a:p>
          <a:p>
            <a:pPr marL="256032" indent="-256032">
              <a:spcAft>
                <a:spcPts val="700"/>
              </a:spcAft>
              <a:buClr>
                <a:srgbClr val="0E5A8A"/>
              </a:buClr>
              <a:buFont typeface="Arial"/>
              <a:buChar char="•"/>
            </a:pPr>
            <a:r>
              <a:rPr sz="1600" b="0" i="0" dirty="0">
                <a:solidFill>
                  <a:srgbClr val="1B1F24"/>
                </a:solidFill>
                <a:latin typeface="Arial"/>
              </a:rPr>
              <a:t>Why it matters:</a:t>
            </a:r>
          </a:p>
          <a:p>
            <a:pPr marL="512064" indent="-256032">
              <a:spcAft>
                <a:spcPts val="700"/>
              </a:spcAft>
              <a:buClr>
                <a:srgbClr val="0E5A8A"/>
              </a:buClr>
              <a:buFont typeface="Arial"/>
              <a:buChar char="◦"/>
            </a:pPr>
            <a:r>
              <a:rPr sz="1488" b="1" i="0" dirty="0">
                <a:solidFill>
                  <a:srgbClr val="1B1F24"/>
                </a:solidFill>
                <a:latin typeface="Arial"/>
              </a:rPr>
              <a:t>Quality degrades as it fills.</a:t>
            </a:r>
            <a:r>
              <a:rPr sz="1488" b="0" i="0" dirty="0">
                <a:solidFill>
                  <a:srgbClr val="1B1F24"/>
                </a:solidFill>
                <a:latin typeface="Arial"/>
              </a:rPr>
              <a:t> Early instructions get diluted; long sessions drift.</a:t>
            </a:r>
          </a:p>
          <a:p>
            <a:pPr marL="512064" indent="-256032">
              <a:spcAft>
                <a:spcPts val="700"/>
              </a:spcAft>
              <a:buClr>
                <a:srgbClr val="0E5A8A"/>
              </a:buClr>
              <a:buFont typeface="Arial"/>
              <a:buChar char="◦"/>
            </a:pPr>
            <a:r>
              <a:rPr sz="1488" b="1" i="0" dirty="0">
                <a:solidFill>
                  <a:srgbClr val="1B1F24"/>
                </a:solidFill>
                <a:latin typeface="Arial"/>
              </a:rPr>
              <a:t>Compaction is lossy.</a:t>
            </a:r>
            <a:r>
              <a:rPr sz="1488" b="0" i="0" dirty="0">
                <a:solidFill>
                  <a:srgbClr val="1B1F24"/>
                </a:solidFill>
                <a:latin typeface="Arial"/>
              </a:rPr>
              <a:t> Near the limit the tool </a:t>
            </a:r>
            <a:r>
              <a:rPr sz="1488" b="0" i="0" dirty="0" err="1">
                <a:solidFill>
                  <a:srgbClr val="1B1F24"/>
                </a:solidFill>
                <a:latin typeface="Arial"/>
              </a:rPr>
              <a:t>summarises</a:t>
            </a:r>
            <a:r>
              <a:rPr sz="1488" b="0" i="0" dirty="0">
                <a:solidFill>
                  <a:srgbClr val="1B1F24"/>
                </a:solidFill>
                <a:latin typeface="Arial"/>
              </a:rPr>
              <a:t>; a convention stated once can vanish.</a:t>
            </a:r>
          </a:p>
          <a:p>
            <a:pPr marL="512064" indent="-256032">
              <a:spcAft>
                <a:spcPts val="700"/>
              </a:spcAft>
              <a:buClr>
                <a:srgbClr val="0E5A8A"/>
              </a:buClr>
              <a:buFont typeface="Arial"/>
              <a:buChar char="◦"/>
            </a:pPr>
            <a:r>
              <a:rPr sz="1488" b="1" i="0" dirty="0">
                <a:solidFill>
                  <a:srgbClr val="1B1F24"/>
                </a:solidFill>
                <a:latin typeface="Arial"/>
              </a:rPr>
              <a:t>Sessions are mostly not persistent.</a:t>
            </a:r>
            <a:r>
              <a:rPr sz="1488" b="0" i="0" dirty="0">
                <a:solidFill>
                  <a:srgbClr val="1B1F24"/>
                </a:solidFill>
                <a:latin typeface="Arial"/>
              </a:rPr>
              <a:t> Tomorrow’s session remembers what is in a file, not what you said.</a:t>
            </a:r>
          </a:p>
        </p:txBody>
      </p:sp>
      <p:sp>
        <p:nvSpPr>
          <p:cNvPr id="7" name="TextBox 6"/>
          <p:cNvSpPr txBox="1"/>
          <p:nvPr/>
        </p:nvSpPr>
        <p:spPr>
          <a:xfrm>
            <a:off x="548640" y="4170273"/>
            <a:ext cx="3657600" cy="228600"/>
          </a:xfrm>
          <a:prstGeom prst="rect">
            <a:avLst/>
          </a:prstGeom>
          <a:noFill/>
        </p:spPr>
        <p:txBody>
          <a:bodyPr wrap="square" lIns="0" tIns="0" rIns="0" bIns="0" anchor="t">
            <a:spAutoFit/>
          </a:bodyPr>
          <a:lstStyle/>
          <a:p>
            <a:pPr algn="l"/>
            <a:r>
              <a:rPr sz="1000" b="1" i="0" cap="all" spc="150">
                <a:solidFill>
                  <a:srgbClr val="5B6470"/>
                </a:solidFill>
                <a:latin typeface="Arial"/>
              </a:rPr>
              <a:t>context window</a:t>
            </a:r>
          </a:p>
        </p:txBody>
      </p:sp>
      <p:sp>
        <p:nvSpPr>
          <p:cNvPr id="8" name="Rectangle 7"/>
          <p:cNvSpPr/>
          <p:nvPr/>
        </p:nvSpPr>
        <p:spPr>
          <a:xfrm>
            <a:off x="548640" y="4444593"/>
            <a:ext cx="11094415" cy="457200"/>
          </a:xfrm>
          <a:prstGeom prst="rect">
            <a:avLst/>
          </a:prstGeom>
          <a:solidFill>
            <a:srgbClr val="F3F5F7"/>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444593"/>
            <a:ext cx="1188720" cy="457200"/>
          </a:xfrm>
          <a:prstGeom prst="rect">
            <a:avLst/>
          </a:prstGeom>
          <a:solidFill>
            <a:srgbClr val="0E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4572609"/>
            <a:ext cx="1188720" cy="228600"/>
          </a:xfrm>
          <a:prstGeom prst="rect">
            <a:avLst/>
          </a:prstGeom>
          <a:noFill/>
        </p:spPr>
        <p:txBody>
          <a:bodyPr wrap="square" lIns="0" tIns="0" rIns="0" bIns="0" anchor="t">
            <a:spAutoFit/>
          </a:bodyPr>
          <a:lstStyle/>
          <a:p>
            <a:pPr algn="ctr"/>
            <a:r>
              <a:rPr sz="1000" b="0" i="0">
                <a:solidFill>
                  <a:srgbClr val="FFFFFF"/>
                </a:solidFill>
                <a:latin typeface="Arial"/>
              </a:rPr>
              <a:t>sys</a:t>
            </a:r>
          </a:p>
        </p:txBody>
      </p:sp>
      <p:sp>
        <p:nvSpPr>
          <p:cNvPr id="11" name="TextBox 10"/>
          <p:cNvSpPr txBox="1"/>
          <p:nvPr/>
        </p:nvSpPr>
        <p:spPr>
          <a:xfrm>
            <a:off x="274320" y="4956657"/>
            <a:ext cx="1737360" cy="228600"/>
          </a:xfrm>
          <a:prstGeom prst="rect">
            <a:avLst/>
          </a:prstGeom>
          <a:noFill/>
        </p:spPr>
        <p:txBody>
          <a:bodyPr wrap="square" lIns="0" tIns="0" rIns="0" bIns="0" anchor="t">
            <a:spAutoFit/>
          </a:bodyPr>
          <a:lstStyle/>
          <a:p>
            <a:pPr algn="ctr"/>
            <a:r>
              <a:rPr sz="1100" b="0" i="0">
                <a:solidFill>
                  <a:srgbClr val="1B1F24"/>
                </a:solidFill>
                <a:latin typeface="Arial"/>
              </a:rPr>
              <a:t>system prompt</a:t>
            </a:r>
          </a:p>
        </p:txBody>
      </p:sp>
      <p:sp>
        <p:nvSpPr>
          <p:cNvPr id="12" name="Rectangle 11"/>
          <p:cNvSpPr/>
          <p:nvPr/>
        </p:nvSpPr>
        <p:spPr>
          <a:xfrm>
            <a:off x="1737360" y="4444593"/>
            <a:ext cx="914400" cy="457200"/>
          </a:xfrm>
          <a:prstGeom prst="rect">
            <a:avLst/>
          </a:prstGeom>
          <a:solidFill>
            <a:srgbClr val="2F6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63039" y="4956657"/>
            <a:ext cx="1463040" cy="228600"/>
          </a:xfrm>
          <a:prstGeom prst="rect">
            <a:avLst/>
          </a:prstGeom>
          <a:noFill/>
        </p:spPr>
        <p:txBody>
          <a:bodyPr wrap="square" lIns="0" tIns="0" rIns="0" bIns="0" anchor="t">
            <a:spAutoFit/>
          </a:bodyPr>
          <a:lstStyle/>
          <a:p>
            <a:pPr algn="ctr"/>
            <a:r>
              <a:rPr sz="1100" b="0" i="0">
                <a:solidFill>
                  <a:srgbClr val="1B1F24"/>
                </a:solidFill>
                <a:latin typeface="Menlo"/>
              </a:rPr>
              <a:t>CLAUDE.md</a:t>
            </a:r>
          </a:p>
        </p:txBody>
      </p:sp>
      <p:sp>
        <p:nvSpPr>
          <p:cNvPr id="14" name="Rectangle 13"/>
          <p:cNvSpPr/>
          <p:nvPr/>
        </p:nvSpPr>
        <p:spPr>
          <a:xfrm>
            <a:off x="2651760" y="4444593"/>
            <a:ext cx="2011680" cy="457200"/>
          </a:xfrm>
          <a:prstGeom prst="rect">
            <a:avLst/>
          </a:prstGeom>
          <a:solidFill>
            <a:srgbClr val="5A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51760" y="4572609"/>
            <a:ext cx="2011680" cy="228600"/>
          </a:xfrm>
          <a:prstGeom prst="rect">
            <a:avLst/>
          </a:prstGeom>
          <a:noFill/>
        </p:spPr>
        <p:txBody>
          <a:bodyPr wrap="square" lIns="0" tIns="0" rIns="0" bIns="0" anchor="t">
            <a:spAutoFit/>
          </a:bodyPr>
          <a:lstStyle/>
          <a:p>
            <a:pPr algn="ctr"/>
            <a:r>
              <a:rPr sz="1000" b="0" i="0">
                <a:solidFill>
                  <a:srgbClr val="FFFFFF"/>
                </a:solidFill>
                <a:latin typeface="Arial"/>
              </a:rPr>
              <a:t>chat</a:t>
            </a:r>
          </a:p>
        </p:txBody>
      </p:sp>
      <p:sp>
        <p:nvSpPr>
          <p:cNvPr id="16" name="TextBox 15"/>
          <p:cNvSpPr txBox="1"/>
          <p:nvPr/>
        </p:nvSpPr>
        <p:spPr>
          <a:xfrm>
            <a:off x="2377440" y="4956657"/>
            <a:ext cx="2560320" cy="228600"/>
          </a:xfrm>
          <a:prstGeom prst="rect">
            <a:avLst/>
          </a:prstGeom>
          <a:noFill/>
        </p:spPr>
        <p:txBody>
          <a:bodyPr wrap="square" lIns="0" tIns="0" rIns="0" bIns="0" anchor="t">
            <a:spAutoFit/>
          </a:bodyPr>
          <a:lstStyle/>
          <a:p>
            <a:pPr algn="ctr"/>
            <a:r>
              <a:rPr sz="1100" b="0" i="0">
                <a:solidFill>
                  <a:srgbClr val="1B1F24"/>
                </a:solidFill>
                <a:latin typeface="Arial"/>
              </a:rPr>
              <a:t>conversation</a:t>
            </a:r>
          </a:p>
        </p:txBody>
      </p:sp>
      <p:sp>
        <p:nvSpPr>
          <p:cNvPr id="17" name="Rectangle 16"/>
          <p:cNvSpPr/>
          <p:nvPr/>
        </p:nvSpPr>
        <p:spPr>
          <a:xfrm>
            <a:off x="4663440" y="4444593"/>
            <a:ext cx="3108960" cy="457200"/>
          </a:xfrm>
          <a:prstGeom prst="rect">
            <a:avLst/>
          </a:prstGeom>
          <a:solidFill>
            <a:srgbClr val="8FB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4572609"/>
            <a:ext cx="3108960" cy="228600"/>
          </a:xfrm>
          <a:prstGeom prst="rect">
            <a:avLst/>
          </a:prstGeom>
          <a:noFill/>
        </p:spPr>
        <p:txBody>
          <a:bodyPr wrap="square" lIns="0" tIns="0" rIns="0" bIns="0" anchor="t">
            <a:spAutoFit/>
          </a:bodyPr>
          <a:lstStyle/>
          <a:p>
            <a:pPr algn="ctr"/>
            <a:r>
              <a:rPr sz="1000" b="0" i="0">
                <a:solidFill>
                  <a:srgbClr val="FFFFFF"/>
                </a:solidFill>
                <a:latin typeface="Arial"/>
              </a:rPr>
              <a:t>files</a:t>
            </a:r>
          </a:p>
        </p:txBody>
      </p:sp>
      <p:sp>
        <p:nvSpPr>
          <p:cNvPr id="19" name="TextBox 18"/>
          <p:cNvSpPr txBox="1"/>
          <p:nvPr/>
        </p:nvSpPr>
        <p:spPr>
          <a:xfrm>
            <a:off x="4389120" y="4956657"/>
            <a:ext cx="3657600" cy="228600"/>
          </a:xfrm>
          <a:prstGeom prst="rect">
            <a:avLst/>
          </a:prstGeom>
          <a:noFill/>
        </p:spPr>
        <p:txBody>
          <a:bodyPr wrap="square" lIns="0" tIns="0" rIns="0" bIns="0" anchor="t">
            <a:spAutoFit/>
          </a:bodyPr>
          <a:lstStyle/>
          <a:p>
            <a:pPr algn="ctr"/>
            <a:r>
              <a:rPr sz="1100" b="0" i="0">
                <a:solidFill>
                  <a:srgbClr val="1B1F24"/>
                </a:solidFill>
                <a:latin typeface="Arial"/>
              </a:rPr>
              <a:t>file reads</a:t>
            </a:r>
          </a:p>
        </p:txBody>
      </p:sp>
      <p:sp>
        <p:nvSpPr>
          <p:cNvPr id="20" name="Rectangle 19"/>
          <p:cNvSpPr/>
          <p:nvPr/>
        </p:nvSpPr>
        <p:spPr>
          <a:xfrm>
            <a:off x="7772400" y="4444593"/>
            <a:ext cx="2651760" cy="457200"/>
          </a:xfrm>
          <a:prstGeom prst="rect">
            <a:avLst/>
          </a:prstGeom>
          <a:solidFill>
            <a:srgbClr val="C1D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4956657"/>
            <a:ext cx="3200400" cy="228600"/>
          </a:xfrm>
          <a:prstGeom prst="rect">
            <a:avLst/>
          </a:prstGeom>
          <a:noFill/>
        </p:spPr>
        <p:txBody>
          <a:bodyPr wrap="square" lIns="0" tIns="0" rIns="0" bIns="0" anchor="t">
            <a:spAutoFit/>
          </a:bodyPr>
          <a:lstStyle/>
          <a:p>
            <a:pPr algn="ctr"/>
            <a:r>
              <a:rPr sz="1100" b="0" i="0">
                <a:solidFill>
                  <a:srgbClr val="1B1F24"/>
                </a:solidFill>
                <a:latin typeface="Arial"/>
              </a:rPr>
              <a:t>tool outputs</a:t>
            </a:r>
          </a:p>
        </p:txBody>
      </p:sp>
      <p:sp>
        <p:nvSpPr>
          <p:cNvPr id="22" name="TextBox 21"/>
          <p:cNvSpPr txBox="1"/>
          <p:nvPr/>
        </p:nvSpPr>
        <p:spPr>
          <a:xfrm>
            <a:off x="10424160" y="4956657"/>
            <a:ext cx="1218895" cy="228600"/>
          </a:xfrm>
          <a:prstGeom prst="rect">
            <a:avLst/>
          </a:prstGeom>
          <a:noFill/>
        </p:spPr>
        <p:txBody>
          <a:bodyPr wrap="square" lIns="0" tIns="0" rIns="0" bIns="0" anchor="t">
            <a:spAutoFit/>
          </a:bodyPr>
          <a:lstStyle/>
          <a:p>
            <a:pPr algn="ctr"/>
            <a:r>
              <a:rPr sz="1100" b="0" i="0">
                <a:solidFill>
                  <a:srgbClr val="5B6470"/>
                </a:solidFill>
                <a:latin typeface="Arial"/>
              </a:rPr>
              <a:t>free</a:t>
            </a:r>
          </a:p>
        </p:txBody>
      </p:sp>
      <p:cxnSp>
        <p:nvCxnSpPr>
          <p:cNvPr id="23" name="Connector 22"/>
          <p:cNvCxnSpPr/>
          <p:nvPr/>
        </p:nvCxnSpPr>
        <p:spPr>
          <a:xfrm>
            <a:off x="10774375" y="4334865"/>
            <a:ext cx="0" cy="676656"/>
          </a:xfrm>
          <a:prstGeom prst="line">
            <a:avLst/>
          </a:prstGeom>
          <a:ln w="25400">
            <a:solidFill>
              <a:srgbClr val="B5451B"/>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677095" y="4078833"/>
            <a:ext cx="2194560" cy="228600"/>
          </a:xfrm>
          <a:prstGeom prst="rect">
            <a:avLst/>
          </a:prstGeom>
          <a:noFill/>
        </p:spPr>
        <p:txBody>
          <a:bodyPr wrap="square" lIns="0" tIns="0" rIns="0" bIns="0" anchor="t">
            <a:spAutoFit/>
          </a:bodyPr>
          <a:lstStyle/>
          <a:p>
            <a:pPr algn="ctr"/>
            <a:r>
              <a:rPr sz="1100" b="1" i="0">
                <a:solidFill>
                  <a:srgbClr val="B5451B"/>
                </a:solidFill>
                <a:latin typeface="Arial"/>
              </a:rPr>
              <a:t>auto-compaction</a:t>
            </a:r>
          </a:p>
        </p:txBody>
      </p:sp>
      <p:sp>
        <p:nvSpPr>
          <p:cNvPr id="26" name="TextBox 25">
            <a:extLst>
              <a:ext uri="{FF2B5EF4-FFF2-40B4-BE49-F238E27FC236}">
                <a16:creationId xmlns:a16="http://schemas.microsoft.com/office/drawing/2014/main" id="{2E480ECD-D67B-94A2-347C-DF4D812CCB11}"/>
              </a:ext>
            </a:extLst>
          </p:cNvPr>
          <p:cNvSpPr txBox="1"/>
          <p:nvPr/>
        </p:nvSpPr>
        <p:spPr>
          <a:xfrm>
            <a:off x="5417004" y="5496153"/>
            <a:ext cx="6098720" cy="392415"/>
          </a:xfrm>
          <a:prstGeom prst="rect">
            <a:avLst/>
          </a:prstGeom>
          <a:noFill/>
        </p:spPr>
        <p:txBody>
          <a:bodyPr wrap="square">
            <a:spAutoFit/>
          </a:bodyPr>
          <a:lstStyle/>
          <a:p>
            <a:r>
              <a:rPr lang="en-US" sz="1800" b="0" i="0" dirty="0">
                <a:solidFill>
                  <a:schemeClr val="tx1"/>
                </a:solidFill>
                <a:effectLst/>
                <a:latin typeface="+mn-lt"/>
              </a:rPr>
              <a:t>A token is the model's unit of text: a word, part of a word, a symbol, or whitespace, about 4 characters on average. Context size and pricing are counted in tokens.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Managing context in practice</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8 / 25</a:t>
            </a:r>
          </a:p>
        </p:txBody>
      </p:sp>
      <p:graphicFrame>
        <p:nvGraphicFramePr>
          <p:cNvPr id="6" name="Table 5"/>
          <p:cNvGraphicFramePr>
            <a:graphicFrameLocks noGrp="1"/>
          </p:cNvGraphicFramePr>
          <p:nvPr/>
        </p:nvGraphicFramePr>
        <p:xfrm>
          <a:off x="548640" y="1371600"/>
          <a:ext cx="11094415" cy="2706624"/>
        </p:xfrm>
        <a:graphic>
          <a:graphicData uri="http://schemas.openxmlformats.org/drawingml/2006/table">
            <a:tbl>
              <a:tblPr/>
              <a:tblGrid>
                <a:gridCol w="3108960">
                  <a:extLst>
                    <a:ext uri="{9D8B030D-6E8A-4147-A177-3AD203B41FA5}">
                      <a16:colId xmlns:a16="http://schemas.microsoft.com/office/drawing/2014/main" val="20000"/>
                    </a:ext>
                  </a:extLst>
                </a:gridCol>
                <a:gridCol w="7985455">
                  <a:extLst>
                    <a:ext uri="{9D8B030D-6E8A-4147-A177-3AD203B41FA5}">
                      <a16:colId xmlns:a16="http://schemas.microsoft.com/office/drawing/2014/main" val="20001"/>
                    </a:ext>
                  </a:extLst>
                </a:gridCol>
              </a:tblGrid>
              <a:tr h="338328">
                <a:tc>
                  <a:txBody>
                    <a:bodyPr/>
                    <a:lstStyle/>
                    <a:p>
                      <a:pPr algn="l"/>
                      <a:r>
                        <a:rPr sz="1500" b="1" i="0">
                          <a:solidFill>
                            <a:srgbClr val="1B1F24"/>
                          </a:solidFill>
                          <a:latin typeface="Arial"/>
                        </a:rPr>
                        <a:t>Habit</a:t>
                      </a:r>
                    </a:p>
                  </a:txBody>
                  <a:tcPr marL="82296" marR="82296">
                    <a:lnL w="0">
                      <a:noFill/>
                    </a:lnL>
                    <a:lnR w="0">
                      <a:noFill/>
                    </a:lnR>
                    <a:lnT w="0">
                      <a:noFill/>
                    </a:lnT>
                    <a:lnB w="19050" cap="flat" cmpd="sng" algn="ctr">
                      <a:solidFill>
                        <a:srgbClr val="0E5A8A"/>
                      </a:solidFill>
                      <a:prstDash val="solid"/>
                    </a:lnB>
                  </a:tcPr>
                </a:tc>
                <a:tc>
                  <a:txBody>
                    <a:bodyPr/>
                    <a:lstStyle/>
                    <a:p>
                      <a:pPr algn="l"/>
                      <a:r>
                        <a:rPr sz="1500" b="1" i="0">
                          <a:solidFill>
                            <a:srgbClr val="1B1F24"/>
                          </a:solidFill>
                          <a:latin typeface="Arial"/>
                        </a:rPr>
                        <a:t>Command</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338328">
                <a:tc>
                  <a:txBody>
                    <a:bodyPr/>
                    <a:lstStyle/>
                    <a:p>
                      <a:pPr algn="l"/>
                      <a:r>
                        <a:rPr sz="1500" b="1" i="0">
                          <a:solidFill>
                            <a:srgbClr val="1B1F24"/>
                          </a:solidFill>
                          <a:latin typeface="Arial"/>
                        </a:rPr>
                        <a:t>See what is in the window</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380" b="0" i="0">
                          <a:solidFill>
                            <a:srgbClr val="1B1F24"/>
                          </a:solidFill>
                          <a:highlight>
                            <a:srgbClr val="EEF1F4"/>
                          </a:highlight>
                          <a:latin typeface="Menlo"/>
                        </a:rPr>
                        <a:t>/context</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338328">
                <a:tc>
                  <a:txBody>
                    <a:bodyPr/>
                    <a:lstStyle/>
                    <a:p>
                      <a:pPr algn="l"/>
                      <a:r>
                        <a:rPr sz="1500" b="1" i="0">
                          <a:solidFill>
                            <a:srgbClr val="1B1F24"/>
                          </a:solidFill>
                          <a:latin typeface="Arial"/>
                        </a:rPr>
                        <a:t>Summarise and continue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80" b="0" i="0">
                          <a:solidFill>
                            <a:srgbClr val="1B1F24"/>
                          </a:solidFill>
                          <a:highlight>
                            <a:srgbClr val="EEF1F4"/>
                          </a:highlight>
                          <a:latin typeface="Menlo"/>
                        </a:rPr>
                        <a:t>/compact keep the qubit convention and the test plan</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338328">
                <a:tc>
                  <a:txBody>
                    <a:bodyPr/>
                    <a:lstStyle/>
                    <a:p>
                      <a:pPr algn="l"/>
                      <a:r>
                        <a:rPr sz="1500" b="1" i="0">
                          <a:solidFill>
                            <a:srgbClr val="1B1F24"/>
                          </a:solidFill>
                          <a:latin typeface="Arial"/>
                        </a:rPr>
                        <a:t>Start fresh for a new task</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80" b="0" i="0">
                          <a:solidFill>
                            <a:srgbClr val="1B1F24"/>
                          </a:solidFill>
                          <a:highlight>
                            <a:srgbClr val="EEF1F4"/>
                          </a:highlight>
                          <a:latin typeface="Menlo"/>
                        </a:rPr>
                        <a:t>/clear</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r h="338328">
                <a:tc>
                  <a:txBody>
                    <a:bodyPr/>
                    <a:lstStyle/>
                    <a:p>
                      <a:pPr algn="l"/>
                      <a:r>
                        <a:rPr sz="1500" b="1" i="0">
                          <a:solidFill>
                            <a:srgbClr val="1B1F24"/>
                          </a:solidFill>
                          <a:latin typeface="Arial"/>
                        </a:rPr>
                        <a:t>Resume an earlier session</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80" b="0" i="0">
                          <a:solidFill>
                            <a:srgbClr val="1B1F24"/>
                          </a:solidFill>
                          <a:highlight>
                            <a:srgbClr val="EEF1F4"/>
                          </a:highlight>
                          <a:latin typeface="Menlo"/>
                        </a:rPr>
                        <a:t>claude --continue</a:t>
                      </a:r>
                      <a:r>
                        <a:rPr sz="1500" b="0" i="0">
                          <a:solidFill>
                            <a:srgbClr val="1B1F24"/>
                          </a:solidFill>
                          <a:latin typeface="Arial"/>
                        </a:rPr>
                        <a:t> or </a:t>
                      </a:r>
                      <a:r>
                        <a:rPr sz="1380" b="0" i="0">
                          <a:solidFill>
                            <a:srgbClr val="1B1F24"/>
                          </a:solidFill>
                          <a:highlight>
                            <a:srgbClr val="EEF1F4"/>
                          </a:highlight>
                          <a:latin typeface="Menlo"/>
                        </a:rPr>
                        <a:t>claude --resume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4"/>
                  </a:ext>
                </a:extLst>
              </a:tr>
              <a:tr h="338328">
                <a:tc>
                  <a:txBody>
                    <a:bodyPr/>
                    <a:lstStyle/>
                    <a:p>
                      <a:pPr algn="l"/>
                      <a:r>
                        <a:rPr sz="1500" b="1" i="0">
                          <a:solidFill>
                            <a:srgbClr val="1B1F24"/>
                          </a:solidFill>
                          <a:latin typeface="Arial"/>
                        </a:rPr>
                        <a:t>Keep specs out of chat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a:solidFill>
                            <a:srgbClr val="1B1F24"/>
                          </a:solidFill>
                          <a:latin typeface="Arial"/>
                        </a:rPr>
                        <a:t>Write them to </a:t>
                      </a:r>
                      <a:r>
                        <a:rPr sz="1380" b="0" i="0">
                          <a:solidFill>
                            <a:srgbClr val="1B1F24"/>
                          </a:solidFill>
                          <a:highlight>
                            <a:srgbClr val="EEF1F4"/>
                          </a:highlight>
                          <a:latin typeface="Menlo"/>
                        </a:rPr>
                        <a:t>CLAUDE.md</a:t>
                      </a:r>
                      <a:r>
                        <a:rPr sz="1500" b="0" i="0">
                          <a:solidFill>
                            <a:srgbClr val="1B1F24"/>
                          </a:solidFill>
                          <a:latin typeface="Arial"/>
                        </a:rPr>
                        <a:t>, </a:t>
                      </a:r>
                      <a:r>
                        <a:rPr sz="1380" b="0" i="0">
                          <a:solidFill>
                            <a:srgbClr val="1B1F24"/>
                          </a:solidFill>
                          <a:highlight>
                            <a:srgbClr val="EEF1F4"/>
                          </a:highlight>
                          <a:latin typeface="Menlo"/>
                        </a:rPr>
                        <a:t>PLAN.md</a:t>
                      </a:r>
                      <a:r>
                        <a:rPr sz="1500" b="0" i="0">
                          <a:solidFill>
                            <a:srgbClr val="1B1F24"/>
                          </a:solidFill>
                          <a:latin typeface="Arial"/>
                        </a:rPr>
                        <a:t>, or a test file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5"/>
                  </a:ext>
                </a:extLst>
              </a:tr>
              <a:tr h="338328">
                <a:tc>
                  <a:txBody>
                    <a:bodyPr/>
                    <a:lstStyle/>
                    <a:p>
                      <a:pPr algn="l"/>
                      <a:r>
                        <a:rPr sz="1500" b="1" i="0">
                          <a:solidFill>
                            <a:srgbClr val="1B1F24"/>
                          </a:solidFill>
                          <a:latin typeface="Arial"/>
                        </a:rPr>
                        <a:t>Avoid flooding</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dirty="0">
                          <a:solidFill>
                            <a:srgbClr val="1B1F24"/>
                          </a:solidFill>
                          <a:latin typeface="Arial"/>
                        </a:rPr>
                        <a:t>Never paste 5,000-line logs; </a:t>
                      </a:r>
                      <a:r>
                        <a:rPr sz="1380" b="0" i="0" dirty="0">
                          <a:solidFill>
                            <a:srgbClr val="1B1F24"/>
                          </a:solidFill>
                          <a:highlight>
                            <a:srgbClr val="EEF1F4"/>
                          </a:highlight>
                          <a:latin typeface="Menlo"/>
                        </a:rPr>
                        <a:t>tail</a:t>
                      </a:r>
                      <a:r>
                        <a:rPr sz="1500" b="0" i="0" dirty="0">
                          <a:solidFill>
                            <a:srgbClr val="1B1F24"/>
                          </a:solidFill>
                          <a:latin typeface="Arial"/>
                        </a:rPr>
                        <a:t>, filter, or save to a file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6"/>
                  </a:ext>
                </a:extLst>
              </a:tr>
              <a:tr h="338328">
                <a:tc>
                  <a:txBody>
                    <a:bodyPr/>
                    <a:lstStyle/>
                    <a:p>
                      <a:pPr algn="l"/>
                      <a:r>
                        <a:rPr sz="1500" b="1" i="0">
                          <a:solidFill>
                            <a:srgbClr val="1B1F24"/>
                          </a:solidFill>
                          <a:latin typeface="Arial"/>
                        </a:rPr>
                        <a:t>Stop digging</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500" b="0" i="0" dirty="0">
                          <a:solidFill>
                            <a:srgbClr val="1B1F24"/>
                          </a:solidFill>
                          <a:latin typeface="Arial"/>
                        </a:rPr>
                        <a:t>After two failed corrections, </a:t>
                      </a:r>
                      <a:r>
                        <a:rPr sz="1380" b="0" i="0" dirty="0">
                          <a:solidFill>
                            <a:srgbClr val="1B1F24"/>
                          </a:solidFill>
                          <a:highlight>
                            <a:srgbClr val="EEF1F4"/>
                          </a:highlight>
                          <a:latin typeface="Menlo"/>
                        </a:rPr>
                        <a:t>/clear</a:t>
                      </a:r>
                      <a:r>
                        <a:rPr sz="1500" b="0" i="0" dirty="0">
                          <a:solidFill>
                            <a:srgbClr val="1B1F24"/>
                          </a:solidFill>
                          <a:latin typeface="Arial"/>
                        </a:rPr>
                        <a:t> and rewrite the prompt with what you learned</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4398264"/>
            <a:ext cx="11094415" cy="380999"/>
          </a:xfrm>
          <a:prstGeom prst="rect">
            <a:avLst/>
          </a:prstGeom>
          <a:noFill/>
        </p:spPr>
        <p:txBody>
          <a:bodyPr wrap="square" lIns="0" tIns="0" rIns="0" bIns="0">
            <a:spAutoFit/>
          </a:bodyPr>
          <a:lstStyle/>
          <a:p>
            <a:pPr marL="256032" indent="-256032">
              <a:spcAft>
                <a:spcPts val="600"/>
              </a:spcAft>
              <a:buClr>
                <a:srgbClr val="0E5A8A"/>
              </a:buClr>
              <a:buFont typeface="Arial"/>
              <a:buChar char="•"/>
            </a:pPr>
            <a:r>
              <a:rPr sz="1700" b="1" i="0">
                <a:solidFill>
                  <a:srgbClr val="1B1F24"/>
                </a:solidFill>
                <a:latin typeface="Arial"/>
              </a:rPr>
              <a:t>One task per session.</a:t>
            </a:r>
            <a:r>
              <a:rPr sz="1700" b="0" i="0">
                <a:solidFill>
                  <a:srgbClr val="1B1F24"/>
                </a:solidFill>
                <a:latin typeface="Arial"/>
              </a:rPr>
              <a:t> Plan in one, implement in the next, optimise in a third.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772AD-6963-A77F-1ABC-61250B5DAC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3D1C913-D463-1E1E-1925-C7DAE207F105}"/>
              </a:ext>
            </a:extLst>
          </p:cNvPr>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a:extLst>
              <a:ext uri="{FF2B5EF4-FFF2-40B4-BE49-F238E27FC236}">
                <a16:creationId xmlns:a16="http://schemas.microsoft.com/office/drawing/2014/main" id="{DA29BDAF-D0A8-9E59-06DC-AAE2E569C55D}"/>
              </a:ext>
            </a:extLst>
          </p:cNvPr>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9 / 25</a:t>
            </a:r>
          </a:p>
        </p:txBody>
      </p:sp>
      <p:pic>
        <p:nvPicPr>
          <p:cNvPr id="8" name="Picture 7">
            <a:extLst>
              <a:ext uri="{FF2B5EF4-FFF2-40B4-BE49-F238E27FC236}">
                <a16:creationId xmlns:a16="http://schemas.microsoft.com/office/drawing/2014/main" id="{6F467628-B7F0-F61C-BBBE-5F81A3396846}"/>
              </a:ext>
            </a:extLst>
          </p:cNvPr>
          <p:cNvPicPr>
            <a:picLocks noChangeAspect="1"/>
          </p:cNvPicPr>
          <p:nvPr/>
        </p:nvPicPr>
        <p:blipFill>
          <a:blip r:embed="rId3"/>
          <a:stretch>
            <a:fillRect/>
          </a:stretch>
        </p:blipFill>
        <p:spPr>
          <a:xfrm>
            <a:off x="361950" y="376464"/>
            <a:ext cx="6210300" cy="1828800"/>
          </a:xfrm>
          <a:prstGeom prst="rect">
            <a:avLst/>
          </a:prstGeom>
        </p:spPr>
      </p:pic>
      <p:pic>
        <p:nvPicPr>
          <p:cNvPr id="9" name="Picture 8">
            <a:extLst>
              <a:ext uri="{FF2B5EF4-FFF2-40B4-BE49-F238E27FC236}">
                <a16:creationId xmlns:a16="http://schemas.microsoft.com/office/drawing/2014/main" id="{9988B2C3-8086-D69B-D7D0-6455B189B945}"/>
              </a:ext>
            </a:extLst>
          </p:cNvPr>
          <p:cNvPicPr>
            <a:picLocks noChangeAspect="1"/>
          </p:cNvPicPr>
          <p:nvPr/>
        </p:nvPicPr>
        <p:blipFill>
          <a:blip r:embed="rId4"/>
          <a:stretch>
            <a:fillRect/>
          </a:stretch>
        </p:blipFill>
        <p:spPr>
          <a:xfrm>
            <a:off x="374650" y="2531836"/>
            <a:ext cx="6197600" cy="3035300"/>
          </a:xfrm>
          <a:prstGeom prst="rect">
            <a:avLst/>
          </a:prstGeom>
        </p:spPr>
      </p:pic>
      <p:pic>
        <p:nvPicPr>
          <p:cNvPr id="10" name="Picture 9">
            <a:extLst>
              <a:ext uri="{FF2B5EF4-FFF2-40B4-BE49-F238E27FC236}">
                <a16:creationId xmlns:a16="http://schemas.microsoft.com/office/drawing/2014/main" id="{F191471A-C1E9-0A73-B17A-0327965BA651}"/>
              </a:ext>
            </a:extLst>
          </p:cNvPr>
          <p:cNvPicPr>
            <a:picLocks noChangeAspect="1"/>
          </p:cNvPicPr>
          <p:nvPr/>
        </p:nvPicPr>
        <p:blipFill>
          <a:blip r:embed="rId5"/>
          <a:stretch>
            <a:fillRect/>
          </a:stretch>
        </p:blipFill>
        <p:spPr>
          <a:xfrm>
            <a:off x="6829878" y="229906"/>
            <a:ext cx="3136900" cy="3022600"/>
          </a:xfrm>
          <a:prstGeom prst="rect">
            <a:avLst/>
          </a:prstGeom>
        </p:spPr>
      </p:pic>
      <p:pic>
        <p:nvPicPr>
          <p:cNvPr id="11" name="Picture 10">
            <a:extLst>
              <a:ext uri="{FF2B5EF4-FFF2-40B4-BE49-F238E27FC236}">
                <a16:creationId xmlns:a16="http://schemas.microsoft.com/office/drawing/2014/main" id="{A2FBF2EB-8FF0-37A7-7495-4141F091A4F5}"/>
              </a:ext>
            </a:extLst>
          </p:cNvPr>
          <p:cNvPicPr>
            <a:picLocks noChangeAspect="1"/>
          </p:cNvPicPr>
          <p:nvPr/>
        </p:nvPicPr>
        <p:blipFill>
          <a:blip r:embed="rId6"/>
          <a:stretch>
            <a:fillRect/>
          </a:stretch>
        </p:blipFill>
        <p:spPr>
          <a:xfrm>
            <a:off x="6855278" y="3360274"/>
            <a:ext cx="3086100" cy="3022600"/>
          </a:xfrm>
          <a:prstGeom prst="rect">
            <a:avLst/>
          </a:prstGeom>
        </p:spPr>
      </p:pic>
    </p:spTree>
    <p:extLst>
      <p:ext uri="{BB962C8B-B14F-4D97-AF65-F5344CB8AC3E}">
        <p14:creationId xmlns:p14="http://schemas.microsoft.com/office/powerpoint/2010/main" val="812568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Markdown in two minutes</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7 / 25</a:t>
            </a:r>
          </a:p>
        </p:txBody>
      </p:sp>
      <p:sp>
        <p:nvSpPr>
          <p:cNvPr id="6" name="TextBox 5"/>
          <p:cNvSpPr txBox="1"/>
          <p:nvPr/>
        </p:nvSpPr>
        <p:spPr>
          <a:xfrm>
            <a:off x="548640" y="1371600"/>
            <a:ext cx="5486400" cy="228600"/>
          </a:xfrm>
          <a:prstGeom prst="rect">
            <a:avLst/>
          </a:prstGeom>
          <a:noFill/>
        </p:spPr>
        <p:txBody>
          <a:bodyPr wrap="square" lIns="0" tIns="0" rIns="0" bIns="0" anchor="t">
            <a:spAutoFit/>
          </a:bodyPr>
          <a:lstStyle/>
          <a:p>
            <a:pPr algn="l"/>
            <a:r>
              <a:rPr sz="1000" b="1" i="0" cap="all" spc="150">
                <a:solidFill>
                  <a:srgbClr val="5B6470"/>
                </a:solidFill>
                <a:latin typeface="Arial"/>
              </a:rPr>
              <a:t>You write: plain text</a:t>
            </a:r>
          </a:p>
        </p:txBody>
      </p:sp>
      <p:sp>
        <p:nvSpPr>
          <p:cNvPr id="7" name="TextBox 6"/>
          <p:cNvSpPr txBox="1"/>
          <p:nvPr/>
        </p:nvSpPr>
        <p:spPr>
          <a:xfrm>
            <a:off x="6400800" y="1371600"/>
            <a:ext cx="5242255" cy="228600"/>
          </a:xfrm>
          <a:prstGeom prst="rect">
            <a:avLst/>
          </a:prstGeom>
          <a:noFill/>
        </p:spPr>
        <p:txBody>
          <a:bodyPr wrap="square" lIns="0" tIns="0" rIns="0" bIns="0" anchor="t">
            <a:spAutoFit/>
          </a:bodyPr>
          <a:lstStyle/>
          <a:p>
            <a:pPr algn="l"/>
            <a:r>
              <a:rPr sz="1000" b="1" i="0" cap="all" spc="150">
                <a:solidFill>
                  <a:srgbClr val="5B6470"/>
                </a:solidFill>
                <a:latin typeface="Arial"/>
              </a:rPr>
              <a:t>You get: rendered</a:t>
            </a:r>
          </a:p>
        </p:txBody>
      </p:sp>
      <p:sp>
        <p:nvSpPr>
          <p:cNvPr id="8" name="Rounded Rectangle 7"/>
          <p:cNvSpPr/>
          <p:nvPr/>
        </p:nvSpPr>
        <p:spPr>
          <a:xfrm>
            <a:off x="548640" y="1664208"/>
            <a:ext cx="5486400" cy="2706623"/>
          </a:xfrm>
          <a:prstGeom prst="roundRect">
            <a:avLst>
              <a:gd name="adj" fmla="val 4000"/>
            </a:avLst>
          </a:prstGeom>
          <a:solidFill>
            <a:srgbClr val="272822"/>
          </a:solidFill>
          <a:ln>
            <a:noFill/>
          </a:ln>
          <a:effectLst/>
        </p:spPr>
        <p:style>
          <a:lnRef idx="1">
            <a:schemeClr val="accent1"/>
          </a:lnRef>
          <a:fillRef idx="3">
            <a:schemeClr val="accent1"/>
          </a:fillRef>
          <a:effectRef idx="2">
            <a:schemeClr val="accent1"/>
          </a:effectRef>
          <a:fontRef idx="minor">
            <a:schemeClr val="lt1"/>
          </a:fontRef>
        </p:style>
        <p:txBody>
          <a:bodyPr wrap="none" lIns="182880" tIns="146304" rIns="182880" bIns="146304" rtlCol="0" anchor="t"/>
          <a:lstStyle/>
          <a:p>
            <a:pPr algn="l"/>
            <a:r>
              <a:rPr sz="1200" b="1">
                <a:solidFill>
                  <a:srgbClr val="A6E22E"/>
                </a:solidFill>
                <a:latin typeface="Menlo"/>
              </a:rPr>
              <a:t># Fast state-vector simulator</a:t>
            </a:r>
          </a:p>
          <a:p>
            <a:pPr algn="l"/>
            <a:endParaRPr sz="1200" b="1">
              <a:solidFill>
                <a:srgbClr val="A6E22E"/>
              </a:solidFill>
              <a:latin typeface="Menlo"/>
            </a:endParaRPr>
          </a:p>
          <a:p>
            <a:pPr algn="l"/>
            <a:r>
              <a:rPr sz="1200" b="1">
                <a:solidFill>
                  <a:srgbClr val="A6E22E"/>
                </a:solidFill>
                <a:latin typeface="Menlo"/>
              </a:rPr>
              <a:t>## Conventions</a:t>
            </a:r>
          </a:p>
          <a:p>
            <a:pPr algn="l"/>
            <a:r>
              <a:rPr sz="1200" b="0">
                <a:solidFill>
                  <a:srgbClr val="F92672"/>
                </a:solidFill>
                <a:latin typeface="Menlo"/>
              </a:rPr>
              <a:t>-</a:t>
            </a:r>
            <a:r>
              <a:rPr sz="1200" b="0">
                <a:solidFill>
                  <a:srgbClr val="F8F8F2"/>
                </a:solidFill>
                <a:latin typeface="Menlo"/>
              </a:rPr>
              <a:t> Qubit 0 is the **least** significant bit.</a:t>
            </a:r>
          </a:p>
          <a:p>
            <a:pPr algn="l"/>
            <a:r>
              <a:rPr sz="1200" b="0">
                <a:solidFill>
                  <a:srgbClr val="F92672"/>
                </a:solidFill>
                <a:latin typeface="Menlo"/>
              </a:rPr>
              <a:t>-</a:t>
            </a:r>
            <a:r>
              <a:rPr sz="1200" b="0">
                <a:solidFill>
                  <a:srgbClr val="F8F8F2"/>
                </a:solidFill>
                <a:latin typeface="Menlo"/>
              </a:rPr>
              <a:t> Gate list: </a:t>
            </a:r>
            <a:r>
              <a:rPr sz="1200" b="0">
                <a:solidFill>
                  <a:srgbClr val="E6DB74"/>
                </a:solidFill>
                <a:latin typeface="Menlo"/>
              </a:rPr>
              <a:t>`(U, [qubits])`</a:t>
            </a:r>
            <a:r>
              <a:rPr sz="1200" b="0">
                <a:solidFill>
                  <a:srgbClr val="F8F8F2"/>
                </a:solidFill>
                <a:latin typeface="Menlo"/>
              </a:rPr>
              <a:t> tuples.</a:t>
            </a:r>
          </a:p>
          <a:p>
            <a:pPr algn="l"/>
            <a:endParaRPr sz="1200" b="0">
              <a:solidFill>
                <a:srgbClr val="F8F8F2"/>
              </a:solidFill>
              <a:latin typeface="Menlo"/>
            </a:endParaRPr>
          </a:p>
          <a:p>
            <a:pPr algn="l"/>
            <a:r>
              <a:rPr sz="1200" b="1">
                <a:solidFill>
                  <a:srgbClr val="A6E22E"/>
                </a:solidFill>
                <a:latin typeface="Menlo"/>
              </a:rPr>
              <a:t>## Commands</a:t>
            </a:r>
          </a:p>
          <a:p>
            <a:pPr algn="l"/>
            <a:r>
              <a:rPr sz="1200" b="0">
                <a:solidFill>
                  <a:srgbClr val="F92672"/>
                </a:solidFill>
                <a:latin typeface="Menlo"/>
              </a:rPr>
              <a:t>1.</a:t>
            </a:r>
            <a:r>
              <a:rPr sz="1200" b="0">
                <a:solidFill>
                  <a:srgbClr val="F8F8F2"/>
                </a:solidFill>
                <a:latin typeface="Menlo"/>
              </a:rPr>
              <a:t> </a:t>
            </a:r>
            <a:r>
              <a:rPr sz="1200" b="0">
                <a:solidFill>
                  <a:srgbClr val="E6DB74"/>
                </a:solidFill>
                <a:latin typeface="Menlo"/>
              </a:rPr>
              <a:t>`uv run pytest -q`</a:t>
            </a:r>
          </a:p>
          <a:p>
            <a:pPr algn="l"/>
            <a:r>
              <a:rPr sz="1200" b="0">
                <a:solidFill>
                  <a:srgbClr val="F92672"/>
                </a:solidFill>
                <a:latin typeface="Menlo"/>
              </a:rPr>
              <a:t>2.</a:t>
            </a:r>
            <a:r>
              <a:rPr sz="1200" b="0">
                <a:solidFill>
                  <a:srgbClr val="F8F8F2"/>
                </a:solidFill>
                <a:latin typeface="Menlo"/>
              </a:rPr>
              <a:t> </a:t>
            </a:r>
            <a:r>
              <a:rPr sz="1200" b="0">
                <a:solidFill>
                  <a:srgbClr val="E6DB74"/>
                </a:solidFill>
                <a:latin typeface="Menlo"/>
              </a:rPr>
              <a:t>`uv run python bench.py`</a:t>
            </a:r>
          </a:p>
          <a:p>
            <a:pPr algn="l"/>
            <a:endParaRPr sz="1200" b="0">
              <a:solidFill>
                <a:srgbClr val="E6DB74"/>
              </a:solidFill>
              <a:latin typeface="Menlo"/>
            </a:endParaRPr>
          </a:p>
          <a:p>
            <a:pPr algn="l"/>
            <a:r>
              <a:rPr sz="1200" b="0">
                <a:solidFill>
                  <a:srgbClr val="E6DB74"/>
                </a:solidFill>
                <a:latin typeface="Menlo"/>
              </a:rPr>
              <a:t>```python</a:t>
            </a:r>
          </a:p>
          <a:p>
            <a:pPr algn="l"/>
            <a:r>
              <a:rPr sz="1200" b="0">
                <a:solidFill>
                  <a:srgbClr val="F8F8F2"/>
                </a:solidFill>
                <a:latin typeface="Menlo"/>
              </a:rPr>
              <a:t>psi = simulate_fast(gates, n)</a:t>
            </a:r>
          </a:p>
          <a:p>
            <a:pPr algn="l"/>
            <a:r>
              <a:rPr sz="1200" b="0">
                <a:solidFill>
                  <a:srgbClr val="E6DB74"/>
                </a:solidFill>
                <a:latin typeface="Menlo"/>
              </a:rPr>
              <a:t>```</a:t>
            </a:r>
          </a:p>
        </p:txBody>
      </p:sp>
      <p:sp>
        <p:nvSpPr>
          <p:cNvPr id="9" name="Rectangle 8"/>
          <p:cNvSpPr/>
          <p:nvPr/>
        </p:nvSpPr>
        <p:spPr>
          <a:xfrm>
            <a:off x="6400800" y="1664208"/>
            <a:ext cx="5242255" cy="2838703"/>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29400" y="1801368"/>
            <a:ext cx="4785055" cy="365760"/>
          </a:xfrm>
          <a:prstGeom prst="rect">
            <a:avLst/>
          </a:prstGeom>
          <a:noFill/>
        </p:spPr>
        <p:txBody>
          <a:bodyPr wrap="square" lIns="0" tIns="0" rIns="0" bIns="0" anchor="t">
            <a:spAutoFit/>
          </a:bodyPr>
          <a:lstStyle/>
          <a:p>
            <a:pPr algn="l"/>
            <a:r>
              <a:rPr sz="1700" b="1" i="0">
                <a:solidFill>
                  <a:srgbClr val="1B1F24"/>
                </a:solidFill>
                <a:latin typeface="Georgia"/>
              </a:rPr>
              <a:t>Fast state-vector simulator</a:t>
            </a:r>
          </a:p>
        </p:txBody>
      </p:sp>
      <p:sp>
        <p:nvSpPr>
          <p:cNvPr id="11" name="TextBox 10"/>
          <p:cNvSpPr txBox="1"/>
          <p:nvPr/>
        </p:nvSpPr>
        <p:spPr>
          <a:xfrm>
            <a:off x="6629400" y="2231136"/>
            <a:ext cx="4785055" cy="274320"/>
          </a:xfrm>
          <a:prstGeom prst="rect">
            <a:avLst/>
          </a:prstGeom>
          <a:noFill/>
        </p:spPr>
        <p:txBody>
          <a:bodyPr wrap="square" lIns="0" tIns="0" rIns="0" bIns="0" anchor="t">
            <a:spAutoFit/>
          </a:bodyPr>
          <a:lstStyle/>
          <a:p>
            <a:pPr algn="l"/>
            <a:r>
              <a:rPr sz="1300" b="1" i="0">
                <a:solidFill>
                  <a:srgbClr val="1B1F24"/>
                </a:solidFill>
                <a:latin typeface="Arial"/>
              </a:rPr>
              <a:t>Conventions</a:t>
            </a:r>
          </a:p>
        </p:txBody>
      </p:sp>
      <p:sp>
        <p:nvSpPr>
          <p:cNvPr id="12" name="TextBox 11"/>
          <p:cNvSpPr txBox="1"/>
          <p:nvPr/>
        </p:nvSpPr>
        <p:spPr>
          <a:xfrm>
            <a:off x="6629400" y="2532888"/>
            <a:ext cx="4785055" cy="462280"/>
          </a:xfrm>
          <a:prstGeom prst="rect">
            <a:avLst/>
          </a:prstGeom>
          <a:noFill/>
        </p:spPr>
        <p:txBody>
          <a:bodyPr wrap="square" lIns="0" tIns="0" rIns="0" bIns="0">
            <a:spAutoFit/>
          </a:bodyPr>
          <a:lstStyle/>
          <a:p>
            <a:pPr marL="256032" indent="-256032">
              <a:spcAft>
                <a:spcPts val="200"/>
              </a:spcAft>
              <a:buClr>
                <a:srgbClr val="0E5A8A"/>
              </a:buClr>
              <a:buFont typeface="Arial"/>
              <a:buChar char="•"/>
            </a:pPr>
            <a:r>
              <a:rPr sz="1200" b="0" i="0">
                <a:solidFill>
                  <a:srgbClr val="1B1F24"/>
                </a:solidFill>
                <a:latin typeface="Arial"/>
              </a:rPr>
              <a:t>Qubit 0 is the </a:t>
            </a:r>
            <a:r>
              <a:rPr sz="1200" b="1" i="0">
                <a:solidFill>
                  <a:srgbClr val="1B1F24"/>
                </a:solidFill>
                <a:latin typeface="Arial"/>
              </a:rPr>
              <a:t>least</a:t>
            </a:r>
            <a:r>
              <a:rPr sz="1200" b="0" i="0">
                <a:solidFill>
                  <a:srgbClr val="1B1F24"/>
                </a:solidFill>
                <a:latin typeface="Arial"/>
              </a:rPr>
              <a:t> significant bit.</a:t>
            </a:r>
          </a:p>
          <a:p>
            <a:pPr marL="256032" indent="-256032">
              <a:spcAft>
                <a:spcPts val="200"/>
              </a:spcAft>
              <a:buClr>
                <a:srgbClr val="0E5A8A"/>
              </a:buClr>
              <a:buFont typeface="Arial"/>
              <a:buChar char="•"/>
            </a:pPr>
            <a:r>
              <a:rPr sz="1200" b="0" i="0">
                <a:solidFill>
                  <a:srgbClr val="1B1F24"/>
                </a:solidFill>
                <a:latin typeface="Arial"/>
              </a:rPr>
              <a:t>Gate list: </a:t>
            </a:r>
            <a:r>
              <a:rPr sz="1104" b="0" i="0">
                <a:solidFill>
                  <a:srgbClr val="1B1F24"/>
                </a:solidFill>
                <a:highlight>
                  <a:srgbClr val="EEF1F4"/>
                </a:highlight>
                <a:latin typeface="Menlo"/>
              </a:rPr>
              <a:t>(U, [qubits])</a:t>
            </a:r>
            <a:r>
              <a:rPr sz="1200" b="0" i="0">
                <a:solidFill>
                  <a:srgbClr val="1B1F24"/>
                </a:solidFill>
                <a:latin typeface="Arial"/>
              </a:rPr>
              <a:t> tuples.</a:t>
            </a:r>
          </a:p>
        </p:txBody>
      </p:sp>
      <p:sp>
        <p:nvSpPr>
          <p:cNvPr id="13" name="TextBox 12"/>
          <p:cNvSpPr txBox="1"/>
          <p:nvPr/>
        </p:nvSpPr>
        <p:spPr>
          <a:xfrm>
            <a:off x="6629400" y="3050031"/>
            <a:ext cx="4785055" cy="274320"/>
          </a:xfrm>
          <a:prstGeom prst="rect">
            <a:avLst/>
          </a:prstGeom>
          <a:noFill/>
        </p:spPr>
        <p:txBody>
          <a:bodyPr wrap="square" lIns="0" tIns="0" rIns="0" bIns="0" anchor="t">
            <a:spAutoFit/>
          </a:bodyPr>
          <a:lstStyle/>
          <a:p>
            <a:pPr algn="l"/>
            <a:r>
              <a:rPr sz="1300" b="1" i="0">
                <a:solidFill>
                  <a:srgbClr val="1B1F24"/>
                </a:solidFill>
                <a:latin typeface="Arial"/>
              </a:rPr>
              <a:t>Commands</a:t>
            </a:r>
          </a:p>
        </p:txBody>
      </p:sp>
      <p:sp>
        <p:nvSpPr>
          <p:cNvPr id="14" name="TextBox 13"/>
          <p:cNvSpPr txBox="1"/>
          <p:nvPr/>
        </p:nvSpPr>
        <p:spPr>
          <a:xfrm>
            <a:off x="6629400" y="3351783"/>
            <a:ext cx="4785055" cy="462280"/>
          </a:xfrm>
          <a:prstGeom prst="rect">
            <a:avLst/>
          </a:prstGeom>
          <a:noFill/>
        </p:spPr>
        <p:txBody>
          <a:bodyPr wrap="square" lIns="0" tIns="0" rIns="0" bIns="0">
            <a:spAutoFit/>
          </a:bodyPr>
          <a:lstStyle/>
          <a:p>
            <a:pPr marL="256032" indent="-256032">
              <a:spcAft>
                <a:spcPts val="200"/>
              </a:spcAft>
              <a:buClr>
                <a:srgbClr val="0E5A8A"/>
              </a:buClr>
              <a:buFont typeface="Arial"/>
              <a:buAutoNum type="arabicPeriod"/>
            </a:pPr>
            <a:r>
              <a:rPr sz="1104" b="0" i="0">
                <a:solidFill>
                  <a:srgbClr val="1B1F24"/>
                </a:solidFill>
                <a:highlight>
                  <a:srgbClr val="EEF1F4"/>
                </a:highlight>
                <a:latin typeface="Menlo"/>
              </a:rPr>
              <a:t>uv run pytest -q</a:t>
            </a:r>
          </a:p>
          <a:p>
            <a:pPr marL="256032" indent="-256032">
              <a:spcAft>
                <a:spcPts val="200"/>
              </a:spcAft>
              <a:buClr>
                <a:srgbClr val="0E5A8A"/>
              </a:buClr>
              <a:buFont typeface="Arial"/>
              <a:buAutoNum type="arabicPeriod"/>
            </a:pPr>
            <a:r>
              <a:rPr sz="1104" b="0" i="0">
                <a:solidFill>
                  <a:srgbClr val="1B1F24"/>
                </a:solidFill>
                <a:highlight>
                  <a:srgbClr val="EEF1F4"/>
                </a:highlight>
                <a:latin typeface="Menlo"/>
              </a:rPr>
              <a:t>uv run python bench.py</a:t>
            </a:r>
          </a:p>
        </p:txBody>
      </p:sp>
      <p:sp>
        <p:nvSpPr>
          <p:cNvPr id="15" name="Rounded Rectangle 14"/>
          <p:cNvSpPr/>
          <p:nvPr/>
        </p:nvSpPr>
        <p:spPr>
          <a:xfrm>
            <a:off x="6629400" y="3868927"/>
            <a:ext cx="4785055" cy="496824"/>
          </a:xfrm>
          <a:prstGeom prst="roundRect">
            <a:avLst>
              <a:gd name="adj" fmla="val 4000"/>
            </a:avLst>
          </a:prstGeom>
          <a:solidFill>
            <a:srgbClr val="272822"/>
          </a:solidFill>
          <a:ln>
            <a:noFill/>
          </a:ln>
          <a:effectLst/>
        </p:spPr>
        <p:style>
          <a:lnRef idx="1">
            <a:schemeClr val="accent1"/>
          </a:lnRef>
          <a:fillRef idx="3">
            <a:schemeClr val="accent1"/>
          </a:fillRef>
          <a:effectRef idx="2">
            <a:schemeClr val="accent1"/>
          </a:effectRef>
          <a:fontRef idx="minor">
            <a:schemeClr val="lt1"/>
          </a:fontRef>
        </p:style>
        <p:txBody>
          <a:bodyPr wrap="none" lIns="182880" tIns="146304" rIns="182880" bIns="146304" rtlCol="0" anchor="t"/>
          <a:lstStyle/>
          <a:p>
            <a:pPr algn="l"/>
            <a:r>
              <a:rPr sz="1100" b="0">
                <a:solidFill>
                  <a:srgbClr val="F8F8F2"/>
                </a:solidFill>
                <a:latin typeface="Menlo"/>
              </a:rPr>
              <a:t>psi = simulate_fast(gates, n)</a:t>
            </a:r>
          </a:p>
        </p:txBody>
      </p:sp>
      <p:sp>
        <p:nvSpPr>
          <p:cNvPr id="16" name="TextBox 15"/>
          <p:cNvSpPr txBox="1"/>
          <p:nvPr/>
        </p:nvSpPr>
        <p:spPr>
          <a:xfrm>
            <a:off x="548640" y="4777231"/>
            <a:ext cx="11094415" cy="1127760"/>
          </a:xfrm>
          <a:prstGeom prst="rect">
            <a:avLst/>
          </a:prstGeom>
          <a:noFill/>
        </p:spPr>
        <p:txBody>
          <a:bodyPr wrap="square" lIns="0" tIns="0" rIns="0" bIns="0">
            <a:spAutoFit/>
          </a:bodyPr>
          <a:lstStyle/>
          <a:p>
            <a:pPr marL="256032" indent="-256032">
              <a:spcAft>
                <a:spcPts val="600"/>
              </a:spcAft>
              <a:buClr>
                <a:srgbClr val="0E5A8A"/>
              </a:buClr>
              <a:buFont typeface="Arial"/>
              <a:buChar char="•"/>
            </a:pPr>
            <a:r>
              <a:rPr sz="1400" b="0" i="0">
                <a:solidFill>
                  <a:srgbClr val="1B1F24"/>
                </a:solidFill>
                <a:latin typeface="Arial"/>
              </a:rPr>
              <a:t>Plain text with light markup. Readable raw; rendered by GitHub, VS Code (</a:t>
            </a:r>
            <a:r>
              <a:rPr sz="1288" b="0" i="0">
                <a:solidFill>
                  <a:srgbClr val="1B1F24"/>
                </a:solidFill>
                <a:highlight>
                  <a:srgbClr val="EEF1F4"/>
                </a:highlight>
                <a:latin typeface="Menlo"/>
              </a:rPr>
              <a:t>Shift+Cmd+V</a:t>
            </a:r>
            <a:r>
              <a:rPr sz="1400" b="0" i="0">
                <a:solidFill>
                  <a:srgbClr val="1B1F24"/>
                </a:solidFill>
                <a:latin typeface="Arial"/>
              </a:rPr>
              <a:t> for the preview), Jupyter text cells, and the agent itself.</a:t>
            </a:r>
          </a:p>
          <a:p>
            <a:pPr marL="256032" indent="-256032">
              <a:spcAft>
                <a:spcPts val="600"/>
              </a:spcAft>
              <a:buClr>
                <a:srgbClr val="0E5A8A"/>
              </a:buClr>
              <a:buFont typeface="Arial"/>
              <a:buChar char="•"/>
            </a:pPr>
            <a:r>
              <a:rPr sz="1400" b="0" i="0">
                <a:solidFill>
                  <a:srgbClr val="1B1F24"/>
                </a:solidFill>
                <a:latin typeface="Arial"/>
              </a:rPr>
              <a:t>Every instruction file in this lecture is Markdown: </a:t>
            </a:r>
            <a:r>
              <a:rPr sz="1288" b="0" i="0">
                <a:solidFill>
                  <a:srgbClr val="1B1F24"/>
                </a:solidFill>
                <a:highlight>
                  <a:srgbClr val="EEF1F4"/>
                </a:highlight>
                <a:latin typeface="Menlo"/>
              </a:rPr>
              <a:t>CLAUDE.md</a:t>
            </a:r>
            <a:r>
              <a:rPr sz="1400" b="0" i="0">
                <a:solidFill>
                  <a:srgbClr val="1B1F24"/>
                </a:solidFill>
                <a:latin typeface="Arial"/>
              </a:rPr>
              <a:t>, </a:t>
            </a:r>
            <a:r>
              <a:rPr sz="1288" b="0" i="0">
                <a:solidFill>
                  <a:srgbClr val="1B1F24"/>
                </a:solidFill>
                <a:highlight>
                  <a:srgbClr val="EEF1F4"/>
                </a:highlight>
                <a:latin typeface="Menlo"/>
              </a:rPr>
              <a:t>AGENTS.md</a:t>
            </a:r>
            <a:r>
              <a:rPr sz="1400" b="0" i="0">
                <a:solidFill>
                  <a:srgbClr val="1B1F24"/>
                </a:solidFill>
                <a:latin typeface="Arial"/>
              </a:rPr>
              <a:t>, </a:t>
            </a:r>
            <a:r>
              <a:rPr sz="1288" b="0" i="0">
                <a:solidFill>
                  <a:srgbClr val="1B1F24"/>
                </a:solidFill>
                <a:highlight>
                  <a:srgbClr val="EEF1F4"/>
                </a:highlight>
                <a:latin typeface="Menlo"/>
              </a:rPr>
              <a:t>SKILL.md</a:t>
            </a:r>
            <a:r>
              <a:rPr sz="1400" b="0" i="0">
                <a:solidFill>
                  <a:srgbClr val="1B1F24"/>
                </a:solidFill>
                <a:latin typeface="Arial"/>
              </a:rPr>
              <a:t> (with a YAML front matter between </a:t>
            </a:r>
            <a:r>
              <a:rPr sz="1288" b="0" i="0">
                <a:solidFill>
                  <a:srgbClr val="1B1F24"/>
                </a:solidFill>
                <a:highlight>
                  <a:srgbClr val="EEF1F4"/>
                </a:highlight>
                <a:latin typeface="Menlo"/>
              </a:rPr>
              <a:t>---</a:t>
            </a:r>
            <a:r>
              <a:rPr sz="1400" b="0" i="0">
                <a:solidFill>
                  <a:srgbClr val="1B1F24"/>
                </a:solidFill>
                <a:latin typeface="Arial"/>
              </a:rPr>
              <a:t> lines), </a:t>
            </a:r>
            <a:r>
              <a:rPr sz="1288" b="0" i="0">
                <a:solidFill>
                  <a:srgbClr val="1B1F24"/>
                </a:solidFill>
                <a:highlight>
                  <a:srgbClr val="EEF1F4"/>
                </a:highlight>
                <a:latin typeface="Menlo"/>
              </a:rPr>
              <a:t>PLAN.md</a:t>
            </a:r>
            <a:r>
              <a:rPr sz="1400" b="0" i="0">
                <a:solidFill>
                  <a:srgbClr val="1B1F24"/>
                </a:solidFill>
                <a:latin typeface="Arial"/>
              </a:rPr>
              <a:t>, </a:t>
            </a:r>
            <a:r>
              <a:rPr sz="1288" b="0" i="0">
                <a:solidFill>
                  <a:srgbClr val="1B1F24"/>
                </a:solidFill>
                <a:highlight>
                  <a:srgbClr val="EEF1F4"/>
                </a:highlight>
                <a:latin typeface="Menlo"/>
              </a:rPr>
              <a:t>README.md</a:t>
            </a:r>
            <a:r>
              <a:rPr sz="1400" b="0" i="0">
                <a:solidFill>
                  <a:srgbClr val="1B1F24"/>
                </a:solidFill>
                <a:latin typeface="Arial"/>
              </a:rPr>
              <a:t>.</a:t>
            </a:r>
          </a:p>
          <a:p>
            <a:pPr marL="256032" indent="-256032">
              <a:spcAft>
                <a:spcPts val="600"/>
              </a:spcAft>
              <a:buClr>
                <a:srgbClr val="0E5A8A"/>
              </a:buClr>
              <a:buFont typeface="Arial"/>
              <a:buChar char="•"/>
            </a:pPr>
            <a:r>
              <a:rPr sz="1400" b="0" i="0">
                <a:solidFill>
                  <a:srgbClr val="1B1F24"/>
                </a:solidFill>
                <a:latin typeface="Arial"/>
              </a:rPr>
              <a:t>Backticks are not decoration: </a:t>
            </a:r>
            <a:r>
              <a:rPr sz="1288" b="0" i="0">
                <a:solidFill>
                  <a:srgbClr val="1B1F24"/>
                </a:solidFill>
                <a:highlight>
                  <a:srgbClr val="EEF1F4"/>
                </a:highlight>
                <a:latin typeface="Menlo"/>
              </a:rPr>
              <a:t>simulate()</a:t>
            </a:r>
            <a:r>
              <a:rPr sz="1400" b="0" i="0">
                <a:solidFill>
                  <a:srgbClr val="1B1F24"/>
                </a:solidFill>
                <a:latin typeface="Arial"/>
              </a:rPr>
              <a:t> tells the agent this is code, not prose. Headings and bullets are how it finds the rule you meant.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2760" b="1" i="0">
                <a:solidFill>
                  <a:srgbClr val="1B1F24"/>
                </a:solidFill>
                <a:highlight>
                  <a:srgbClr val="EEF1F4"/>
                </a:highlight>
                <a:latin typeface="Menlo"/>
              </a:rPr>
              <a:t>CLAUDE.md</a:t>
            </a:r>
            <a:r>
              <a:rPr sz="3000" b="1" i="0">
                <a:solidFill>
                  <a:srgbClr val="1B1F24"/>
                </a:solidFill>
                <a:latin typeface="Georgia"/>
              </a:rPr>
              <a:t> and </a:t>
            </a:r>
            <a:r>
              <a:rPr sz="2760" b="1" i="0">
                <a:solidFill>
                  <a:srgbClr val="1B1F24"/>
                </a:solidFill>
                <a:highlight>
                  <a:srgbClr val="EEF1F4"/>
                </a:highlight>
                <a:latin typeface="Menlo"/>
              </a:rPr>
              <a:t>AGENTS.md</a:t>
            </a:r>
            <a:r>
              <a:rPr sz="3000" b="1" i="0">
                <a:solidFill>
                  <a:srgbClr val="1B1F24"/>
                </a:solidFill>
                <a:latin typeface="Georgia"/>
              </a:rPr>
              <a:t>: persistent instructions</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10 / 25</a:t>
            </a:r>
          </a:p>
        </p:txBody>
      </p:sp>
      <p:sp>
        <p:nvSpPr>
          <p:cNvPr id="6" name="TextBox 5"/>
          <p:cNvSpPr txBox="1"/>
          <p:nvPr/>
        </p:nvSpPr>
        <p:spPr>
          <a:xfrm>
            <a:off x="548640" y="1371600"/>
            <a:ext cx="11094415" cy="2918748"/>
          </a:xfrm>
          <a:prstGeom prst="rect">
            <a:avLst/>
          </a:prstGeom>
          <a:noFill/>
        </p:spPr>
        <p:txBody>
          <a:bodyPr wrap="square" lIns="0" tIns="0" rIns="0" bIns="0">
            <a:spAutoFit/>
          </a:bodyPr>
          <a:lstStyle/>
          <a:p>
            <a:pPr marL="256032" indent="-256032">
              <a:spcAft>
                <a:spcPts val="1100"/>
              </a:spcAft>
              <a:buClr>
                <a:srgbClr val="0E5A8A"/>
              </a:buClr>
              <a:buFont typeface="Arial"/>
              <a:buChar char="•"/>
            </a:pPr>
            <a:r>
              <a:rPr sz="1564" b="0" i="0" dirty="0" err="1">
                <a:solidFill>
                  <a:srgbClr val="1B1F24"/>
                </a:solidFill>
                <a:highlight>
                  <a:srgbClr val="EEF1F4"/>
                </a:highlight>
                <a:latin typeface="Menlo"/>
              </a:rPr>
              <a:t>CLAUDE.md</a:t>
            </a:r>
            <a:r>
              <a:rPr sz="1700" b="0" i="0" dirty="0">
                <a:solidFill>
                  <a:srgbClr val="1B1F24"/>
                </a:solidFill>
                <a:latin typeface="Arial"/>
              </a:rPr>
              <a:t> is read automatically at the start of </a:t>
            </a:r>
            <a:r>
              <a:rPr sz="1700" b="1" i="0" dirty="0">
                <a:solidFill>
                  <a:srgbClr val="1B1F24"/>
                </a:solidFill>
                <a:latin typeface="Arial"/>
              </a:rPr>
              <a:t>every</a:t>
            </a:r>
            <a:r>
              <a:rPr sz="1700" b="0" i="0" dirty="0">
                <a:solidFill>
                  <a:srgbClr val="1B1F24"/>
                </a:solidFill>
                <a:latin typeface="Arial"/>
              </a:rPr>
              <a:t> session. This is the fix for “sessions forget”.</a:t>
            </a:r>
          </a:p>
          <a:p>
            <a:pPr marL="256032" indent="-256032">
              <a:spcAft>
                <a:spcPts val="1100"/>
              </a:spcAft>
              <a:buClr>
                <a:srgbClr val="0E5A8A"/>
              </a:buClr>
              <a:buFont typeface="Arial"/>
              <a:buChar char="•"/>
            </a:pPr>
            <a:r>
              <a:rPr sz="1700" b="0" i="0" dirty="0">
                <a:solidFill>
                  <a:srgbClr val="1B1F24"/>
                </a:solidFill>
                <a:latin typeface="Arial"/>
              </a:rPr>
              <a:t>Locations, all concatenated: </a:t>
            </a:r>
            <a:r>
              <a:rPr sz="1564" b="0" i="0" dirty="0">
                <a:solidFill>
                  <a:srgbClr val="1B1F24"/>
                </a:solidFill>
                <a:highlight>
                  <a:srgbClr val="EEF1F4"/>
                </a:highlight>
                <a:latin typeface="Menlo"/>
              </a:rPr>
              <a:t>~/.</a:t>
            </a:r>
            <a:r>
              <a:rPr sz="1564" b="0" i="0" dirty="0" err="1">
                <a:solidFill>
                  <a:srgbClr val="1B1F24"/>
                </a:solidFill>
                <a:highlight>
                  <a:srgbClr val="EEF1F4"/>
                </a:highlight>
                <a:latin typeface="Menlo"/>
              </a:rPr>
              <a:t>claude</a:t>
            </a:r>
            <a:r>
              <a:rPr sz="1564" b="0" i="0" dirty="0">
                <a:solidFill>
                  <a:srgbClr val="1B1F24"/>
                </a:solidFill>
                <a:highlight>
                  <a:srgbClr val="EEF1F4"/>
                </a:highlight>
                <a:latin typeface="Menlo"/>
              </a:rPr>
              <a:t>/</a:t>
            </a:r>
            <a:r>
              <a:rPr sz="1564" b="0" i="0" dirty="0" err="1">
                <a:solidFill>
                  <a:srgbClr val="1B1F24"/>
                </a:solidFill>
                <a:highlight>
                  <a:srgbClr val="EEF1F4"/>
                </a:highlight>
                <a:latin typeface="Menlo"/>
              </a:rPr>
              <a:t>CLAUDE.md</a:t>
            </a:r>
            <a:r>
              <a:rPr sz="1700" b="0" i="0" dirty="0">
                <a:solidFill>
                  <a:srgbClr val="1B1F24"/>
                </a:solidFill>
                <a:latin typeface="Arial"/>
              </a:rPr>
              <a:t> (you, all projects), </a:t>
            </a:r>
            <a:r>
              <a:rPr sz="1564" b="0" i="0" dirty="0">
                <a:solidFill>
                  <a:srgbClr val="1B1F24"/>
                </a:solidFill>
                <a:highlight>
                  <a:srgbClr val="EEF1F4"/>
                </a:highlight>
                <a:latin typeface="Menlo"/>
              </a:rPr>
              <a:t>./</a:t>
            </a:r>
            <a:r>
              <a:rPr sz="1564" b="0" i="0" dirty="0" err="1">
                <a:solidFill>
                  <a:srgbClr val="1B1F24"/>
                </a:solidFill>
                <a:highlight>
                  <a:srgbClr val="EEF1F4"/>
                </a:highlight>
                <a:latin typeface="Menlo"/>
              </a:rPr>
              <a:t>CLAUDE.md</a:t>
            </a:r>
            <a:r>
              <a:rPr sz="1700" b="0" i="0" dirty="0">
                <a:solidFill>
                  <a:srgbClr val="1B1F24"/>
                </a:solidFill>
                <a:latin typeface="Arial"/>
              </a:rPr>
              <a:t> (the project, commit it), </a:t>
            </a:r>
            <a:r>
              <a:rPr sz="1564" b="0" i="0" dirty="0">
                <a:solidFill>
                  <a:srgbClr val="1B1F24"/>
                </a:solidFill>
                <a:highlight>
                  <a:srgbClr val="EEF1F4"/>
                </a:highlight>
                <a:latin typeface="Menlo"/>
              </a:rPr>
              <a:t>./</a:t>
            </a:r>
            <a:r>
              <a:rPr sz="1564" b="0" i="0" dirty="0" err="1">
                <a:solidFill>
                  <a:srgbClr val="1B1F24"/>
                </a:solidFill>
                <a:highlight>
                  <a:srgbClr val="EEF1F4"/>
                </a:highlight>
                <a:latin typeface="Menlo"/>
              </a:rPr>
              <a:t>CLAUDE.local.md</a:t>
            </a:r>
            <a:r>
              <a:rPr sz="1700" b="0" i="0" dirty="0">
                <a:solidFill>
                  <a:srgbClr val="1B1F24"/>
                </a:solidFill>
                <a:latin typeface="Arial"/>
              </a:rPr>
              <a:t> (personal, git-ignored), </a:t>
            </a:r>
            <a:r>
              <a:rPr sz="1564" b="0" i="0" dirty="0" err="1">
                <a:solidFill>
                  <a:srgbClr val="1B1F24"/>
                </a:solidFill>
                <a:highlight>
                  <a:srgbClr val="EEF1F4"/>
                </a:highlight>
                <a:latin typeface="Menlo"/>
              </a:rPr>
              <a:t>CLAUDE.md</a:t>
            </a:r>
            <a:r>
              <a:rPr sz="1700" b="0" i="0" dirty="0">
                <a:solidFill>
                  <a:srgbClr val="1B1F24"/>
                </a:solidFill>
                <a:latin typeface="Arial"/>
              </a:rPr>
              <a:t> in subdirectories, </a:t>
            </a:r>
            <a:r>
              <a:rPr sz="1564" b="0" i="0" dirty="0">
                <a:solidFill>
                  <a:srgbClr val="1B1F24"/>
                </a:solidFill>
                <a:highlight>
                  <a:srgbClr val="EEF1F4"/>
                </a:highlight>
                <a:latin typeface="Menlo"/>
              </a:rPr>
              <a:t>.</a:t>
            </a:r>
            <a:r>
              <a:rPr sz="1564" b="0" i="0" dirty="0" err="1">
                <a:solidFill>
                  <a:srgbClr val="1B1F24"/>
                </a:solidFill>
                <a:highlight>
                  <a:srgbClr val="EEF1F4"/>
                </a:highlight>
                <a:latin typeface="Menlo"/>
              </a:rPr>
              <a:t>claude</a:t>
            </a:r>
            <a:r>
              <a:rPr sz="1564" b="0" i="0" dirty="0">
                <a:solidFill>
                  <a:srgbClr val="1B1F24"/>
                </a:solidFill>
                <a:highlight>
                  <a:srgbClr val="EEF1F4"/>
                </a:highlight>
                <a:latin typeface="Menlo"/>
              </a:rPr>
              <a:t>/rules/*.</a:t>
            </a:r>
            <a:r>
              <a:rPr sz="1564" b="0" i="0" dirty="0" err="1">
                <a:solidFill>
                  <a:srgbClr val="1B1F24"/>
                </a:solidFill>
                <a:highlight>
                  <a:srgbClr val="EEF1F4"/>
                </a:highlight>
                <a:latin typeface="Menlo"/>
              </a:rPr>
              <a:t>md</a:t>
            </a:r>
            <a:r>
              <a:rPr sz="1700" b="0" i="0" dirty="0" err="1">
                <a:solidFill>
                  <a:srgbClr val="1B1F24"/>
                </a:solidFill>
                <a:latin typeface="Arial"/>
              </a:rPr>
              <a:t>.</a:t>
            </a:r>
            <a:endParaRPr sz="1700" b="0" i="0" dirty="0">
              <a:solidFill>
                <a:srgbClr val="1B1F24"/>
              </a:solidFill>
              <a:latin typeface="Arial"/>
            </a:endParaRPr>
          </a:p>
          <a:p>
            <a:pPr marL="256032" indent="-256032">
              <a:spcAft>
                <a:spcPts val="1100"/>
              </a:spcAft>
              <a:buClr>
                <a:srgbClr val="0E5A8A"/>
              </a:buClr>
              <a:buFont typeface="Arial"/>
              <a:buChar char="•"/>
            </a:pPr>
            <a:r>
              <a:rPr sz="1564" b="0" i="0" dirty="0">
                <a:solidFill>
                  <a:srgbClr val="1B1F24"/>
                </a:solidFill>
                <a:highlight>
                  <a:srgbClr val="EEF1F4"/>
                </a:highlight>
                <a:latin typeface="Menlo"/>
              </a:rPr>
              <a:t>/</a:t>
            </a:r>
            <a:r>
              <a:rPr sz="1564" b="0" i="0" dirty="0" err="1">
                <a:solidFill>
                  <a:srgbClr val="1B1F24"/>
                </a:solidFill>
                <a:highlight>
                  <a:srgbClr val="EEF1F4"/>
                </a:highlight>
                <a:latin typeface="Menlo"/>
              </a:rPr>
              <a:t>init</a:t>
            </a:r>
            <a:r>
              <a:rPr sz="1700" b="0" i="0" dirty="0">
                <a:solidFill>
                  <a:srgbClr val="1B1F24"/>
                </a:solidFill>
                <a:latin typeface="Arial"/>
              </a:rPr>
              <a:t> drafts one from your repo. Edit it; it will not know your physics conventions.</a:t>
            </a:r>
          </a:p>
          <a:p>
            <a:pPr marL="256032" indent="-256032">
              <a:spcAft>
                <a:spcPts val="1100"/>
              </a:spcAft>
              <a:buClr>
                <a:srgbClr val="0E5A8A"/>
              </a:buClr>
              <a:buFont typeface="Arial"/>
              <a:buChar char="•"/>
            </a:pPr>
            <a:r>
              <a:rPr sz="1700" b="1" i="0" dirty="0">
                <a:solidFill>
                  <a:srgbClr val="1B1F24"/>
                </a:solidFill>
                <a:latin typeface="Arial"/>
              </a:rPr>
              <a:t>Put in:</a:t>
            </a:r>
            <a:r>
              <a:rPr sz="1700" b="0" i="0" dirty="0">
                <a:solidFill>
                  <a:srgbClr val="1B1F24"/>
                </a:solidFill>
                <a:latin typeface="Arial"/>
              </a:rPr>
              <a:t> build and test commands, conventions the code cannot express (qubit ordering!), interfaces that must not change, files it must never touch, mistakes it keeps making. </a:t>
            </a:r>
            <a:r>
              <a:rPr sz="1700" b="1" i="0" dirty="0">
                <a:solidFill>
                  <a:srgbClr val="1B1F24"/>
                </a:solidFill>
                <a:latin typeface="Arial"/>
              </a:rPr>
              <a:t>Leave out:</a:t>
            </a:r>
            <a:r>
              <a:rPr sz="1700" b="0" i="0" dirty="0">
                <a:solidFill>
                  <a:srgbClr val="1B1F24"/>
                </a:solidFill>
                <a:latin typeface="Arial"/>
              </a:rPr>
              <a:t> tutorials, anything derivable from the code. Under about 200 lines.</a:t>
            </a:r>
          </a:p>
          <a:p>
            <a:pPr marL="256032" indent="-256032">
              <a:spcAft>
                <a:spcPts val="1100"/>
              </a:spcAft>
              <a:buClr>
                <a:srgbClr val="0E5A8A"/>
              </a:buClr>
              <a:buFont typeface="Arial"/>
              <a:buChar char="•"/>
            </a:pPr>
            <a:r>
              <a:rPr sz="1564" b="0" i="0" dirty="0" err="1">
                <a:solidFill>
                  <a:srgbClr val="1B1F24"/>
                </a:solidFill>
                <a:highlight>
                  <a:srgbClr val="EEF1F4"/>
                </a:highlight>
                <a:latin typeface="Menlo"/>
              </a:rPr>
              <a:t>AGENTS.md</a:t>
            </a:r>
            <a:r>
              <a:rPr sz="1700" b="0" i="0" dirty="0">
                <a:solidFill>
                  <a:srgbClr val="1B1F24"/>
                </a:solidFill>
                <a:latin typeface="Arial"/>
              </a:rPr>
              <a:t> is the vendor-neutral equivalent (Codex, Cursor, Copilot, Gemini CLI). Claude Code reads it natively when there is no </a:t>
            </a:r>
            <a:r>
              <a:rPr sz="1564" b="0" i="0" dirty="0" err="1">
                <a:solidFill>
                  <a:srgbClr val="1B1F24"/>
                </a:solidFill>
                <a:highlight>
                  <a:srgbClr val="EEF1F4"/>
                </a:highlight>
                <a:latin typeface="Menlo"/>
              </a:rPr>
              <a:t>CLAUDE.md</a:t>
            </a:r>
            <a:r>
              <a:rPr sz="1700" b="0" i="0" dirty="0">
                <a:solidFill>
                  <a:srgbClr val="1B1F24"/>
                </a:solidFill>
                <a:latin typeface="Arial"/>
              </a:rPr>
              <a:t>; if both exist </a:t>
            </a:r>
            <a:r>
              <a:rPr sz="1564" b="0" i="0" dirty="0" err="1">
                <a:solidFill>
                  <a:srgbClr val="1B1F24"/>
                </a:solidFill>
                <a:highlight>
                  <a:srgbClr val="EEF1F4"/>
                </a:highlight>
                <a:latin typeface="Menlo"/>
              </a:rPr>
              <a:t>CLAUDE.md</a:t>
            </a:r>
            <a:r>
              <a:rPr sz="1700" b="0" i="0" dirty="0">
                <a:solidFill>
                  <a:srgbClr val="1B1F24"/>
                </a:solidFill>
                <a:latin typeface="Arial"/>
              </a:rPr>
              <a:t> wins. </a:t>
            </a:r>
          </a:p>
        </p:txBody>
      </p:sp>
      <p:sp>
        <p:nvSpPr>
          <p:cNvPr id="7" name="TextBox 6">
            <a:extLst>
              <a:ext uri="{FF2B5EF4-FFF2-40B4-BE49-F238E27FC236}">
                <a16:creationId xmlns:a16="http://schemas.microsoft.com/office/drawing/2014/main" id="{01D617DE-2C7C-5125-750B-0070D875246D}"/>
              </a:ext>
            </a:extLst>
          </p:cNvPr>
          <p:cNvSpPr txBox="1"/>
          <p:nvPr/>
        </p:nvSpPr>
        <p:spPr>
          <a:xfrm>
            <a:off x="2334615" y="5008855"/>
            <a:ext cx="7522464" cy="369332"/>
          </a:xfrm>
          <a:prstGeom prst="rect">
            <a:avLst/>
          </a:prstGeom>
          <a:noFill/>
        </p:spPr>
        <p:txBody>
          <a:bodyPr wrap="square" rtlCol="0">
            <a:spAutoFit/>
          </a:bodyPr>
          <a:lstStyle/>
          <a:p>
            <a:r>
              <a:rPr lang="en-US" dirty="0">
                <a:solidFill>
                  <a:schemeClr val="tx2"/>
                </a:solidFill>
              </a:rPr>
              <a:t>Q: What if you uses </a:t>
            </a:r>
            <a:r>
              <a:rPr lang="en-US" dirty="0" err="1">
                <a:solidFill>
                  <a:schemeClr val="tx2"/>
                </a:solidFill>
              </a:rPr>
              <a:t>CLAUDE.md</a:t>
            </a:r>
            <a:r>
              <a:rPr lang="en-US" dirty="0">
                <a:solidFill>
                  <a:schemeClr val="tx2"/>
                </a:solidFill>
              </a:rPr>
              <a:t> but your collaborator uses </a:t>
            </a:r>
            <a:r>
              <a:rPr lang="en-US" dirty="0" err="1">
                <a:solidFill>
                  <a:schemeClr val="tx2"/>
                </a:solidFill>
              </a:rPr>
              <a:t>AGENTS.md</a:t>
            </a:r>
            <a:r>
              <a:rPr lang="en-US" dirty="0">
                <a:solidFill>
                  <a:schemeClr val="tx2"/>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A </a:t>
            </a:r>
            <a:r>
              <a:rPr sz="2760" b="1" i="0">
                <a:solidFill>
                  <a:srgbClr val="1B1F24"/>
                </a:solidFill>
                <a:highlight>
                  <a:srgbClr val="EEF1F4"/>
                </a:highlight>
                <a:latin typeface="Menlo"/>
              </a:rPr>
              <a:t>CLAUDE.md</a:t>
            </a:r>
            <a:r>
              <a:rPr sz="3000" b="1" i="0">
                <a:solidFill>
                  <a:srgbClr val="1B1F24"/>
                </a:solidFill>
                <a:latin typeface="Georgia"/>
              </a:rPr>
              <a:t> for our simulator</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11 / 25</a:t>
            </a:r>
          </a:p>
        </p:txBody>
      </p:sp>
      <p:sp>
        <p:nvSpPr>
          <p:cNvPr id="6" name="Rounded Rectangle 5"/>
          <p:cNvSpPr/>
          <p:nvPr/>
        </p:nvSpPr>
        <p:spPr>
          <a:xfrm>
            <a:off x="548640" y="1371600"/>
            <a:ext cx="11094415" cy="4520184"/>
          </a:xfrm>
          <a:prstGeom prst="roundRect">
            <a:avLst>
              <a:gd name="adj" fmla="val 4000"/>
            </a:avLst>
          </a:prstGeom>
          <a:solidFill>
            <a:srgbClr val="272822"/>
          </a:solidFill>
          <a:ln>
            <a:noFill/>
          </a:ln>
          <a:effectLst/>
        </p:spPr>
        <p:style>
          <a:lnRef idx="1">
            <a:schemeClr val="accent1"/>
          </a:lnRef>
          <a:fillRef idx="3">
            <a:schemeClr val="accent1"/>
          </a:fillRef>
          <a:effectRef idx="2">
            <a:schemeClr val="accent1"/>
          </a:effectRef>
          <a:fontRef idx="minor">
            <a:schemeClr val="lt1"/>
          </a:fontRef>
        </p:style>
        <p:txBody>
          <a:bodyPr wrap="none" lIns="182880" tIns="146304" rIns="182880" bIns="146304" rtlCol="0" anchor="t"/>
          <a:lstStyle/>
          <a:p>
            <a:pPr algn="l"/>
            <a:r>
              <a:rPr sz="1250" b="1">
                <a:solidFill>
                  <a:srgbClr val="A6E22E"/>
                </a:solidFill>
                <a:latin typeface="Menlo"/>
              </a:rPr>
              <a:t># Fast state-vector simulator</a:t>
            </a:r>
          </a:p>
          <a:p>
            <a:pPr algn="l"/>
            <a:endParaRPr sz="1250" b="1">
              <a:solidFill>
                <a:srgbClr val="A6E22E"/>
              </a:solidFill>
              <a:latin typeface="Menlo"/>
            </a:endParaRPr>
          </a:p>
          <a:p>
            <a:pPr algn="l"/>
            <a:r>
              <a:rPr sz="1250" b="1">
                <a:solidFill>
                  <a:srgbClr val="A6E22E"/>
                </a:solidFill>
                <a:latin typeface="Menlo"/>
              </a:rPr>
              <a:t>## Commands</a:t>
            </a:r>
          </a:p>
          <a:p>
            <a:pPr algn="l"/>
            <a:r>
              <a:rPr sz="1250" b="0">
                <a:solidFill>
                  <a:srgbClr val="F92672"/>
                </a:solidFill>
                <a:latin typeface="Menlo"/>
              </a:rPr>
              <a:t>-</a:t>
            </a:r>
            <a:r>
              <a:rPr sz="1250" b="0">
                <a:solidFill>
                  <a:srgbClr val="F8F8F2"/>
                </a:solidFill>
                <a:latin typeface="Menlo"/>
              </a:rPr>
              <a:t> Run tests:      uv run pytest -q</a:t>
            </a:r>
          </a:p>
          <a:p>
            <a:pPr algn="l"/>
            <a:r>
              <a:rPr sz="1250" b="0">
                <a:solidFill>
                  <a:srgbClr val="F92672"/>
                </a:solidFill>
                <a:latin typeface="Menlo"/>
              </a:rPr>
              <a:t>-</a:t>
            </a:r>
            <a:r>
              <a:rPr sz="1250" b="0">
                <a:solidFill>
                  <a:srgbClr val="F8F8F2"/>
                </a:solidFill>
                <a:latin typeface="Menlo"/>
              </a:rPr>
              <a:t> Run benchmark:  uv run python bench.py</a:t>
            </a:r>
          </a:p>
          <a:p>
            <a:pPr algn="l"/>
            <a:endParaRPr sz="1250" b="0">
              <a:solidFill>
                <a:srgbClr val="F8F8F2"/>
              </a:solidFill>
              <a:latin typeface="Menlo"/>
            </a:endParaRPr>
          </a:p>
          <a:p>
            <a:pPr algn="l"/>
            <a:r>
              <a:rPr sz="1250" b="1">
                <a:solidFill>
                  <a:srgbClr val="A6E22E"/>
                </a:solidFill>
                <a:latin typeface="Menlo"/>
              </a:rPr>
              <a:t>## Conventions (do not change)</a:t>
            </a:r>
          </a:p>
          <a:p>
            <a:pPr algn="l"/>
            <a:r>
              <a:rPr sz="1250" b="0">
                <a:solidFill>
                  <a:srgbClr val="F92672"/>
                </a:solidFill>
                <a:latin typeface="Menlo"/>
              </a:rPr>
              <a:t>-</a:t>
            </a:r>
            <a:r>
              <a:rPr sz="1250" b="0">
                <a:solidFill>
                  <a:srgbClr val="F8F8F2"/>
                </a:solidFill>
                <a:latin typeface="Menlo"/>
              </a:rPr>
              <a:t> Little-endian (as in NB01): basis state |b_{n-1} ... b_1 b_0&gt; is stored at</a:t>
            </a:r>
          </a:p>
          <a:p>
            <a:pPr algn="l"/>
            <a:r>
              <a:rPr sz="1250" b="0">
                <a:solidFill>
                  <a:srgbClr val="F8F8F2"/>
                </a:solidFill>
                <a:latin typeface="Menlo"/>
              </a:rPr>
              <a:t>  index a = sum_j b_j 2^j.  Qubit j = bit j of a.  Qubit 0 is the LSB, the</a:t>
            </a:r>
          </a:p>
          <a:p>
            <a:pPr algn="l"/>
            <a:r>
              <a:rPr sz="1250" b="0">
                <a:solidFill>
                  <a:srgbClr val="F8F8F2"/>
                </a:solidFill>
                <a:latin typeface="Menlo"/>
              </a:rPr>
              <a:t>  rightmost digit of the ket.</a:t>
            </a:r>
          </a:p>
          <a:p>
            <a:pPr algn="l"/>
            <a:r>
              <a:rPr sz="1250" b="0">
                <a:solidFill>
                  <a:srgbClr val="F92672"/>
                </a:solidFill>
                <a:latin typeface="Menlo"/>
              </a:rPr>
              <a:t>-</a:t>
            </a:r>
            <a:r>
              <a:rPr sz="1250" b="0">
                <a:solidFill>
                  <a:srgbClr val="F8F8F2"/>
                </a:solidFill>
                <a:latin typeface="Menlo"/>
              </a:rPr>
              <a:t> 2-qubit gate on (j, k): 4x4 matrix, subspace index b_j + 2*b_k, i.e.</a:t>
            </a:r>
          </a:p>
          <a:p>
            <a:pPr algn="l"/>
            <a:r>
              <a:rPr sz="1250" b="0">
                <a:solidFill>
                  <a:srgbClr val="F8F8F2"/>
                </a:solidFill>
                <a:latin typeface="Menlo"/>
              </a:rPr>
              <a:t>  rows/cols ordered |b_k b_j&gt; = |00&gt;, |01&gt;, |10&gt;, |11&gt;.</a:t>
            </a:r>
          </a:p>
          <a:p>
            <a:pPr algn="l"/>
            <a:r>
              <a:rPr sz="1250" b="0">
                <a:solidFill>
                  <a:srgbClr val="F92672"/>
                </a:solidFill>
                <a:latin typeface="Menlo"/>
              </a:rPr>
              <a:t>-</a:t>
            </a:r>
            <a:r>
              <a:rPr sz="1250" b="0">
                <a:solidFill>
                  <a:srgbClr val="F8F8F2"/>
                </a:solidFill>
                <a:latin typeface="Menlo"/>
              </a:rPr>
              <a:t> Gate list format: list of (U, [qubits]) tuples; state starts at |0...0&gt;.</a:t>
            </a:r>
          </a:p>
          <a:p>
            <a:pPr algn="l"/>
            <a:endParaRPr sz="1250" b="0">
              <a:solidFill>
                <a:srgbClr val="F8F8F2"/>
              </a:solidFill>
              <a:latin typeface="Menlo"/>
            </a:endParaRPr>
          </a:p>
          <a:p>
            <a:pPr algn="l"/>
            <a:r>
              <a:rPr sz="1250" b="1">
                <a:solidFill>
                  <a:srgbClr val="A6E22E"/>
                </a:solidFill>
                <a:latin typeface="Menlo"/>
              </a:rPr>
              <a:t>## Interfaces that must not change</a:t>
            </a:r>
          </a:p>
          <a:p>
            <a:pPr algn="l"/>
            <a:r>
              <a:rPr sz="1250" b="0">
                <a:solidFill>
                  <a:srgbClr val="F92672"/>
                </a:solidFill>
                <a:latin typeface="Menlo"/>
              </a:rPr>
              <a:t>-</a:t>
            </a:r>
            <a:r>
              <a:rPr sz="1250" b="0">
                <a:solidFill>
                  <a:srgbClr val="F8F8F2"/>
                </a:solidFill>
                <a:latin typeface="Menlo"/>
              </a:rPr>
              <a:t> simulate(gates, n) in simulator_naive.py is the reference. Never edit it.</a:t>
            </a:r>
          </a:p>
          <a:p>
            <a:pPr algn="l"/>
            <a:r>
              <a:rPr sz="1250" b="0">
                <a:solidFill>
                  <a:srgbClr val="F92672"/>
                </a:solidFill>
                <a:latin typeface="Menlo"/>
              </a:rPr>
              <a:t>-</a:t>
            </a:r>
            <a:r>
              <a:rPr sz="1250" b="0">
                <a:solidFill>
                  <a:srgbClr val="F8F8F2"/>
                </a:solidFill>
                <a:latin typeface="Menlo"/>
              </a:rPr>
              <a:t> simulate_fast(gates, n) must accept exactly the same inputs.</a:t>
            </a:r>
          </a:p>
          <a:p>
            <a:pPr algn="l"/>
            <a:endParaRPr sz="1250" b="0">
              <a:solidFill>
                <a:srgbClr val="F8F8F2"/>
              </a:solidFill>
              <a:latin typeface="Menlo"/>
            </a:endParaRPr>
          </a:p>
          <a:p>
            <a:pPr algn="l"/>
            <a:r>
              <a:rPr sz="1250" b="1">
                <a:solidFill>
                  <a:srgbClr val="A6E22E"/>
                </a:solidFill>
                <a:latin typeface="Menlo"/>
              </a:rPr>
              <a:t>## Rules</a:t>
            </a:r>
          </a:p>
          <a:p>
            <a:pPr algn="l"/>
            <a:r>
              <a:rPr sz="1250" b="0">
                <a:solidFill>
                  <a:srgbClr val="F92672"/>
                </a:solidFill>
                <a:latin typeface="Menlo"/>
              </a:rPr>
              <a:t>-</a:t>
            </a:r>
            <a:r>
              <a:rPr sz="1250" b="0">
                <a:solidFill>
                  <a:srgbClr val="F8F8F2"/>
                </a:solidFill>
                <a:latin typeface="Menlo"/>
              </a:rPr>
              <a:t> NumPy only. No np.kron of the full operator; O(2^n) per gate.</a:t>
            </a:r>
          </a:p>
          <a:p>
            <a:pPr algn="l"/>
            <a:r>
              <a:rPr sz="1250" b="0">
                <a:solidFill>
                  <a:srgbClr val="F92672"/>
                </a:solidFill>
                <a:latin typeface="Menlo"/>
              </a:rPr>
              <a:t>-</a:t>
            </a:r>
            <a:r>
              <a:rPr sz="1250" b="0">
                <a:solidFill>
                  <a:srgbClr val="F8F8F2"/>
                </a:solidFill>
                <a:latin typeface="Menlo"/>
              </a:rPr>
              <a:t> Never modify a test to make it pass. Ask me instead.</a:t>
            </a:r>
          </a:p>
          <a:p>
            <a:pPr algn="l"/>
            <a:r>
              <a:rPr sz="1250" b="0">
                <a:solidFill>
                  <a:srgbClr val="F92672"/>
                </a:solidFill>
                <a:latin typeface="Menlo"/>
              </a:rPr>
              <a:t>-</a:t>
            </a:r>
            <a:r>
              <a:rPr sz="1250" b="0">
                <a:solidFill>
                  <a:srgbClr val="F8F8F2"/>
                </a:solidFill>
                <a:latin typeface="Menlo"/>
              </a:rPr>
              <a:t> Every new function gets a test comparing against simulate() on random circuits.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Skills: repeatable procedures on demand</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12 / 25</a:t>
            </a:r>
          </a:p>
        </p:txBody>
      </p:sp>
      <p:sp>
        <p:nvSpPr>
          <p:cNvPr id="6" name="TextBox 5"/>
          <p:cNvSpPr txBox="1"/>
          <p:nvPr/>
        </p:nvSpPr>
        <p:spPr>
          <a:xfrm>
            <a:off x="548640" y="1371600"/>
            <a:ext cx="11094415" cy="1112520"/>
          </a:xfrm>
          <a:prstGeom prst="rect">
            <a:avLst/>
          </a:prstGeom>
          <a:noFill/>
        </p:spPr>
        <p:txBody>
          <a:bodyPr wrap="square" lIns="0" tIns="0" rIns="0" bIns="0">
            <a:spAutoFit/>
          </a:bodyPr>
          <a:lstStyle/>
          <a:p>
            <a:pPr marL="256032" indent="-256032">
              <a:spcAft>
                <a:spcPts val="600"/>
              </a:spcAft>
              <a:buClr>
                <a:srgbClr val="0E5A8A"/>
              </a:buClr>
              <a:buFont typeface="Arial"/>
              <a:buChar char="•"/>
            </a:pPr>
            <a:r>
              <a:rPr sz="1500" b="0" i="0">
                <a:solidFill>
                  <a:srgbClr val="1B1F24"/>
                </a:solidFill>
                <a:latin typeface="Arial"/>
              </a:rPr>
              <a:t>A </a:t>
            </a:r>
            <a:r>
              <a:rPr sz="1500" b="1" i="0">
                <a:solidFill>
                  <a:srgbClr val="1B1F24"/>
                </a:solidFill>
                <a:latin typeface="Arial"/>
              </a:rPr>
              <a:t>skill</a:t>
            </a:r>
            <a:r>
              <a:rPr sz="1500" b="0" i="0">
                <a:solidFill>
                  <a:srgbClr val="1B1F24"/>
                </a:solidFill>
                <a:latin typeface="Arial"/>
              </a:rPr>
              <a:t> is a folder with a </a:t>
            </a:r>
            <a:r>
              <a:rPr sz="1380" b="0" i="0">
                <a:solidFill>
                  <a:srgbClr val="1B1F24"/>
                </a:solidFill>
                <a:highlight>
                  <a:srgbClr val="EEF1F4"/>
                </a:highlight>
                <a:latin typeface="Menlo"/>
              </a:rPr>
              <a:t>SKILL.md</a:t>
            </a:r>
            <a:r>
              <a:rPr sz="1500" b="0" i="0">
                <a:solidFill>
                  <a:srgbClr val="1B1F24"/>
                </a:solidFill>
                <a:latin typeface="Arial"/>
              </a:rPr>
              <a:t> (front matter plus instructions) and any scripts it needs. Project: </a:t>
            </a:r>
            <a:r>
              <a:rPr sz="1380" b="0" i="0">
                <a:solidFill>
                  <a:srgbClr val="1B1F24"/>
                </a:solidFill>
                <a:highlight>
                  <a:srgbClr val="EEF1F4"/>
                </a:highlight>
                <a:latin typeface="Menlo"/>
              </a:rPr>
              <a:t>.claude/skills/&lt;name&gt;/SKILL.md</a:t>
            </a:r>
            <a:r>
              <a:rPr sz="1500" b="0" i="0">
                <a:solidFill>
                  <a:srgbClr val="1B1F24"/>
                </a:solidFill>
                <a:latin typeface="Arial"/>
              </a:rPr>
              <a:t>; personal: </a:t>
            </a:r>
            <a:r>
              <a:rPr sz="1380" b="0" i="0">
                <a:solidFill>
                  <a:srgbClr val="1B1F24"/>
                </a:solidFill>
                <a:highlight>
                  <a:srgbClr val="EEF1F4"/>
                </a:highlight>
                <a:latin typeface="Menlo"/>
              </a:rPr>
              <a:t>~/.claude/skills/&lt;name&gt;/SKILL.md</a:t>
            </a:r>
            <a:r>
              <a:rPr sz="1500" b="0" i="0">
                <a:solidFill>
                  <a:srgbClr val="1B1F24"/>
                </a:solidFill>
                <a:latin typeface="Arial"/>
              </a:rPr>
              <a:t>.</a:t>
            </a:r>
          </a:p>
          <a:p>
            <a:pPr marL="256032" indent="-256032">
              <a:spcAft>
                <a:spcPts val="600"/>
              </a:spcAft>
              <a:buClr>
                <a:srgbClr val="0E5A8A"/>
              </a:buClr>
              <a:buFont typeface="Arial"/>
              <a:buChar char="•"/>
            </a:pPr>
            <a:r>
              <a:rPr sz="1380" b="0" i="0">
                <a:solidFill>
                  <a:srgbClr val="1B1F24"/>
                </a:solidFill>
                <a:highlight>
                  <a:srgbClr val="EEF1F4"/>
                </a:highlight>
                <a:latin typeface="Menlo"/>
              </a:rPr>
              <a:t>CLAUDE.md</a:t>
            </a:r>
            <a:r>
              <a:rPr sz="1500" b="0" i="0">
                <a:solidFill>
                  <a:srgbClr val="1B1F24"/>
                </a:solidFill>
                <a:latin typeface="Arial"/>
              </a:rPr>
              <a:t> is loaded always; a skill is loaded </a:t>
            </a:r>
            <a:r>
              <a:rPr sz="1500" b="1" i="0">
                <a:solidFill>
                  <a:srgbClr val="1B1F24"/>
                </a:solidFill>
                <a:latin typeface="Arial"/>
              </a:rPr>
              <a:t>only when used</a:t>
            </a:r>
            <a:r>
              <a:rPr sz="1500" b="0" i="0">
                <a:solidFill>
                  <a:srgbClr val="1B1F24"/>
                </a:solidFill>
                <a:latin typeface="Arial"/>
              </a:rPr>
              <a:t>, so it can be long. Invoke with </a:t>
            </a:r>
            <a:r>
              <a:rPr sz="1380" b="0" i="0">
                <a:solidFill>
                  <a:srgbClr val="1B1F24"/>
                </a:solidFill>
                <a:highlight>
                  <a:srgbClr val="EEF1F4"/>
                </a:highlight>
                <a:latin typeface="Menlo"/>
              </a:rPr>
              <a:t>/verify-sim</a:t>
            </a:r>
            <a:r>
              <a:rPr sz="1500" b="0" i="0">
                <a:solidFill>
                  <a:srgbClr val="1B1F24"/>
                </a:solidFill>
                <a:latin typeface="Arial"/>
              </a:rPr>
              <a:t>, or the agent picks it when your request matches its </a:t>
            </a:r>
            <a:r>
              <a:rPr sz="1380" b="0" i="0">
                <a:solidFill>
                  <a:srgbClr val="1B1F24"/>
                </a:solidFill>
                <a:highlight>
                  <a:srgbClr val="EEF1F4"/>
                </a:highlight>
                <a:latin typeface="Menlo"/>
              </a:rPr>
              <a:t>description</a:t>
            </a:r>
            <a:r>
              <a:rPr sz="1500" b="0" i="0">
                <a:solidFill>
                  <a:srgbClr val="1B1F24"/>
                </a:solidFill>
                <a:latin typeface="Arial"/>
              </a:rPr>
              <a:t>.</a:t>
            </a:r>
          </a:p>
        </p:txBody>
      </p:sp>
      <p:sp>
        <p:nvSpPr>
          <p:cNvPr id="7" name="Rounded Rectangle 6"/>
          <p:cNvSpPr/>
          <p:nvPr/>
        </p:nvSpPr>
        <p:spPr>
          <a:xfrm>
            <a:off x="548640" y="2621280"/>
            <a:ext cx="11094415" cy="2706623"/>
          </a:xfrm>
          <a:prstGeom prst="roundRect">
            <a:avLst>
              <a:gd name="adj" fmla="val 4000"/>
            </a:avLst>
          </a:prstGeom>
          <a:solidFill>
            <a:srgbClr val="272822"/>
          </a:solidFill>
          <a:ln>
            <a:noFill/>
          </a:ln>
          <a:effectLst/>
        </p:spPr>
        <p:style>
          <a:lnRef idx="1">
            <a:schemeClr val="accent1"/>
          </a:lnRef>
          <a:fillRef idx="3">
            <a:schemeClr val="accent1"/>
          </a:fillRef>
          <a:effectRef idx="2">
            <a:schemeClr val="accent1"/>
          </a:effectRef>
          <a:fontRef idx="minor">
            <a:schemeClr val="lt1"/>
          </a:fontRef>
        </p:style>
        <p:txBody>
          <a:bodyPr wrap="none" lIns="182880" tIns="146304" rIns="182880" bIns="146304" rtlCol="0" anchor="t"/>
          <a:lstStyle/>
          <a:p>
            <a:pPr algn="l"/>
            <a:r>
              <a:rPr sz="1200" b="0">
                <a:solidFill>
                  <a:srgbClr val="F8F8F2"/>
                </a:solidFill>
                <a:latin typeface="Menlo"/>
              </a:rPr>
              <a:t>---</a:t>
            </a:r>
          </a:p>
          <a:p>
            <a:pPr algn="l"/>
            <a:r>
              <a:rPr sz="1200" b="0">
                <a:solidFill>
                  <a:srgbClr val="F8F8F2"/>
                </a:solidFill>
                <a:latin typeface="Menlo"/>
              </a:rPr>
              <a:t>name: verify-sim</a:t>
            </a:r>
          </a:p>
          <a:p>
            <a:pPr algn="l"/>
            <a:r>
              <a:rPr sz="1200" b="0">
                <a:solidFill>
                  <a:srgbClr val="F8F8F2"/>
                </a:solidFill>
                <a:latin typeface="Menlo"/>
              </a:rPr>
              <a:t>description: Verify simulate_fast against the reference simulate() on random circuits,</a:t>
            </a:r>
          </a:p>
          <a:p>
            <a:pPr algn="l"/>
            <a:r>
              <a:rPr sz="1200" b="0">
                <a:solidFill>
                  <a:srgbClr val="F8F8F2"/>
                </a:solidFill>
                <a:latin typeface="Menlo"/>
              </a:rPr>
              <a:t>  check norm and unitarity, and run the scaling test. Use after any change to the simulator.</a:t>
            </a:r>
          </a:p>
          <a:p>
            <a:pPr algn="l"/>
            <a:r>
              <a:rPr sz="1200" b="1">
                <a:solidFill>
                  <a:srgbClr val="A6E22E"/>
                </a:solidFill>
                <a:latin typeface="Menlo"/>
              </a:rPr>
              <a:t>allowed-tools: Bash(uv run *)</a:t>
            </a:r>
          </a:p>
          <a:p>
            <a:pPr algn="l"/>
            <a:r>
              <a:rPr sz="1200" b="1">
                <a:solidFill>
                  <a:srgbClr val="A6E22E"/>
                </a:solidFill>
                <a:latin typeface="Menlo"/>
              </a:rPr>
              <a:t>---</a:t>
            </a:r>
          </a:p>
          <a:p>
            <a:pPr algn="l"/>
            <a:endParaRPr sz="1200" b="1">
              <a:solidFill>
                <a:srgbClr val="A6E22E"/>
              </a:solidFill>
              <a:latin typeface="Menlo"/>
            </a:endParaRPr>
          </a:p>
          <a:p>
            <a:pPr algn="l"/>
            <a:r>
              <a:rPr sz="1200" b="0">
                <a:solidFill>
                  <a:srgbClr val="F92672"/>
                </a:solidFill>
                <a:latin typeface="Menlo"/>
              </a:rPr>
              <a:t>1.</a:t>
            </a:r>
            <a:r>
              <a:rPr sz="1200" b="0">
                <a:solidFill>
                  <a:srgbClr val="F8F8F2"/>
                </a:solidFill>
                <a:latin typeface="Menlo"/>
              </a:rPr>
              <a:t> Run </a:t>
            </a:r>
            <a:r>
              <a:rPr sz="1200" b="0">
                <a:solidFill>
                  <a:srgbClr val="E6DB74"/>
                </a:solidFill>
                <a:latin typeface="Menlo"/>
              </a:rPr>
              <a:t>`uv run pytest tests/test_simulator.py -q`</a:t>
            </a:r>
            <a:r>
              <a:rPr sz="1200" b="0">
                <a:solidFill>
                  <a:srgbClr val="F8F8F2"/>
                </a:solidFill>
                <a:latin typeface="Menlo"/>
              </a:rPr>
              <a:t>. If anything fails, stop and report; do not edit tests.</a:t>
            </a:r>
          </a:p>
          <a:p>
            <a:pPr algn="l"/>
            <a:r>
              <a:rPr sz="1200" b="0">
                <a:solidFill>
                  <a:srgbClr val="F92672"/>
                </a:solidFill>
                <a:latin typeface="Menlo"/>
              </a:rPr>
              <a:t>2.</a:t>
            </a:r>
            <a:r>
              <a:rPr sz="1200" b="0">
                <a:solidFill>
                  <a:srgbClr val="F8F8F2"/>
                </a:solidFill>
                <a:latin typeface="Menlo"/>
              </a:rPr>
              <a:t> Run </a:t>
            </a:r>
            <a:r>
              <a:rPr sz="1200" b="0">
                <a:solidFill>
                  <a:srgbClr val="E6DB74"/>
                </a:solidFill>
                <a:latin typeface="Menlo"/>
              </a:rPr>
              <a:t>`uv run python scripts/random_circuit_check.py --n 3 4 5 6 --seeds 5`</a:t>
            </a:r>
          </a:p>
          <a:p>
            <a:pPr algn="l"/>
            <a:r>
              <a:rPr sz="1200" b="0">
                <a:solidFill>
                  <a:srgbClr val="F8F8F2"/>
                </a:solidFill>
                <a:latin typeface="Menlo"/>
              </a:rPr>
              <a:t>   (compares fast vs reference with np.allclose, atol=1e-10).</a:t>
            </a:r>
          </a:p>
          <a:p>
            <a:pPr algn="l"/>
            <a:r>
              <a:rPr sz="1200" b="0">
                <a:solidFill>
                  <a:srgbClr val="F92672"/>
                </a:solidFill>
                <a:latin typeface="Menlo"/>
              </a:rPr>
              <a:t>3.</a:t>
            </a:r>
            <a:r>
              <a:rPr sz="1200" b="0">
                <a:solidFill>
                  <a:srgbClr val="F8F8F2"/>
                </a:solidFill>
                <a:latin typeface="Menlo"/>
              </a:rPr>
              <a:t> Run </a:t>
            </a:r>
            <a:r>
              <a:rPr sz="1200" b="0">
                <a:solidFill>
                  <a:srgbClr val="E6DB74"/>
                </a:solidFill>
                <a:latin typeface="Menlo"/>
              </a:rPr>
              <a:t>`uv run python scripts/scaling.py --n 12 14 16 18`</a:t>
            </a:r>
            <a:r>
              <a:rPr sz="1200" b="0">
                <a:solidFill>
                  <a:srgbClr val="F8F8F2"/>
                </a:solidFill>
                <a:latin typeface="Menlo"/>
              </a:rPr>
              <a:t>. Time per gate must roughly</a:t>
            </a:r>
          </a:p>
          <a:p>
            <a:pPr algn="l"/>
            <a:r>
              <a:rPr sz="1200" b="0">
                <a:solidFill>
                  <a:srgbClr val="F8F8F2"/>
                </a:solidFill>
                <a:latin typeface="Menlo"/>
              </a:rPr>
              <a:t>   double per added qubit. If it quadruples, the implementation is O(4^n): report it as a bug.</a:t>
            </a:r>
          </a:p>
          <a:p>
            <a:pPr algn="l"/>
            <a:r>
              <a:rPr sz="1200" b="0">
                <a:solidFill>
                  <a:srgbClr val="F92672"/>
                </a:solidFill>
                <a:latin typeface="Menlo"/>
              </a:rPr>
              <a:t>4.</a:t>
            </a:r>
            <a:r>
              <a:rPr sz="1200" b="0">
                <a:solidFill>
                  <a:srgbClr val="F8F8F2"/>
                </a:solidFill>
                <a:latin typeface="Menlo"/>
              </a:rPr>
              <a:t> Summarise: pass/fail per check, and the measured scaling exponent.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The workflow: explore, plan, code, commit</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13 / 25</a:t>
            </a:r>
          </a:p>
        </p:txBody>
      </p:sp>
      <p:sp>
        <p:nvSpPr>
          <p:cNvPr id="6" name="TextBox 5"/>
          <p:cNvSpPr txBox="1"/>
          <p:nvPr/>
        </p:nvSpPr>
        <p:spPr>
          <a:xfrm>
            <a:off x="548640" y="1371600"/>
            <a:ext cx="11094415" cy="1747519"/>
          </a:xfrm>
          <a:prstGeom prst="rect">
            <a:avLst/>
          </a:prstGeom>
          <a:noFill/>
        </p:spPr>
        <p:txBody>
          <a:bodyPr wrap="square" lIns="0" tIns="0" rIns="0" bIns="0">
            <a:spAutoFit/>
          </a:bodyPr>
          <a:lstStyle/>
          <a:p>
            <a:pPr marL="256032" indent="-256032">
              <a:spcAft>
                <a:spcPts val="800"/>
              </a:spcAft>
              <a:buClr>
                <a:srgbClr val="0E5A8A"/>
              </a:buClr>
              <a:buFont typeface="Arial"/>
              <a:buAutoNum type="arabicPeriod"/>
            </a:pPr>
            <a:r>
              <a:rPr sz="1700" b="1" i="0">
                <a:solidFill>
                  <a:srgbClr val="1B1F24"/>
                </a:solidFill>
                <a:latin typeface="Arial"/>
              </a:rPr>
              <a:t>Explore.</a:t>
            </a:r>
            <a:r>
              <a:rPr sz="1700" b="0" i="0">
                <a:solidFill>
                  <a:srgbClr val="1B1F24"/>
                </a:solidFill>
                <a:latin typeface="Arial"/>
              </a:rPr>
              <a:t> Ask the agent to read the relevant files and summarise. No code yet.</a:t>
            </a:r>
          </a:p>
          <a:p>
            <a:pPr marL="256032" indent="-256032">
              <a:spcAft>
                <a:spcPts val="800"/>
              </a:spcAft>
              <a:buClr>
                <a:srgbClr val="0E5A8A"/>
              </a:buClr>
              <a:buFont typeface="Arial"/>
              <a:buAutoNum type="arabicPeriod"/>
            </a:pPr>
            <a:r>
              <a:rPr sz="1700" b="1" i="0">
                <a:solidFill>
                  <a:srgbClr val="1B1F24"/>
                </a:solidFill>
                <a:latin typeface="Arial"/>
              </a:rPr>
              <a:t>Plan.</a:t>
            </a:r>
            <a:r>
              <a:rPr sz="1700" b="0" i="0">
                <a:solidFill>
                  <a:srgbClr val="1B1F24"/>
                </a:solidFill>
                <a:latin typeface="Arial"/>
              </a:rPr>
              <a:t> Switch to </a:t>
            </a:r>
            <a:r>
              <a:rPr sz="1700" b="1" i="0">
                <a:solidFill>
                  <a:srgbClr val="1B1F24"/>
                </a:solidFill>
                <a:latin typeface="Arial"/>
              </a:rPr>
              <a:t>plan mode</a:t>
            </a:r>
            <a:r>
              <a:rPr sz="1700" b="0" i="0">
                <a:solidFill>
                  <a:srgbClr val="1B1F24"/>
                </a:solidFill>
                <a:latin typeface="Arial"/>
              </a:rPr>
              <a:t> (</a:t>
            </a:r>
            <a:r>
              <a:rPr sz="1564" b="0" i="0">
                <a:solidFill>
                  <a:srgbClr val="1B1F24"/>
                </a:solidFill>
                <a:highlight>
                  <a:srgbClr val="EEF1F4"/>
                </a:highlight>
                <a:latin typeface="Menlo"/>
              </a:rPr>
              <a:t>Shift+Tab</a:t>
            </a:r>
            <a:r>
              <a:rPr sz="1700" b="0" i="0">
                <a:solidFill>
                  <a:srgbClr val="1B1F24"/>
                </a:solidFill>
                <a:latin typeface="Arial"/>
              </a:rPr>
              <a:t> cycles modes; or </a:t>
            </a:r>
            <a:r>
              <a:rPr sz="1564" b="0" i="0">
                <a:solidFill>
                  <a:srgbClr val="1B1F24"/>
                </a:solidFill>
                <a:highlight>
                  <a:srgbClr val="EEF1F4"/>
                </a:highlight>
                <a:latin typeface="Menlo"/>
              </a:rPr>
              <a:t>claude --permission-mode plan</a:t>
            </a:r>
            <a:r>
              <a:rPr sz="1700" b="0" i="0">
                <a:solidFill>
                  <a:srgbClr val="1B1F24"/>
                </a:solidFill>
                <a:latin typeface="Arial"/>
              </a:rPr>
              <a:t>). Edits and commands are disabled, so it is safe to think out loud. Ask for a plan with interfaces and tests. Read it. Correct it.</a:t>
            </a:r>
          </a:p>
          <a:p>
            <a:pPr marL="256032" indent="-256032">
              <a:spcAft>
                <a:spcPts val="800"/>
              </a:spcAft>
              <a:buClr>
                <a:srgbClr val="0E5A8A"/>
              </a:buClr>
              <a:buFont typeface="Arial"/>
              <a:buAutoNum type="arabicPeriod"/>
            </a:pPr>
            <a:r>
              <a:rPr sz="1700" b="1" i="0">
                <a:solidFill>
                  <a:srgbClr val="1B1F24"/>
                </a:solidFill>
                <a:latin typeface="Arial"/>
              </a:rPr>
              <a:t>Code.</a:t>
            </a:r>
            <a:r>
              <a:rPr sz="1700" b="0" i="0">
                <a:solidFill>
                  <a:srgbClr val="1B1F24"/>
                </a:solidFill>
                <a:latin typeface="Arial"/>
              </a:rPr>
              <a:t> Implement </a:t>
            </a:r>
            <a:r>
              <a:rPr sz="1700" b="1" i="0">
                <a:solidFill>
                  <a:srgbClr val="1B1F24"/>
                </a:solidFill>
                <a:latin typeface="Arial"/>
              </a:rPr>
              <a:t>one component</a:t>
            </a:r>
            <a:r>
              <a:rPr sz="1700" b="0" i="0">
                <a:solidFill>
                  <a:srgbClr val="1B1F24"/>
                </a:solidFill>
                <a:latin typeface="Arial"/>
              </a:rPr>
              <a:t>, run its test, review the diff.</a:t>
            </a:r>
          </a:p>
          <a:p>
            <a:pPr marL="256032" indent="-256032">
              <a:spcAft>
                <a:spcPts val="800"/>
              </a:spcAft>
              <a:buClr>
                <a:srgbClr val="0E5A8A"/>
              </a:buClr>
              <a:buFont typeface="Arial"/>
              <a:buAutoNum type="arabicPeriod"/>
            </a:pPr>
            <a:r>
              <a:rPr sz="1700" b="1" i="0">
                <a:solidFill>
                  <a:srgbClr val="1B1F24"/>
                </a:solidFill>
                <a:latin typeface="Arial"/>
              </a:rPr>
              <a:t>Commit.</a:t>
            </a:r>
            <a:r>
              <a:rPr sz="1700" b="0" i="0">
                <a:solidFill>
                  <a:srgbClr val="1B1F24"/>
                </a:solidFill>
                <a:latin typeface="Arial"/>
              </a:rPr>
              <a:t> Small, verified commits. Then the next component.</a:t>
            </a:r>
          </a:p>
        </p:txBody>
      </p:sp>
      <p:sp>
        <p:nvSpPr>
          <p:cNvPr id="7" name="TextBox 6"/>
          <p:cNvSpPr txBox="1"/>
          <p:nvPr/>
        </p:nvSpPr>
        <p:spPr>
          <a:xfrm>
            <a:off x="548640" y="3347719"/>
            <a:ext cx="11094415" cy="1285240"/>
          </a:xfrm>
          <a:prstGeom prst="rect">
            <a:avLst/>
          </a:prstGeom>
          <a:noFill/>
        </p:spPr>
        <p:txBody>
          <a:bodyPr wrap="square" lIns="0" tIns="0" rIns="0" bIns="0">
            <a:spAutoFit/>
          </a:bodyPr>
          <a:lstStyle/>
          <a:p>
            <a:pPr marL="256032" indent="-256032">
              <a:spcAft>
                <a:spcPts val="800"/>
              </a:spcAft>
              <a:buClr>
                <a:srgbClr val="0E5A8A"/>
              </a:buClr>
              <a:buFont typeface="Arial"/>
              <a:buChar char="•"/>
            </a:pPr>
            <a:r>
              <a:rPr sz="1700" b="0" i="0">
                <a:solidFill>
                  <a:srgbClr val="1B1F24"/>
                </a:solidFill>
                <a:latin typeface="Arial"/>
              </a:rPr>
              <a:t>Give the agent a </a:t>
            </a:r>
            <a:r>
              <a:rPr sz="1700" b="1" i="0">
                <a:solidFill>
                  <a:srgbClr val="1B1F24"/>
                </a:solidFill>
                <a:latin typeface="Arial"/>
              </a:rPr>
              <a:t>verifiable target</a:t>
            </a:r>
            <a:r>
              <a:rPr sz="1700" b="0" i="0">
                <a:solidFill>
                  <a:srgbClr val="1B1F24"/>
                </a:solidFill>
                <a:latin typeface="Arial"/>
              </a:rPr>
              <a:t>; it is dramatically better when it can check its own work. In order of strength: a reference implementation you wrote, invariants (norm, unitarity, Hermiticity, conserved quantities), analytic limits (</a:t>
            </a:r>
            <a:r>
              <a:rPr sz="1564" b="0" i="0">
                <a:solidFill>
                  <a:srgbClr val="1B1F24"/>
                </a:solidFill>
                <a:highlight>
                  <a:srgbClr val="EEF1F4"/>
                </a:highlight>
                <a:latin typeface="Menlo"/>
              </a:rPr>
              <a:t>h = 0</a:t>
            </a:r>
            <a:r>
              <a:rPr sz="1700" b="0" i="0">
                <a:solidFill>
                  <a:srgbClr val="1B1F24"/>
                </a:solidFill>
                <a:latin typeface="Arial"/>
              </a:rPr>
              <a:t>, </a:t>
            </a:r>
            <a:r>
              <a:rPr sz="1564" b="0" i="0">
                <a:solidFill>
                  <a:srgbClr val="1B1F24"/>
                </a:solidFill>
                <a:highlight>
                  <a:srgbClr val="EEF1F4"/>
                </a:highlight>
                <a:latin typeface="Menlo"/>
              </a:rPr>
              <a:t>t = 0</a:t>
            </a:r>
            <a:r>
              <a:rPr sz="1700" b="0" i="0">
                <a:solidFill>
                  <a:srgbClr val="1B1F24"/>
                </a:solidFill>
                <a:latin typeface="Arial"/>
              </a:rPr>
              <a:t>, two qubits by hand), random differential tests, a known figure.</a:t>
            </a:r>
          </a:p>
          <a:p>
            <a:pPr marL="256032" indent="-256032">
              <a:spcAft>
                <a:spcPts val="800"/>
              </a:spcAft>
              <a:buClr>
                <a:srgbClr val="0E5A8A"/>
              </a:buClr>
              <a:buFont typeface="Arial"/>
              <a:buChar char="•"/>
            </a:pPr>
            <a:r>
              <a:rPr sz="1700" b="0" i="0">
                <a:solidFill>
                  <a:srgbClr val="1B1F24"/>
                </a:solidFill>
                <a:latin typeface="Arial"/>
              </a:rPr>
              <a:t>Test-first with AI: it writes the tests, </a:t>
            </a:r>
            <a:r>
              <a:rPr sz="1700" b="1" i="0">
                <a:solidFill>
                  <a:srgbClr val="1B1F24"/>
                </a:solidFill>
                <a:latin typeface="Arial"/>
              </a:rPr>
              <a:t>you</a:t>
            </a:r>
            <a:r>
              <a:rPr sz="1700" b="0" i="0">
                <a:solidFill>
                  <a:srgbClr val="1B1F24"/>
                </a:solidFill>
                <a:latin typeface="Arial"/>
              </a:rPr>
              <a:t> review them (“would this fail if the ordering were transposed?”), then it implements.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1 · Using Claude Code</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Practical tips</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14 / 25</a:t>
            </a:r>
          </a:p>
        </p:txBody>
      </p:sp>
      <p:sp>
        <p:nvSpPr>
          <p:cNvPr id="6" name="TextBox 5"/>
          <p:cNvSpPr txBox="1"/>
          <p:nvPr/>
        </p:nvSpPr>
        <p:spPr>
          <a:xfrm>
            <a:off x="548640" y="1371600"/>
            <a:ext cx="11094415" cy="4270400"/>
          </a:xfrm>
          <a:prstGeom prst="rect">
            <a:avLst/>
          </a:prstGeom>
          <a:noFill/>
        </p:spPr>
        <p:txBody>
          <a:bodyPr wrap="square" lIns="0" tIns="0" rIns="0" bIns="0">
            <a:spAutoFit/>
          </a:bodyPr>
          <a:lstStyle/>
          <a:p>
            <a:pPr marL="256032" indent="-256032">
              <a:spcAft>
                <a:spcPts val="900"/>
              </a:spcAft>
              <a:buClr>
                <a:srgbClr val="0E5A8A"/>
              </a:buClr>
              <a:buFont typeface="Arial"/>
              <a:buChar char="•"/>
            </a:pPr>
            <a:r>
              <a:rPr sz="1600" b="1" i="0" dirty="0">
                <a:solidFill>
                  <a:srgbClr val="1B1F24"/>
                </a:solidFill>
                <a:latin typeface="Arial"/>
              </a:rPr>
              <a:t>Prompts:</a:t>
            </a:r>
            <a:r>
              <a:rPr sz="1600" b="0" i="0" dirty="0">
                <a:solidFill>
                  <a:srgbClr val="1B1F24"/>
                </a:solidFill>
                <a:latin typeface="Arial"/>
              </a:rPr>
              <a:t> name files with </a:t>
            </a:r>
            <a:r>
              <a:rPr sz="1472" b="0" i="0" dirty="0">
                <a:solidFill>
                  <a:srgbClr val="1B1F24"/>
                </a:solidFill>
                <a:highlight>
                  <a:srgbClr val="EEF1F4"/>
                </a:highlight>
                <a:latin typeface="Menlo"/>
              </a:rPr>
              <a:t>@</a:t>
            </a:r>
            <a:r>
              <a:rPr sz="1472" b="0" i="0" dirty="0" err="1">
                <a:solidFill>
                  <a:srgbClr val="1B1F24"/>
                </a:solidFill>
                <a:highlight>
                  <a:srgbClr val="EEF1F4"/>
                </a:highlight>
                <a:latin typeface="Menlo"/>
              </a:rPr>
              <a:t>simulator_naive.py</a:t>
            </a:r>
            <a:r>
              <a:rPr sz="1600" b="0" i="0" dirty="0">
                <a:solidFill>
                  <a:srgbClr val="1B1F24"/>
                </a:solidFill>
                <a:latin typeface="Arial"/>
              </a:rPr>
              <a:t>; state conventions and interfaces; say what </a:t>
            </a:r>
            <a:r>
              <a:rPr sz="1600" b="0" i="1" dirty="0">
                <a:solidFill>
                  <a:srgbClr val="1B1F24"/>
                </a:solidFill>
                <a:latin typeface="Arial"/>
              </a:rPr>
              <a:t>not</a:t>
            </a:r>
            <a:r>
              <a:rPr sz="1600" b="0" i="0" dirty="0">
                <a:solidFill>
                  <a:srgbClr val="1B1F24"/>
                </a:solidFill>
                <a:latin typeface="Arial"/>
              </a:rPr>
              <a:t> to do (“no </a:t>
            </a:r>
            <a:r>
              <a:rPr sz="1472" b="0" i="0" dirty="0" err="1">
                <a:solidFill>
                  <a:srgbClr val="1B1F24"/>
                </a:solidFill>
                <a:highlight>
                  <a:srgbClr val="EEF1F4"/>
                </a:highlight>
                <a:latin typeface="Menlo"/>
              </a:rPr>
              <a:t>np.kron</a:t>
            </a:r>
            <a:r>
              <a:rPr sz="1600" b="0" i="0" dirty="0">
                <a:solidFill>
                  <a:srgbClr val="1B1F24"/>
                </a:solidFill>
                <a:latin typeface="Arial"/>
              </a:rPr>
              <a:t>, do not edit </a:t>
            </a:r>
            <a:r>
              <a:rPr sz="1472" b="0" i="0" dirty="0">
                <a:solidFill>
                  <a:srgbClr val="1B1F24"/>
                </a:solidFill>
                <a:highlight>
                  <a:srgbClr val="EEF1F4"/>
                </a:highlight>
                <a:latin typeface="Menlo"/>
              </a:rPr>
              <a:t>simulate()</a:t>
            </a:r>
            <a:r>
              <a:rPr sz="1600" b="0" i="0" dirty="0">
                <a:solidFill>
                  <a:srgbClr val="1B1F24"/>
                </a:solidFill>
                <a:latin typeface="Arial"/>
              </a:rPr>
              <a:t>”); ask for the reasoning before the code; ask it to attack its own code (“what inputs would break this?”).</a:t>
            </a:r>
          </a:p>
          <a:p>
            <a:pPr marL="256032" indent="-256032">
              <a:spcAft>
                <a:spcPts val="900"/>
              </a:spcAft>
              <a:buClr>
                <a:srgbClr val="0E5A8A"/>
              </a:buClr>
              <a:buFont typeface="Arial"/>
              <a:buChar char="•"/>
            </a:pPr>
            <a:r>
              <a:rPr sz="1600" b="1" i="0" dirty="0" err="1">
                <a:solidFill>
                  <a:srgbClr val="1B1F24"/>
                </a:solidFill>
                <a:latin typeface="Arial"/>
              </a:rPr>
              <a:t>Modularise</a:t>
            </a:r>
            <a:r>
              <a:rPr sz="1600" b="1" i="0" dirty="0">
                <a:solidFill>
                  <a:srgbClr val="1B1F24"/>
                </a:solidFill>
                <a:latin typeface="Arial"/>
              </a:rPr>
              <a:t>:</a:t>
            </a:r>
            <a:r>
              <a:rPr sz="1600" b="0" i="0" dirty="0">
                <a:solidFill>
                  <a:srgbClr val="1B1F24"/>
                </a:solidFill>
                <a:latin typeface="Arial"/>
              </a:rPr>
              <a:t> ask for small functions with fixed interfaces (</a:t>
            </a:r>
            <a:r>
              <a:rPr sz="1472" b="0" i="0" dirty="0">
                <a:solidFill>
                  <a:srgbClr val="1B1F24"/>
                </a:solidFill>
                <a:highlight>
                  <a:srgbClr val="EEF1F4"/>
                </a:highlight>
                <a:latin typeface="Menlo"/>
              </a:rPr>
              <a:t>apply_gate_1q</a:t>
            </a:r>
            <a:r>
              <a:rPr sz="1600" b="0" i="0" dirty="0">
                <a:solidFill>
                  <a:srgbClr val="1B1F24"/>
                </a:solidFill>
                <a:latin typeface="Arial"/>
              </a:rPr>
              <a:t>, </a:t>
            </a:r>
            <a:r>
              <a:rPr sz="1472" b="0" i="0" dirty="0">
                <a:solidFill>
                  <a:srgbClr val="1B1F24"/>
                </a:solidFill>
                <a:highlight>
                  <a:srgbClr val="EEF1F4"/>
                </a:highlight>
                <a:latin typeface="Menlo"/>
              </a:rPr>
              <a:t>apply_gate_2q</a:t>
            </a:r>
            <a:r>
              <a:rPr sz="1600" b="0" i="0" dirty="0">
                <a:solidFill>
                  <a:srgbClr val="1B1F24"/>
                </a:solidFill>
                <a:latin typeface="Arial"/>
              </a:rPr>
              <a:t>, </a:t>
            </a:r>
            <a:r>
              <a:rPr sz="1472" b="0" i="0" dirty="0">
                <a:solidFill>
                  <a:srgbClr val="1B1F24"/>
                </a:solidFill>
                <a:highlight>
                  <a:srgbClr val="EEF1F4"/>
                </a:highlight>
                <a:latin typeface="Menlo"/>
              </a:rPr>
              <a:t>simulate</a:t>
            </a:r>
            <a:r>
              <a:rPr sz="1600" b="0" i="0" dirty="0">
                <a:solidFill>
                  <a:srgbClr val="1B1F24"/>
                </a:solidFill>
                <a:latin typeface="Arial"/>
              </a:rPr>
              <a:t>) in </a:t>
            </a:r>
            <a:r>
              <a:rPr sz="1472" b="0" i="0" dirty="0">
                <a:solidFill>
                  <a:srgbClr val="1B1F24"/>
                </a:solidFill>
                <a:highlight>
                  <a:srgbClr val="EEF1F4"/>
                </a:highlight>
                <a:latin typeface="Menlo"/>
              </a:rPr>
              <a:t>.</a:t>
            </a:r>
            <a:r>
              <a:rPr sz="1472" b="0" i="0" dirty="0" err="1">
                <a:solidFill>
                  <a:srgbClr val="1B1F24"/>
                </a:solidFill>
                <a:highlight>
                  <a:srgbClr val="EEF1F4"/>
                </a:highlight>
                <a:latin typeface="Menlo"/>
              </a:rPr>
              <a:t>py</a:t>
            </a:r>
            <a:r>
              <a:rPr sz="1600" b="0" i="0" dirty="0">
                <a:solidFill>
                  <a:srgbClr val="1B1F24"/>
                </a:solidFill>
                <a:latin typeface="Arial"/>
              </a:rPr>
              <a:t> files, not one long notebook cell. Each piece gets its own test against the oracle, a bug is caught where it lives, the agent reads only the file it is changing, and you can swap </a:t>
            </a:r>
            <a:r>
              <a:rPr sz="1472" b="0" i="0" dirty="0">
                <a:solidFill>
                  <a:srgbClr val="1B1F24"/>
                </a:solidFill>
                <a:highlight>
                  <a:srgbClr val="EEF1F4"/>
                </a:highlight>
                <a:latin typeface="Menlo"/>
              </a:rPr>
              <a:t>simulate</a:t>
            </a:r>
            <a:r>
              <a:rPr sz="1600" b="0" i="0" dirty="0">
                <a:solidFill>
                  <a:srgbClr val="1B1F24"/>
                </a:solidFill>
                <a:latin typeface="Arial"/>
              </a:rPr>
              <a:t> for </a:t>
            </a:r>
            <a:r>
              <a:rPr sz="1472" b="0" i="0" dirty="0" err="1">
                <a:solidFill>
                  <a:srgbClr val="1B1F24"/>
                </a:solidFill>
                <a:highlight>
                  <a:srgbClr val="EEF1F4"/>
                </a:highlight>
                <a:latin typeface="Menlo"/>
              </a:rPr>
              <a:t>simulate_fast</a:t>
            </a:r>
            <a:r>
              <a:rPr sz="1600" b="0" i="0" dirty="0">
                <a:solidFill>
                  <a:srgbClr val="1B1F24"/>
                </a:solidFill>
                <a:latin typeface="Arial"/>
              </a:rPr>
              <a:t> without touching the callers.</a:t>
            </a:r>
          </a:p>
          <a:p>
            <a:pPr marL="256032" indent="-256032">
              <a:spcAft>
                <a:spcPts val="900"/>
              </a:spcAft>
              <a:buClr>
                <a:srgbClr val="0E5A8A"/>
              </a:buClr>
              <a:buFont typeface="Arial"/>
              <a:buChar char="•"/>
            </a:pPr>
            <a:r>
              <a:rPr sz="1600" b="1" i="0" dirty="0">
                <a:solidFill>
                  <a:srgbClr val="1B1F24"/>
                </a:solidFill>
                <a:latin typeface="Arial"/>
              </a:rPr>
              <a:t>Course-correct early:</a:t>
            </a:r>
            <a:r>
              <a:rPr sz="1600" b="0" i="0" dirty="0">
                <a:solidFill>
                  <a:srgbClr val="1B1F24"/>
                </a:solidFill>
                <a:latin typeface="Arial"/>
              </a:rPr>
              <a:t> </a:t>
            </a:r>
            <a:r>
              <a:rPr sz="1472" b="0" i="0" dirty="0">
                <a:solidFill>
                  <a:srgbClr val="1B1F24"/>
                </a:solidFill>
                <a:highlight>
                  <a:srgbClr val="EEF1F4"/>
                </a:highlight>
                <a:latin typeface="Menlo"/>
              </a:rPr>
              <a:t>Esc</a:t>
            </a:r>
            <a:r>
              <a:rPr sz="1600" b="0" i="0" dirty="0">
                <a:solidFill>
                  <a:srgbClr val="1B1F24"/>
                </a:solidFill>
                <a:latin typeface="Arial"/>
              </a:rPr>
              <a:t> interrupts; </a:t>
            </a:r>
            <a:r>
              <a:rPr sz="1472" b="0" i="0" dirty="0">
                <a:solidFill>
                  <a:srgbClr val="1B1F24"/>
                </a:solidFill>
                <a:highlight>
                  <a:srgbClr val="EEF1F4"/>
                </a:highlight>
                <a:latin typeface="Menlo"/>
              </a:rPr>
              <a:t>/rewind</a:t>
            </a:r>
            <a:r>
              <a:rPr sz="1600" b="0" i="0" dirty="0">
                <a:solidFill>
                  <a:srgbClr val="1B1F24"/>
                </a:solidFill>
                <a:latin typeface="Arial"/>
              </a:rPr>
              <a:t> restores earlier file states; after two failed corrections, </a:t>
            </a:r>
            <a:r>
              <a:rPr sz="1472" b="0" i="0" dirty="0">
                <a:solidFill>
                  <a:srgbClr val="1B1F24"/>
                </a:solidFill>
                <a:highlight>
                  <a:srgbClr val="EEF1F4"/>
                </a:highlight>
                <a:latin typeface="Menlo"/>
              </a:rPr>
              <a:t>/clear</a:t>
            </a:r>
            <a:r>
              <a:rPr sz="1600" b="0" i="0" dirty="0">
                <a:solidFill>
                  <a:srgbClr val="1B1F24"/>
                </a:solidFill>
                <a:latin typeface="Arial"/>
              </a:rPr>
              <a:t> and rewrite.</a:t>
            </a:r>
          </a:p>
          <a:p>
            <a:pPr marL="256032" indent="-256032">
              <a:spcAft>
                <a:spcPts val="900"/>
              </a:spcAft>
              <a:buClr>
                <a:srgbClr val="0E5A8A"/>
              </a:buClr>
              <a:buFont typeface="Arial"/>
              <a:buChar char="•"/>
            </a:pPr>
            <a:r>
              <a:rPr sz="1600" b="1" i="0" dirty="0">
                <a:solidFill>
                  <a:srgbClr val="1B1F24"/>
                </a:solidFill>
                <a:latin typeface="Arial"/>
              </a:rPr>
              <a:t>Git is the audit trail:</a:t>
            </a:r>
            <a:r>
              <a:rPr sz="1600" b="0" i="0" dirty="0">
                <a:solidFill>
                  <a:srgbClr val="1B1F24"/>
                </a:solidFill>
                <a:latin typeface="Arial"/>
              </a:rPr>
              <a:t> commit each verified step; read </a:t>
            </a:r>
            <a:r>
              <a:rPr sz="1472" b="0" i="0" dirty="0">
                <a:solidFill>
                  <a:srgbClr val="1B1F24"/>
                </a:solidFill>
                <a:highlight>
                  <a:srgbClr val="EEF1F4"/>
                </a:highlight>
                <a:latin typeface="Menlo"/>
              </a:rPr>
              <a:t>git diff</a:t>
            </a:r>
            <a:r>
              <a:rPr sz="1600" b="0" i="0" dirty="0">
                <a:solidFill>
                  <a:srgbClr val="1B1F24"/>
                </a:solidFill>
                <a:latin typeface="Arial"/>
              </a:rPr>
              <a:t> and watch for edits </a:t>
            </a:r>
            <a:r>
              <a:rPr sz="1600" b="1" i="0" dirty="0">
                <a:solidFill>
                  <a:srgbClr val="1B1F24"/>
                </a:solidFill>
                <a:latin typeface="Arial"/>
              </a:rPr>
              <a:t>outside the task</a:t>
            </a:r>
            <a:r>
              <a:rPr sz="1600" b="0" i="0" dirty="0">
                <a:solidFill>
                  <a:srgbClr val="1B1F24"/>
                </a:solidFill>
                <a:latin typeface="Arial"/>
              </a:rPr>
              <a:t>, especially to tests and reference code.</a:t>
            </a:r>
          </a:p>
          <a:p>
            <a:pPr marL="256032" indent="-256032">
              <a:spcAft>
                <a:spcPts val="900"/>
              </a:spcAft>
              <a:buClr>
                <a:srgbClr val="0E5A8A"/>
              </a:buClr>
              <a:buFont typeface="Arial"/>
              <a:buChar char="•"/>
            </a:pPr>
            <a:r>
              <a:rPr sz="1600" b="1" i="0" dirty="0">
                <a:solidFill>
                  <a:srgbClr val="1B1F24"/>
                </a:solidFill>
                <a:latin typeface="Arial"/>
              </a:rPr>
              <a:t>Permission modes:</a:t>
            </a:r>
            <a:r>
              <a:rPr sz="1600" b="0" i="0" dirty="0">
                <a:solidFill>
                  <a:srgbClr val="1B1F24"/>
                </a:solidFill>
                <a:latin typeface="Arial"/>
              </a:rPr>
              <a:t> </a:t>
            </a:r>
            <a:r>
              <a:rPr sz="1472" b="0" i="0" dirty="0">
                <a:solidFill>
                  <a:srgbClr val="1B1F24"/>
                </a:solidFill>
                <a:highlight>
                  <a:srgbClr val="EEF1F4"/>
                </a:highlight>
                <a:latin typeface="Menlo"/>
              </a:rPr>
              <a:t>default</a:t>
            </a:r>
            <a:r>
              <a:rPr sz="1600" b="0" i="0" dirty="0">
                <a:solidFill>
                  <a:srgbClr val="1B1F24"/>
                </a:solidFill>
                <a:latin typeface="Arial"/>
              </a:rPr>
              <a:t> asks, </a:t>
            </a:r>
            <a:r>
              <a:rPr sz="1472" b="0" i="0" dirty="0" err="1">
                <a:solidFill>
                  <a:srgbClr val="1B1F24"/>
                </a:solidFill>
                <a:highlight>
                  <a:srgbClr val="EEF1F4"/>
                </a:highlight>
                <a:latin typeface="Menlo"/>
              </a:rPr>
              <a:t>acceptEdits</a:t>
            </a:r>
            <a:r>
              <a:rPr sz="1600" b="0" i="0" dirty="0">
                <a:solidFill>
                  <a:srgbClr val="1B1F24"/>
                </a:solidFill>
                <a:latin typeface="Arial"/>
              </a:rPr>
              <a:t>, </a:t>
            </a:r>
            <a:r>
              <a:rPr sz="1472" b="0" i="0" dirty="0">
                <a:solidFill>
                  <a:srgbClr val="1B1F24"/>
                </a:solidFill>
                <a:highlight>
                  <a:srgbClr val="EEF1F4"/>
                </a:highlight>
                <a:latin typeface="Menlo"/>
              </a:rPr>
              <a:t>plan</a:t>
            </a:r>
            <a:r>
              <a:rPr sz="1600" b="0" i="0" dirty="0">
                <a:solidFill>
                  <a:srgbClr val="1B1F24"/>
                </a:solidFill>
                <a:latin typeface="Arial"/>
              </a:rPr>
              <a:t> (read-only), </a:t>
            </a:r>
            <a:r>
              <a:rPr sz="1472" b="0" i="0" dirty="0">
                <a:solidFill>
                  <a:srgbClr val="1B1F24"/>
                </a:solidFill>
                <a:highlight>
                  <a:srgbClr val="EEF1F4"/>
                </a:highlight>
                <a:latin typeface="Menlo"/>
              </a:rPr>
              <a:t>auto</a:t>
            </a:r>
            <a:r>
              <a:rPr sz="1600" b="0" i="0" dirty="0">
                <a:solidFill>
                  <a:srgbClr val="1B1F24"/>
                </a:solidFill>
                <a:latin typeface="Arial"/>
              </a:rPr>
              <a:t> (a safety classifier approves routine actions). </a:t>
            </a:r>
            <a:r>
              <a:rPr sz="1600" b="1" i="0" dirty="0">
                <a:solidFill>
                  <a:srgbClr val="1B1F24"/>
                </a:solidFill>
                <a:latin typeface="Arial"/>
              </a:rPr>
              <a:t>On Pro, Max, and Team you start in </a:t>
            </a:r>
            <a:r>
              <a:rPr sz="1472" b="1" i="0" dirty="0">
                <a:solidFill>
                  <a:srgbClr val="1B1F24"/>
                </a:solidFill>
                <a:highlight>
                  <a:srgbClr val="EEF1F4"/>
                </a:highlight>
                <a:latin typeface="Menlo"/>
              </a:rPr>
              <a:t>auto</a:t>
            </a:r>
            <a:r>
              <a:rPr sz="1600" b="1" i="0" dirty="0">
                <a:solidFill>
                  <a:srgbClr val="1B1F24"/>
                </a:solidFill>
                <a:latin typeface="Arial"/>
              </a:rPr>
              <a:t>.</a:t>
            </a:r>
            <a:r>
              <a:rPr sz="1600" b="0" i="0" dirty="0">
                <a:solidFill>
                  <a:srgbClr val="1B1F24"/>
                </a:solidFill>
                <a:latin typeface="Arial"/>
              </a:rPr>
              <a:t> Use </a:t>
            </a:r>
            <a:r>
              <a:rPr sz="1472" b="0" i="0" dirty="0">
                <a:solidFill>
                  <a:srgbClr val="1B1F24"/>
                </a:solidFill>
                <a:highlight>
                  <a:srgbClr val="EEF1F4"/>
                </a:highlight>
                <a:latin typeface="Menlo"/>
              </a:rPr>
              <a:t>plan</a:t>
            </a:r>
            <a:r>
              <a:rPr sz="1600" b="0" i="0" dirty="0">
                <a:solidFill>
                  <a:srgbClr val="1B1F24"/>
                </a:solidFill>
                <a:latin typeface="Arial"/>
              </a:rPr>
              <a:t> or </a:t>
            </a:r>
            <a:r>
              <a:rPr sz="1472" b="0" i="0" dirty="0">
                <a:solidFill>
                  <a:srgbClr val="1B1F24"/>
                </a:solidFill>
                <a:highlight>
                  <a:srgbClr val="EEF1F4"/>
                </a:highlight>
                <a:latin typeface="Menlo"/>
              </a:rPr>
              <a:t>default</a:t>
            </a:r>
            <a:r>
              <a:rPr sz="1600" b="0" i="0" dirty="0">
                <a:solidFill>
                  <a:srgbClr val="1B1F24"/>
                </a:solidFill>
                <a:latin typeface="Arial"/>
              </a:rPr>
              <a:t> for anything you cannot afford to lose.</a:t>
            </a:r>
          </a:p>
          <a:p>
            <a:pPr marL="256032" indent="-256032">
              <a:spcAft>
                <a:spcPts val="900"/>
              </a:spcAft>
              <a:buClr>
                <a:srgbClr val="0E5A8A"/>
              </a:buClr>
              <a:buFont typeface="Arial"/>
              <a:buChar char="•"/>
            </a:pPr>
            <a:r>
              <a:rPr sz="1600" b="1" i="0" dirty="0">
                <a:solidFill>
                  <a:srgbClr val="1B1F24"/>
                </a:solidFill>
                <a:latin typeface="Arial"/>
              </a:rPr>
              <a:t>Secrets:</a:t>
            </a:r>
            <a:r>
              <a:rPr sz="1600" b="0" i="0" dirty="0">
                <a:solidFill>
                  <a:srgbClr val="1B1F24"/>
                </a:solidFill>
                <a:latin typeface="Arial"/>
              </a:rPr>
              <a:t> never put a password, account, or API token in a prompt or in a file the agent can read; assume it is leaked the moment you do. Keep keys in a git-ignored </a:t>
            </a:r>
            <a:r>
              <a:rPr sz="1472" b="0" i="0" dirty="0">
                <a:solidFill>
                  <a:srgbClr val="1B1F24"/>
                </a:solidFill>
                <a:highlight>
                  <a:srgbClr val="EEF1F4"/>
                </a:highlight>
                <a:latin typeface="Menlo"/>
              </a:rPr>
              <a:t>.env</a:t>
            </a:r>
            <a:r>
              <a:rPr sz="1600" b="0" i="0" dirty="0">
                <a:solidFill>
                  <a:srgbClr val="1B1F24"/>
                </a:solidFill>
                <a:latin typeface="Arial"/>
              </a:rPr>
              <a:t>, deny the agent access to it (</a:t>
            </a:r>
            <a:r>
              <a:rPr sz="1472" b="0" i="0" dirty="0">
                <a:solidFill>
                  <a:srgbClr val="1B1F24"/>
                </a:solidFill>
                <a:highlight>
                  <a:srgbClr val="EEF1F4"/>
                </a:highlight>
                <a:latin typeface="Menlo"/>
              </a:rPr>
              <a:t>Read(./.env)</a:t>
            </a:r>
            <a:r>
              <a:rPr sz="1600" b="0" i="0" dirty="0">
                <a:solidFill>
                  <a:srgbClr val="1B1F24"/>
                </a:solidFill>
                <a:latin typeface="Arial"/>
              </a:rPr>
              <a:t> in the settings deny list), and treat unpublished data the same way.</a:t>
            </a:r>
          </a:p>
        </p:txBody>
      </p:sp>
      <p:sp>
        <p:nvSpPr>
          <p:cNvPr id="7" name="TextBox 6">
            <a:extLst>
              <a:ext uri="{FF2B5EF4-FFF2-40B4-BE49-F238E27FC236}">
                <a16:creationId xmlns:a16="http://schemas.microsoft.com/office/drawing/2014/main" id="{F936C323-5CC7-6EF9-7FE0-7DDF30196F1C}"/>
              </a:ext>
            </a:extLst>
          </p:cNvPr>
          <p:cNvSpPr txBox="1"/>
          <p:nvPr/>
        </p:nvSpPr>
        <p:spPr>
          <a:xfrm>
            <a:off x="8314944" y="5845878"/>
            <a:ext cx="3206191" cy="369332"/>
          </a:xfrm>
          <a:prstGeom prst="rect">
            <a:avLst/>
          </a:prstGeom>
          <a:noFill/>
        </p:spPr>
        <p:txBody>
          <a:bodyPr wrap="square" rtlCol="0">
            <a:spAutoFit/>
          </a:bodyPr>
          <a:lstStyle/>
          <a:p>
            <a:r>
              <a:rPr lang="en-US" dirty="0">
                <a:solidFill>
                  <a:schemeClr val="accent2"/>
                </a:solidFill>
              </a:rPr>
              <a:t>--dangerously-skip-permissions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The problem</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16 / 25</a:t>
            </a:r>
          </a:p>
        </p:txBody>
      </p:sp>
      <p:sp>
        <p:nvSpPr>
          <p:cNvPr id="6" name="TextBox 5"/>
          <p:cNvSpPr txBox="1"/>
          <p:nvPr/>
        </p:nvSpPr>
        <p:spPr>
          <a:xfrm>
            <a:off x="548640" y="1371600"/>
            <a:ext cx="11094415" cy="640080"/>
          </a:xfrm>
          <a:prstGeom prst="rect">
            <a:avLst/>
          </a:prstGeom>
          <a:noFill/>
        </p:spPr>
        <p:txBody>
          <a:bodyPr wrap="square" lIns="0" tIns="0" rIns="0" bIns="0">
            <a:spAutoFit/>
          </a:bodyPr>
          <a:lstStyle/>
          <a:p>
            <a:pPr marL="256032" indent="-256032">
              <a:spcAft>
                <a:spcPts val="600"/>
              </a:spcAft>
              <a:buClr>
                <a:srgbClr val="0E5A8A"/>
              </a:buClr>
              <a:buFont typeface="Arial"/>
              <a:buChar char="•"/>
            </a:pPr>
            <a:r>
              <a:rPr sz="1700" b="0" i="0">
                <a:solidFill>
                  <a:srgbClr val="1B1F24"/>
                </a:solidFill>
                <a:latin typeface="Arial"/>
              </a:rPr>
              <a:t>From Exercise 1: </a:t>
            </a:r>
            <a:r>
              <a:rPr sz="1564" b="0" i="0">
                <a:solidFill>
                  <a:srgbClr val="1B1F24"/>
                </a:solidFill>
                <a:highlight>
                  <a:srgbClr val="EEF1F4"/>
                </a:highlight>
                <a:latin typeface="Menlo"/>
              </a:rPr>
              <a:t>apply_gate_1q(state, U, j)</a:t>
            </a:r>
            <a:r>
              <a:rPr sz="1700" b="0" i="0">
                <a:solidFill>
                  <a:srgbClr val="1B1F24"/>
                </a:solidFill>
                <a:latin typeface="Arial"/>
              </a:rPr>
              <a:t> builds </a:t>
            </a:r>
            <a:r>
              <a:rPr sz="1564" b="0" i="0">
                <a:solidFill>
                  <a:srgbClr val="1B1F24"/>
                </a:solidFill>
                <a:highlight>
                  <a:srgbClr val="EEF1F4"/>
                </a:highlight>
                <a:latin typeface="Menlo"/>
              </a:rPr>
              <a:t>I ⊗ ... ⊗ U ⊗ ... ⊗ I</a:t>
            </a:r>
            <a:r>
              <a:rPr sz="1700" b="0" i="0">
                <a:solidFill>
                  <a:srgbClr val="1B1F24"/>
                </a:solidFill>
                <a:latin typeface="Arial"/>
              </a:rPr>
              <a:t> with </a:t>
            </a:r>
            <a:r>
              <a:rPr sz="1564" b="0" i="0">
                <a:solidFill>
                  <a:srgbClr val="1B1F24"/>
                </a:solidFill>
                <a:highlight>
                  <a:srgbClr val="EEF1F4"/>
                </a:highlight>
                <a:latin typeface="Menlo"/>
              </a:rPr>
              <a:t>np.kron</a:t>
            </a:r>
            <a:r>
              <a:rPr sz="1700" b="0" i="0">
                <a:solidFill>
                  <a:srgbClr val="1B1F24"/>
                </a:solidFill>
                <a:latin typeface="Arial"/>
              </a:rPr>
              <a:t> and multiplies: </a:t>
            </a:r>
            <a:r>
              <a:rPr sz="1700" b="1" i="0">
                <a:solidFill>
                  <a:srgbClr val="1B1F24"/>
                </a:solidFill>
                <a:latin typeface="Arial"/>
              </a:rPr>
              <a:t>O(4</a:t>
            </a:r>
            <a:r>
              <a:rPr sz="1700" b="1" i="0" baseline="30000">
                <a:solidFill>
                  <a:srgbClr val="1B1F24"/>
                </a:solidFill>
                <a:latin typeface="Arial"/>
              </a:rPr>
              <a:t>n</a:t>
            </a:r>
            <a:r>
              <a:rPr sz="1700" b="1" i="0">
                <a:solidFill>
                  <a:srgbClr val="1B1F24"/>
                </a:solidFill>
                <a:latin typeface="Arial"/>
              </a:rPr>
              <a:t>)</a:t>
            </a:r>
            <a:r>
              <a:rPr sz="1700" b="0" i="0">
                <a:solidFill>
                  <a:srgbClr val="1B1F24"/>
                </a:solidFill>
                <a:latin typeface="Arial"/>
              </a:rPr>
              <a:t> time and memory per gate.</a:t>
            </a:r>
          </a:p>
        </p:txBody>
      </p:sp>
      <p:graphicFrame>
        <p:nvGraphicFramePr>
          <p:cNvPr id="7" name="Table 6"/>
          <p:cNvGraphicFramePr>
            <a:graphicFrameLocks noGrp="1"/>
          </p:cNvGraphicFramePr>
          <p:nvPr/>
        </p:nvGraphicFramePr>
        <p:xfrm>
          <a:off x="548640" y="2240279"/>
          <a:ext cx="8595360" cy="1414272"/>
        </p:xfrm>
        <a:graphic>
          <a:graphicData uri="http://schemas.openxmlformats.org/drawingml/2006/table">
            <a:tbl>
              <a:tblPr/>
              <a:tblGrid>
                <a:gridCol w="10972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53568">
                <a:tc>
                  <a:txBody>
                    <a:bodyPr/>
                    <a:lstStyle/>
                    <a:p>
                      <a:pPr algn="l"/>
                      <a:r>
                        <a:rPr sz="1472" b="1" i="0">
                          <a:solidFill>
                            <a:srgbClr val="1B1F24"/>
                          </a:solidFill>
                          <a:highlight>
                            <a:srgbClr val="EEF1F4"/>
                          </a:highlight>
                          <a:latin typeface="Menlo"/>
                        </a:rPr>
                        <a:t>n</a:t>
                      </a:r>
                    </a:p>
                  </a:txBody>
                  <a:tcPr marL="82296" marR="82296">
                    <a:lnL w="0">
                      <a:noFill/>
                    </a:lnL>
                    <a:lnR w="0">
                      <a:noFill/>
                    </a:lnR>
                    <a:lnT w="0">
                      <a:noFill/>
                    </a:lnT>
                    <a:lnB w="19050" cap="flat" cmpd="sng" algn="ctr">
                      <a:solidFill>
                        <a:srgbClr val="0E5A8A"/>
                      </a:solidFill>
                      <a:prstDash val="solid"/>
                    </a:lnB>
                  </a:tcPr>
                </a:tc>
                <a:tc>
                  <a:txBody>
                    <a:bodyPr/>
                    <a:lstStyle/>
                    <a:p>
                      <a:pPr algn="l"/>
                      <a:r>
                        <a:rPr sz="1600" b="1" i="0">
                          <a:solidFill>
                            <a:srgbClr val="1B1F24"/>
                          </a:solidFill>
                          <a:latin typeface="Arial"/>
                        </a:rPr>
                        <a:t>Matrix entries</a:t>
                      </a:r>
                    </a:p>
                  </a:txBody>
                  <a:tcPr marL="82296" marR="82296">
                    <a:lnL w="0">
                      <a:noFill/>
                    </a:lnL>
                    <a:lnR w="0">
                      <a:noFill/>
                    </a:lnR>
                    <a:lnT w="0">
                      <a:noFill/>
                    </a:lnT>
                    <a:lnB w="19050" cap="flat" cmpd="sng" algn="ctr">
                      <a:solidFill>
                        <a:srgbClr val="0E5A8A"/>
                      </a:solidFill>
                      <a:prstDash val="solid"/>
                    </a:lnB>
                  </a:tcPr>
                </a:tc>
                <a:tc>
                  <a:txBody>
                    <a:bodyPr/>
                    <a:lstStyle/>
                    <a:p>
                      <a:pPr algn="l"/>
                      <a:r>
                        <a:rPr sz="1600" b="1" i="0">
                          <a:solidFill>
                            <a:srgbClr val="1B1F24"/>
                          </a:solidFill>
                          <a:latin typeface="Arial"/>
                        </a:rPr>
                        <a:t>Memory (complex128)</a:t>
                      </a:r>
                    </a:p>
                  </a:txBody>
                  <a:tcPr marL="82296" marR="82296">
                    <a:lnL w="0">
                      <a:noFill/>
                    </a:lnL>
                    <a:lnR w="0">
                      <a:noFill/>
                    </a:lnR>
                    <a:lnT w="0">
                      <a:noFill/>
                    </a:lnT>
                    <a:lnB w="19050" cap="flat" cmpd="sng" algn="ctr">
                      <a:solidFill>
                        <a:srgbClr val="0E5A8A"/>
                      </a:solidFill>
                      <a:prstDash val="solid"/>
                    </a:lnB>
                  </a:tcPr>
                </a:tc>
                <a:tc>
                  <a:txBody>
                    <a:bodyPr/>
                    <a:lstStyle/>
                    <a:p>
                      <a:pPr algn="l"/>
                      <a:r>
                        <a:rPr sz="1600" b="1" i="0">
                          <a:solidFill>
                            <a:srgbClr val="1B1F24"/>
                          </a:solidFill>
                          <a:latin typeface="Arial"/>
                        </a:rPr>
                        <a:t>Work per gate</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353568">
                <a:tc>
                  <a:txBody>
                    <a:bodyPr/>
                    <a:lstStyle/>
                    <a:p>
                      <a:pPr algn="l"/>
                      <a:r>
                        <a:rPr sz="1600" b="0" i="0">
                          <a:solidFill>
                            <a:srgbClr val="1B1F24"/>
                          </a:solidFill>
                          <a:latin typeface="Arial"/>
                        </a:rPr>
                        <a:t>10</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10</a:t>
                      </a:r>
                      <a:r>
                        <a:rPr sz="1600" b="0" i="0" baseline="30000">
                          <a:solidFill>
                            <a:srgbClr val="1B1F24"/>
                          </a:solidFill>
                          <a:latin typeface="Arial"/>
                        </a:rPr>
                        <a:t>6</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16 MB</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fine</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353568">
                <a:tc>
                  <a:txBody>
                    <a:bodyPr/>
                    <a:lstStyle/>
                    <a:p>
                      <a:pPr algn="l"/>
                      <a:r>
                        <a:rPr sz="1600" b="0" i="0">
                          <a:solidFill>
                            <a:srgbClr val="1B1F24"/>
                          </a:solidFill>
                          <a:latin typeface="Arial"/>
                        </a:rPr>
                        <a:t>14</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2.7 × 10</a:t>
                      </a:r>
                      <a:r>
                        <a:rPr sz="1600" b="0" i="0" baseline="30000">
                          <a:solidFill>
                            <a:srgbClr val="1B1F24"/>
                          </a:solidFill>
                          <a:latin typeface="Arial"/>
                        </a:rPr>
                        <a:t>8</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4.3 GB</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seconds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353568">
                <a:tc>
                  <a:txBody>
                    <a:bodyPr/>
                    <a:lstStyle/>
                    <a:p>
                      <a:pPr algn="l"/>
                      <a:r>
                        <a:rPr sz="1600" b="0" i="0">
                          <a:solidFill>
                            <a:srgbClr val="1B1F24"/>
                          </a:solidFill>
                          <a:latin typeface="Arial"/>
                        </a:rPr>
                        <a:t>20</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1.1 × 10</a:t>
                      </a:r>
                      <a:r>
                        <a:rPr sz="1600" b="0" i="0" baseline="30000">
                          <a:solidFill>
                            <a:srgbClr val="1B1F24"/>
                          </a:solidFill>
                          <a:latin typeface="Arial"/>
                        </a:rPr>
                        <a:t>12</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16 TB</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impossible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 y="3974591"/>
            <a:ext cx="11094415" cy="1051560"/>
          </a:xfrm>
          <a:prstGeom prst="rect">
            <a:avLst/>
          </a:prstGeom>
          <a:noFill/>
        </p:spPr>
        <p:txBody>
          <a:bodyPr wrap="square" lIns="0" tIns="0" rIns="0" bIns="0">
            <a:spAutoFit/>
          </a:bodyPr>
          <a:lstStyle/>
          <a:p>
            <a:pPr marL="256032" indent="-256032">
              <a:spcAft>
                <a:spcPts val="900"/>
              </a:spcAft>
              <a:buClr>
                <a:srgbClr val="0E5A8A"/>
              </a:buClr>
              <a:buFont typeface="Arial"/>
              <a:buChar char="•"/>
            </a:pPr>
            <a:r>
              <a:rPr sz="1700" b="0" i="0">
                <a:solidFill>
                  <a:srgbClr val="1B1F24"/>
                </a:solidFill>
                <a:latin typeface="Arial"/>
              </a:rPr>
              <a:t>Target: </a:t>
            </a:r>
            <a:r>
              <a:rPr sz="1700" b="1" i="0">
                <a:solidFill>
                  <a:srgbClr val="1B1F24"/>
                </a:solidFill>
                <a:latin typeface="Arial"/>
              </a:rPr>
              <a:t>O(2</a:t>
            </a:r>
            <a:r>
              <a:rPr sz="1700" b="1" i="0" baseline="30000">
                <a:solidFill>
                  <a:srgbClr val="1B1F24"/>
                </a:solidFill>
                <a:latin typeface="Arial"/>
              </a:rPr>
              <a:t>n</a:t>
            </a:r>
            <a:r>
              <a:rPr sz="1700" b="1" i="0">
                <a:solidFill>
                  <a:srgbClr val="1B1F24"/>
                </a:solidFill>
                <a:latin typeface="Arial"/>
              </a:rPr>
              <a:t>)</a:t>
            </a:r>
            <a:r>
              <a:rPr sz="1700" b="0" i="0">
                <a:solidFill>
                  <a:srgbClr val="1B1F24"/>
                </a:solidFill>
                <a:latin typeface="Arial"/>
              </a:rPr>
              <a:t> per gate, same interface </a:t>
            </a:r>
            <a:r>
              <a:rPr sz="1564" b="0" i="0">
                <a:solidFill>
                  <a:srgbClr val="1B1F24"/>
                </a:solidFill>
                <a:highlight>
                  <a:srgbClr val="EEF1F4"/>
                </a:highlight>
                <a:latin typeface="Menlo"/>
              </a:rPr>
              <a:t>simulate(gates, n)</a:t>
            </a:r>
            <a:r>
              <a:rPr sz="1700" b="0" i="0">
                <a:solidFill>
                  <a:srgbClr val="1B1F24"/>
                </a:solidFill>
                <a:latin typeface="Arial"/>
              </a:rPr>
              <a:t>, same little-endian convention.</a:t>
            </a:r>
          </a:p>
          <a:p>
            <a:pPr marL="256032" indent="-256032">
              <a:spcAft>
                <a:spcPts val="900"/>
              </a:spcAft>
              <a:buClr>
                <a:srgbClr val="0E5A8A"/>
              </a:buClr>
              <a:buFont typeface="Arial"/>
              <a:buChar char="•"/>
            </a:pPr>
            <a:r>
              <a:rPr sz="1700" b="0" i="0">
                <a:solidFill>
                  <a:srgbClr val="1B1F24"/>
                </a:solidFill>
                <a:latin typeface="Arial"/>
              </a:rPr>
              <a:t>The physics that makes it possible: a gate on qubit </a:t>
            </a:r>
            <a:r>
              <a:rPr sz="1564" b="0" i="0">
                <a:solidFill>
                  <a:srgbClr val="1B1F24"/>
                </a:solidFill>
                <a:highlight>
                  <a:srgbClr val="EEF1F4"/>
                </a:highlight>
                <a:latin typeface="Menlo"/>
              </a:rPr>
              <a:t>j</a:t>
            </a:r>
            <a:r>
              <a:rPr sz="1700" b="0" i="0">
                <a:solidFill>
                  <a:srgbClr val="1B1F24"/>
                </a:solidFill>
                <a:latin typeface="Arial"/>
              </a:rPr>
              <a:t> only mixes amplitude pairs that differ in bit </a:t>
            </a:r>
            <a:r>
              <a:rPr sz="1564" b="0" i="0">
                <a:solidFill>
                  <a:srgbClr val="1B1F24"/>
                </a:solidFill>
                <a:highlight>
                  <a:srgbClr val="EEF1F4"/>
                </a:highlight>
                <a:latin typeface="Menlo"/>
              </a:rPr>
              <a:t>j</a:t>
            </a:r>
            <a:r>
              <a:rPr sz="1700" b="0" i="0">
                <a:solidFill>
                  <a:srgbClr val="1B1F24"/>
                </a:solidFill>
                <a:latin typeface="Arial"/>
              </a:rPr>
              <a:t>. Everything else is index bookkeeping, which is exactly what AI is good at and exactly where it makes convention errors.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Steps 0 and 1: ground truth, then the project</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17 / 25</a:t>
            </a:r>
          </a:p>
        </p:txBody>
      </p:sp>
      <p:sp>
        <p:nvSpPr>
          <p:cNvPr id="6" name="TextBox 5"/>
          <p:cNvSpPr txBox="1"/>
          <p:nvPr/>
        </p:nvSpPr>
        <p:spPr>
          <a:xfrm>
            <a:off x="548640" y="1371600"/>
            <a:ext cx="11094415" cy="1051560"/>
          </a:xfrm>
          <a:prstGeom prst="rect">
            <a:avLst/>
          </a:prstGeom>
          <a:noFill/>
        </p:spPr>
        <p:txBody>
          <a:bodyPr wrap="square" lIns="0" tIns="0" rIns="0" bIns="0">
            <a:spAutoFit/>
          </a:bodyPr>
          <a:lstStyle/>
          <a:p>
            <a:pPr marL="256032" indent="-256032">
              <a:spcAft>
                <a:spcPts val="900"/>
              </a:spcAft>
              <a:buClr>
                <a:srgbClr val="0E5A8A"/>
              </a:buClr>
              <a:buFont typeface="Arial"/>
              <a:buChar char="•"/>
            </a:pPr>
            <a:r>
              <a:rPr sz="1700" b="0" i="0">
                <a:solidFill>
                  <a:srgbClr val="1B1F24"/>
                </a:solidFill>
                <a:latin typeface="Arial"/>
              </a:rPr>
              <a:t>Ground truth already exists: </a:t>
            </a:r>
            <a:r>
              <a:rPr sz="1564" b="0" i="0">
                <a:solidFill>
                  <a:srgbClr val="1B1F24"/>
                </a:solidFill>
                <a:highlight>
                  <a:srgbClr val="EEF1F4"/>
                </a:highlight>
                <a:latin typeface="Menlo"/>
              </a:rPr>
              <a:t>simulate()</a:t>
            </a:r>
            <a:r>
              <a:rPr sz="1700" b="0" i="0">
                <a:solidFill>
                  <a:srgbClr val="1B1F24"/>
                </a:solidFill>
                <a:latin typeface="Arial"/>
              </a:rPr>
              <a:t> from Exercise 1, verified by hand on </a:t>
            </a:r>
            <a:r>
              <a:rPr sz="1564" b="0" i="0">
                <a:solidFill>
                  <a:srgbClr val="1B1F24"/>
                </a:solidFill>
                <a:highlight>
                  <a:srgbClr val="EEF1F4"/>
                </a:highlight>
                <a:latin typeface="Menlo"/>
              </a:rPr>
              <a:t>(|00&gt; + i|11&gt;)/√2</a:t>
            </a:r>
            <a:r>
              <a:rPr sz="1700" b="0" i="0">
                <a:solidFill>
                  <a:srgbClr val="1B1F24"/>
                </a:solidFill>
                <a:latin typeface="Arial"/>
              </a:rPr>
              <a:t>. Slow, simple, </a:t>
            </a:r>
            <a:r>
              <a:rPr sz="1700" b="1" i="0">
                <a:solidFill>
                  <a:srgbClr val="1B1F24"/>
                </a:solidFill>
                <a:latin typeface="Arial"/>
              </a:rPr>
              <a:t>written by you</a:t>
            </a:r>
            <a:r>
              <a:rPr sz="1700" b="0" i="0">
                <a:solidFill>
                  <a:srgbClr val="1B1F24"/>
                </a:solidFill>
                <a:latin typeface="Arial"/>
              </a:rPr>
              <a:t>, so it cannot share the AI’s mistakes.</a:t>
            </a:r>
          </a:p>
          <a:p>
            <a:pPr marL="256032" indent="-256032">
              <a:spcAft>
                <a:spcPts val="900"/>
              </a:spcAft>
              <a:buClr>
                <a:srgbClr val="0E5A8A"/>
              </a:buClr>
              <a:buFont typeface="Arial"/>
              <a:buChar char="•"/>
            </a:pPr>
            <a:r>
              <a:rPr sz="1700" b="0" i="0">
                <a:solidFill>
                  <a:srgbClr val="1B1F24"/>
                </a:solidFill>
                <a:latin typeface="Arial"/>
              </a:rPr>
              <a:t>Save it as </a:t>
            </a:r>
            <a:r>
              <a:rPr sz="1564" b="0" i="0">
                <a:solidFill>
                  <a:srgbClr val="1B1F24"/>
                </a:solidFill>
                <a:highlight>
                  <a:srgbClr val="EEF1F4"/>
                </a:highlight>
                <a:latin typeface="Menlo"/>
              </a:rPr>
              <a:t>simulator_naive.py</a:t>
            </a:r>
            <a:r>
              <a:rPr sz="1700" b="0" i="0">
                <a:solidFill>
                  <a:srgbClr val="1B1F24"/>
                </a:solidFill>
                <a:latin typeface="Arial"/>
              </a:rPr>
              <a:t>, gate matrices in </a:t>
            </a:r>
            <a:r>
              <a:rPr sz="1564" b="0" i="0">
                <a:solidFill>
                  <a:srgbClr val="1B1F24"/>
                </a:solidFill>
                <a:highlight>
                  <a:srgbClr val="EEF1F4"/>
                </a:highlight>
                <a:latin typeface="Menlo"/>
              </a:rPr>
              <a:t>gates.py</a:t>
            </a:r>
            <a:r>
              <a:rPr sz="1700" b="0" i="0">
                <a:solidFill>
                  <a:srgbClr val="1B1F24"/>
                </a:solidFill>
                <a:latin typeface="Arial"/>
              </a:rPr>
              <a:t>, and declare both read-only in </a:t>
            </a:r>
            <a:r>
              <a:rPr sz="1564" b="0" i="0">
                <a:solidFill>
                  <a:srgbClr val="1B1F24"/>
                </a:solidFill>
                <a:highlight>
                  <a:srgbClr val="EEF1F4"/>
                </a:highlight>
                <a:latin typeface="Menlo"/>
              </a:rPr>
              <a:t>CLAUDE.md</a:t>
            </a:r>
            <a:r>
              <a:rPr sz="1700" b="0" i="0">
                <a:solidFill>
                  <a:srgbClr val="1B1F24"/>
                </a:solidFill>
                <a:latin typeface="Arial"/>
              </a:rPr>
              <a:t>.</a:t>
            </a:r>
          </a:p>
        </p:txBody>
      </p:sp>
      <p:sp>
        <p:nvSpPr>
          <p:cNvPr id="7" name="Rounded Rectangle 6"/>
          <p:cNvSpPr/>
          <p:nvPr/>
        </p:nvSpPr>
        <p:spPr>
          <a:xfrm>
            <a:off x="548640" y="2606040"/>
            <a:ext cx="11094415" cy="1319784"/>
          </a:xfrm>
          <a:prstGeom prst="roundRect">
            <a:avLst>
              <a:gd name="adj" fmla="val 4000"/>
            </a:avLst>
          </a:prstGeom>
          <a:solidFill>
            <a:srgbClr val="272822"/>
          </a:solidFill>
          <a:ln>
            <a:noFill/>
          </a:ln>
          <a:effectLst/>
        </p:spPr>
        <p:style>
          <a:lnRef idx="1">
            <a:schemeClr val="accent1"/>
          </a:lnRef>
          <a:fillRef idx="3">
            <a:schemeClr val="accent1"/>
          </a:fillRef>
          <a:effectRef idx="2">
            <a:schemeClr val="accent1"/>
          </a:effectRef>
          <a:fontRef idx="minor">
            <a:schemeClr val="lt1"/>
          </a:fontRef>
        </p:style>
        <p:txBody>
          <a:bodyPr wrap="none" lIns="182880" tIns="146304" rIns="182880" bIns="146304" rtlCol="0" anchor="t"/>
          <a:lstStyle/>
          <a:p>
            <a:pPr algn="l"/>
            <a:r>
              <a:rPr sz="1300" b="0">
                <a:solidFill>
                  <a:srgbClr val="F8F8F2"/>
                </a:solidFill>
                <a:latin typeface="Menlo"/>
              </a:rPr>
              <a:t>mkdir fast_sim &amp;&amp; </a:t>
            </a:r>
            <a:r>
              <a:rPr sz="1300" b="0">
                <a:solidFill>
                  <a:srgbClr val="66D9EF"/>
                </a:solidFill>
                <a:latin typeface="Menlo"/>
              </a:rPr>
              <a:t>cd</a:t>
            </a:r>
            <a:r>
              <a:rPr sz="1300" b="0">
                <a:solidFill>
                  <a:srgbClr val="F8F8F2"/>
                </a:solidFill>
                <a:latin typeface="Menlo"/>
              </a:rPr>
              <a:t> fast_sim &amp;&amp; git init</a:t>
            </a:r>
          </a:p>
          <a:p>
            <a:pPr algn="l"/>
            <a:r>
              <a:rPr sz="1300" b="0">
                <a:solidFill>
                  <a:srgbClr val="F8F8F2"/>
                </a:solidFill>
                <a:latin typeface="Menlo"/>
              </a:rPr>
              <a:t>cp ../simulator_naive.py ../gates.py .</a:t>
            </a:r>
          </a:p>
          <a:p>
            <a:pPr algn="l"/>
            <a:r>
              <a:rPr sz="1300" b="0">
                <a:solidFill>
                  <a:srgbClr val="F8F8F2"/>
                </a:solidFill>
                <a:latin typeface="Menlo"/>
              </a:rPr>
              <a:t>uv init &amp;&amp; uv add numpy pytest</a:t>
            </a:r>
          </a:p>
          <a:p>
            <a:pPr algn="l"/>
            <a:r>
              <a:rPr sz="1300" b="0">
                <a:solidFill>
                  <a:srgbClr val="F8F8F2"/>
                </a:solidFill>
                <a:latin typeface="Menlo"/>
              </a:rPr>
              <a:t>claude</a:t>
            </a:r>
          </a:p>
          <a:p>
            <a:pPr algn="l"/>
            <a:r>
              <a:rPr sz="1300" b="0">
                <a:solidFill>
                  <a:srgbClr val="F8F8F2"/>
                </a:solidFill>
                <a:latin typeface="Menlo"/>
              </a:rPr>
              <a:t>&gt; /init          </a:t>
            </a:r>
            <a:r>
              <a:rPr sz="1300" b="0">
                <a:solidFill>
                  <a:srgbClr val="8A8A7A"/>
                </a:solidFill>
                <a:latin typeface="Menlo"/>
              </a:rPr>
              <a:t># drafts CLAUDE.md; then paste in the conventions from slide 11</a:t>
            </a:r>
          </a:p>
        </p:txBody>
      </p:sp>
      <p:sp>
        <p:nvSpPr>
          <p:cNvPr id="8" name="TextBox 7"/>
          <p:cNvSpPr txBox="1"/>
          <p:nvPr/>
        </p:nvSpPr>
        <p:spPr>
          <a:xfrm>
            <a:off x="548640" y="4245864"/>
            <a:ext cx="11094415" cy="380999"/>
          </a:xfrm>
          <a:prstGeom prst="rect">
            <a:avLst/>
          </a:prstGeom>
          <a:noFill/>
        </p:spPr>
        <p:txBody>
          <a:bodyPr wrap="square" lIns="0" tIns="0" rIns="0" bIns="0">
            <a:spAutoFit/>
          </a:bodyPr>
          <a:lstStyle/>
          <a:p>
            <a:pPr marL="256032" indent="-256032">
              <a:spcAft>
                <a:spcPts val="600"/>
              </a:spcAft>
              <a:buClr>
                <a:srgbClr val="0E5A8A"/>
              </a:buClr>
              <a:buFont typeface="Arial"/>
              <a:buChar char="•"/>
            </a:pPr>
            <a:r>
              <a:rPr sz="1700" b="0" i="0">
                <a:solidFill>
                  <a:srgbClr val="1B1F24"/>
                </a:solidFill>
                <a:latin typeface="Arial"/>
              </a:rPr>
              <a:t>Commit: </a:t>
            </a:r>
            <a:r>
              <a:rPr sz="1564" b="0" i="0">
                <a:solidFill>
                  <a:srgbClr val="1B1F24"/>
                </a:solidFill>
                <a:highlight>
                  <a:srgbClr val="EEF1F4"/>
                </a:highlight>
                <a:latin typeface="Menlo"/>
              </a:rPr>
              <a:t>git add -A &amp;&amp; git commit -m "Reference simulator and project instructions"</a:t>
            </a:r>
            <a:r>
              <a:rPr sz="1700" b="0" i="0">
                <a:solidFill>
                  <a:srgbClr val="1B1F24"/>
                </a:solidFill>
                <a:latin typeface="Arial"/>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Step 2: plan in plan mode</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18 / 25</a:t>
            </a:r>
          </a:p>
        </p:txBody>
      </p:sp>
      <p:sp>
        <p:nvSpPr>
          <p:cNvPr id="6" name="Rounded Rectangle 5"/>
          <p:cNvSpPr/>
          <p:nvPr/>
        </p:nvSpPr>
        <p:spPr>
          <a:xfrm>
            <a:off x="548640" y="1371600"/>
            <a:ext cx="11094415" cy="1170432"/>
          </a:xfrm>
          <a:prstGeom prst="roundRect">
            <a:avLst>
              <a:gd name="adj" fmla="val 6000"/>
            </a:avLst>
          </a:prstGeom>
          <a:solidFill>
            <a:srgbClr val="E9F1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t"/>
          <a:lstStyle/>
          <a:p>
            <a:pPr algn="l">
              <a:spcAft>
                <a:spcPts val="200"/>
              </a:spcAft>
            </a:pPr>
            <a:r>
              <a:rPr sz="900" b="1" i="0" cap="all" spc="150">
                <a:solidFill>
                  <a:srgbClr val="0E5A8A"/>
                </a:solidFill>
                <a:latin typeface="Arial"/>
              </a:rPr>
              <a:t>Prompt, in plan mode</a:t>
            </a:r>
          </a:p>
          <a:p>
            <a:pPr algn="l"/>
            <a:r>
              <a:rPr sz="1600" b="0" i="0">
                <a:solidFill>
                  <a:srgbClr val="1B1F24"/>
                </a:solidFill>
                <a:latin typeface="Arial"/>
              </a:rPr>
              <a:t>Read </a:t>
            </a:r>
            <a:r>
              <a:rPr sz="1472" b="0" i="0">
                <a:solidFill>
                  <a:srgbClr val="1B1F24"/>
                </a:solidFill>
                <a:highlight>
                  <a:srgbClr val="EEF1F4"/>
                </a:highlight>
                <a:latin typeface="Menlo"/>
              </a:rPr>
              <a:t>CLAUDE.md</a:t>
            </a:r>
            <a:r>
              <a:rPr sz="1600" b="0" i="0">
                <a:solidFill>
                  <a:srgbClr val="1B1F24"/>
                </a:solidFill>
                <a:latin typeface="Arial"/>
              </a:rPr>
              <a:t>, </a:t>
            </a:r>
            <a:r>
              <a:rPr sz="1472" b="0" i="0">
                <a:solidFill>
                  <a:srgbClr val="1B1F24"/>
                </a:solidFill>
                <a:highlight>
                  <a:srgbClr val="EEF1F4"/>
                </a:highlight>
                <a:latin typeface="Menlo"/>
              </a:rPr>
              <a:t>simulator_naive.py</a:t>
            </a:r>
            <a:r>
              <a:rPr sz="1600" b="0" i="0">
                <a:solidFill>
                  <a:srgbClr val="1B1F24"/>
                </a:solidFill>
                <a:latin typeface="Arial"/>
              </a:rPr>
              <a:t>, and </a:t>
            </a:r>
            <a:r>
              <a:rPr sz="1472" b="0" i="0">
                <a:solidFill>
                  <a:srgbClr val="1B1F24"/>
                </a:solidFill>
                <a:highlight>
                  <a:srgbClr val="EEF1F4"/>
                </a:highlight>
                <a:latin typeface="Menlo"/>
              </a:rPr>
              <a:t>gates.py</a:t>
            </a:r>
            <a:r>
              <a:rPr sz="1600" b="0" i="0">
                <a:solidFill>
                  <a:srgbClr val="1B1F24"/>
                </a:solidFill>
                <a:latin typeface="Arial"/>
              </a:rPr>
              <a:t>. Propose a plan for </a:t>
            </a:r>
            <a:r>
              <a:rPr sz="1472" b="0" i="0">
                <a:solidFill>
                  <a:srgbClr val="1B1F24"/>
                </a:solidFill>
                <a:highlight>
                  <a:srgbClr val="EEF1F4"/>
                </a:highlight>
                <a:latin typeface="Menlo"/>
              </a:rPr>
              <a:t>simulate_fast(gates, n)</a:t>
            </a:r>
            <a:r>
              <a:rPr sz="1600" b="0" i="0">
                <a:solidFill>
                  <a:srgbClr val="1B1F24"/>
                </a:solidFill>
                <a:latin typeface="Arial"/>
              </a:rPr>
              <a:t> with O(2</a:t>
            </a:r>
            <a:r>
              <a:rPr sz="1600" b="0" i="0" baseline="30000">
                <a:solidFill>
                  <a:srgbClr val="1B1F24"/>
                </a:solidFill>
                <a:latin typeface="Arial"/>
              </a:rPr>
              <a:t>n</a:t>
            </a:r>
            <a:r>
              <a:rPr sz="1600" b="0" i="0">
                <a:solidFill>
                  <a:srgbClr val="1B1F24"/>
                </a:solidFill>
                <a:latin typeface="Arial"/>
              </a:rPr>
              <a:t>) work per gate and exactly the same interface and convention. For each function give the index mapping, the complexity, and the test that would catch a transposed convention. Do not write code yet.</a:t>
            </a:r>
          </a:p>
        </p:txBody>
      </p:sp>
      <p:sp>
        <p:nvSpPr>
          <p:cNvPr id="7" name="TextBox 6"/>
          <p:cNvSpPr txBox="1"/>
          <p:nvPr/>
        </p:nvSpPr>
        <p:spPr>
          <a:xfrm>
            <a:off x="548640" y="2798064"/>
            <a:ext cx="11094415" cy="320040"/>
          </a:xfrm>
          <a:prstGeom prst="rect">
            <a:avLst/>
          </a:prstGeom>
          <a:noFill/>
        </p:spPr>
        <p:txBody>
          <a:bodyPr wrap="square" lIns="0" tIns="0" rIns="0" bIns="0" anchor="t">
            <a:spAutoFit/>
          </a:bodyPr>
          <a:lstStyle/>
          <a:p>
            <a:pPr algn="l"/>
            <a:r>
              <a:rPr sz="1700" b="0" i="0">
                <a:solidFill>
                  <a:srgbClr val="1B1F24"/>
                </a:solidFill>
                <a:latin typeface="Arial"/>
              </a:rPr>
              <a:t>A good plan contains:</a:t>
            </a:r>
          </a:p>
        </p:txBody>
      </p:sp>
      <p:sp>
        <p:nvSpPr>
          <p:cNvPr id="8" name="TextBox 7"/>
          <p:cNvSpPr txBox="1"/>
          <p:nvPr/>
        </p:nvSpPr>
        <p:spPr>
          <a:xfrm>
            <a:off x="548640" y="3182112"/>
            <a:ext cx="11094415" cy="1953260"/>
          </a:xfrm>
          <a:prstGeom prst="rect">
            <a:avLst/>
          </a:prstGeom>
          <a:noFill/>
        </p:spPr>
        <p:txBody>
          <a:bodyPr wrap="square" lIns="0" tIns="0" rIns="0" bIns="0">
            <a:spAutoFit/>
          </a:bodyPr>
          <a:lstStyle/>
          <a:p>
            <a:pPr marL="256032" indent="-256032">
              <a:spcAft>
                <a:spcPts val="700"/>
              </a:spcAft>
              <a:buClr>
                <a:srgbClr val="0E5A8A"/>
              </a:buClr>
              <a:buFont typeface="Arial"/>
              <a:buAutoNum type="arabicPeriod"/>
            </a:pPr>
            <a:r>
              <a:rPr sz="1600" b="0" i="0">
                <a:solidFill>
                  <a:srgbClr val="1B1F24"/>
                </a:solidFill>
                <a:latin typeface="Arial"/>
              </a:rPr>
              <a:t>Reshape the state to an </a:t>
            </a:r>
            <a:r>
              <a:rPr sz="1472" b="0" i="0">
                <a:solidFill>
                  <a:srgbClr val="1B1F24"/>
                </a:solidFill>
                <a:highlight>
                  <a:srgbClr val="EEF1F4"/>
                </a:highlight>
                <a:latin typeface="Menlo"/>
              </a:rPr>
              <a:t>n</a:t>
            </a:r>
            <a:r>
              <a:rPr sz="1600" b="0" i="0">
                <a:solidFill>
                  <a:srgbClr val="1B1F24"/>
                </a:solidFill>
                <a:latin typeface="Arial"/>
              </a:rPr>
              <a:t>-axis tensor of shape </a:t>
            </a:r>
            <a:r>
              <a:rPr sz="1472" b="0" i="0">
                <a:solidFill>
                  <a:srgbClr val="1B1F24"/>
                </a:solidFill>
                <a:highlight>
                  <a:srgbClr val="EEF1F4"/>
                </a:highlight>
                <a:latin typeface="Menlo"/>
              </a:rPr>
              <a:t>(2,)*n</a:t>
            </a:r>
            <a:r>
              <a:rPr sz="1600" b="0" i="0">
                <a:solidFill>
                  <a:srgbClr val="1B1F24"/>
                </a:solidFill>
                <a:latin typeface="Arial"/>
              </a:rPr>
              <a:t>; qubit </a:t>
            </a:r>
            <a:r>
              <a:rPr sz="1472" b="0" i="0">
                <a:solidFill>
                  <a:srgbClr val="1B1F24"/>
                </a:solidFill>
                <a:highlight>
                  <a:srgbClr val="EEF1F4"/>
                </a:highlight>
                <a:latin typeface="Menlo"/>
              </a:rPr>
              <a:t>j</a:t>
            </a:r>
            <a:r>
              <a:rPr sz="1600" b="0" i="0">
                <a:solidFill>
                  <a:srgbClr val="1B1F24"/>
                </a:solidFill>
                <a:latin typeface="Arial"/>
              </a:rPr>
              <a:t> is axis </a:t>
            </a:r>
            <a:r>
              <a:rPr sz="1472" b="0" i="0">
                <a:solidFill>
                  <a:srgbClr val="1B1F24"/>
                </a:solidFill>
                <a:highlight>
                  <a:srgbClr val="EEF1F4"/>
                </a:highlight>
                <a:latin typeface="Menlo"/>
              </a:rPr>
              <a:t>n-1-j</a:t>
            </a:r>
            <a:r>
              <a:rPr sz="1600" b="0" i="0">
                <a:solidFill>
                  <a:srgbClr val="1B1F24"/>
                </a:solidFill>
                <a:latin typeface="Arial"/>
              </a:rPr>
              <a:t> in C order.</a:t>
            </a:r>
          </a:p>
          <a:p>
            <a:pPr marL="256032" indent="-256032">
              <a:spcAft>
                <a:spcPts val="700"/>
              </a:spcAft>
              <a:buClr>
                <a:srgbClr val="0E5A8A"/>
              </a:buClr>
              <a:buFont typeface="Arial"/>
              <a:buAutoNum type="arabicPeriod"/>
            </a:pPr>
            <a:r>
              <a:rPr sz="1600" b="0" i="0">
                <a:solidFill>
                  <a:srgbClr val="1B1F24"/>
                </a:solidFill>
                <a:latin typeface="Arial"/>
              </a:rPr>
              <a:t>1-qubit gate: </a:t>
            </a:r>
            <a:r>
              <a:rPr sz="1472" b="0" i="0">
                <a:solidFill>
                  <a:srgbClr val="1B1F24"/>
                </a:solidFill>
                <a:highlight>
                  <a:srgbClr val="EEF1F4"/>
                </a:highlight>
                <a:latin typeface="Menlo"/>
              </a:rPr>
              <a:t>np.tensordot(U, psi, axes=[[1],[ax]])</a:t>
            </a:r>
            <a:r>
              <a:rPr sz="1600" b="0" i="0">
                <a:solidFill>
                  <a:srgbClr val="1B1F24"/>
                </a:solidFill>
                <a:latin typeface="Arial"/>
              </a:rPr>
              <a:t>, then </a:t>
            </a:r>
            <a:r>
              <a:rPr sz="1472" b="0" i="0">
                <a:solidFill>
                  <a:srgbClr val="1B1F24"/>
                </a:solidFill>
                <a:highlight>
                  <a:srgbClr val="EEF1F4"/>
                </a:highlight>
                <a:latin typeface="Menlo"/>
              </a:rPr>
              <a:t>np.moveaxis</a:t>
            </a:r>
            <a:r>
              <a:rPr sz="1600" b="0" i="0">
                <a:solidFill>
                  <a:srgbClr val="1B1F24"/>
                </a:solidFill>
                <a:latin typeface="Arial"/>
              </a:rPr>
              <a:t> back. O(2</a:t>
            </a:r>
            <a:r>
              <a:rPr sz="1600" b="0" i="0" baseline="30000">
                <a:solidFill>
                  <a:srgbClr val="1B1F24"/>
                </a:solidFill>
                <a:latin typeface="Arial"/>
              </a:rPr>
              <a:t>n</a:t>
            </a:r>
            <a:r>
              <a:rPr sz="1600" b="0" i="0">
                <a:solidFill>
                  <a:srgbClr val="1B1F24"/>
                </a:solidFill>
                <a:latin typeface="Arial"/>
              </a:rPr>
              <a:t>).</a:t>
            </a:r>
          </a:p>
          <a:p>
            <a:pPr marL="256032" indent="-256032">
              <a:spcAft>
                <a:spcPts val="700"/>
              </a:spcAft>
              <a:buClr>
                <a:srgbClr val="0E5A8A"/>
              </a:buClr>
              <a:buFont typeface="Arial"/>
              <a:buAutoNum type="arabicPeriod"/>
            </a:pPr>
            <a:r>
              <a:rPr sz="1600" b="0" i="0">
                <a:solidFill>
                  <a:srgbClr val="1B1F24"/>
                </a:solidFill>
                <a:latin typeface="Arial"/>
              </a:rPr>
              <a:t>2-qubit gate on adjacent </a:t>
            </a:r>
            <a:r>
              <a:rPr sz="1472" b="0" i="0">
                <a:solidFill>
                  <a:srgbClr val="1B1F24"/>
                </a:solidFill>
                <a:highlight>
                  <a:srgbClr val="EEF1F4"/>
                </a:highlight>
                <a:latin typeface="Menlo"/>
              </a:rPr>
              <a:t>(j, j+1)</a:t>
            </a:r>
            <a:r>
              <a:rPr sz="1600" b="0" i="0">
                <a:solidFill>
                  <a:srgbClr val="1B1F24"/>
                </a:solidFill>
                <a:latin typeface="Arial"/>
              </a:rPr>
              <a:t>: gather the </a:t>
            </a:r>
            <a:r>
              <a:rPr sz="1472" b="0" i="0">
                <a:solidFill>
                  <a:srgbClr val="1B1F24"/>
                </a:solidFill>
                <a:highlight>
                  <a:srgbClr val="EEF1F4"/>
                </a:highlight>
                <a:latin typeface="Menlo"/>
              </a:rPr>
              <a:t>2^(n-2)</a:t>
            </a:r>
            <a:r>
              <a:rPr sz="1600" b="0" i="0">
                <a:solidFill>
                  <a:srgbClr val="1B1F24"/>
                </a:solidFill>
                <a:latin typeface="Arial"/>
              </a:rPr>
              <a:t> groups of four amplitudes with bit arithmetic, apply </a:t>
            </a:r>
            <a:r>
              <a:rPr sz="1472" b="0" i="0">
                <a:solidFill>
                  <a:srgbClr val="1B1F24"/>
                </a:solidFill>
                <a:highlight>
                  <a:srgbClr val="EEF1F4"/>
                </a:highlight>
                <a:latin typeface="Menlo"/>
              </a:rPr>
              <a:t>U</a:t>
            </a:r>
            <a:r>
              <a:rPr sz="1600" b="0" i="0">
                <a:solidFill>
                  <a:srgbClr val="1B1F24"/>
                </a:solidFill>
                <a:latin typeface="Arial"/>
              </a:rPr>
              <a:t> as a batched 4×4 product. O(2</a:t>
            </a:r>
            <a:r>
              <a:rPr sz="1600" b="0" i="0" baseline="30000">
                <a:solidFill>
                  <a:srgbClr val="1B1F24"/>
                </a:solidFill>
                <a:latin typeface="Arial"/>
              </a:rPr>
              <a:t>n</a:t>
            </a:r>
            <a:r>
              <a:rPr sz="1600" b="0" i="0">
                <a:solidFill>
                  <a:srgbClr val="1B1F24"/>
                </a:solidFill>
                <a:latin typeface="Arial"/>
              </a:rPr>
              <a:t>).</a:t>
            </a:r>
          </a:p>
          <a:p>
            <a:pPr marL="256032" indent="-256032">
              <a:spcAft>
                <a:spcPts val="700"/>
              </a:spcAft>
              <a:buClr>
                <a:srgbClr val="0E5A8A"/>
              </a:buClr>
              <a:buFont typeface="Arial"/>
              <a:buAutoNum type="arabicPeriod"/>
            </a:pPr>
            <a:r>
              <a:rPr sz="1600" b="0" i="0">
                <a:solidFill>
                  <a:srgbClr val="1B1F24"/>
                </a:solidFill>
                <a:latin typeface="Arial"/>
              </a:rPr>
              <a:t>Tests: random circuits versus </a:t>
            </a:r>
            <a:r>
              <a:rPr sz="1472" b="0" i="0">
                <a:solidFill>
                  <a:srgbClr val="1B1F24"/>
                </a:solidFill>
                <a:highlight>
                  <a:srgbClr val="EEF1F4"/>
                </a:highlight>
                <a:latin typeface="Menlo"/>
              </a:rPr>
              <a:t>simulate</a:t>
            </a:r>
            <a:r>
              <a:rPr sz="1600" b="0" i="0">
                <a:solidFill>
                  <a:srgbClr val="1B1F24"/>
                </a:solidFill>
                <a:latin typeface="Arial"/>
              </a:rPr>
              <a:t>; an asymmetric-gate ordering test; norm check.</a:t>
            </a:r>
          </a:p>
          <a:p>
            <a:pPr marL="256032" indent="-256032">
              <a:spcAft>
                <a:spcPts val="700"/>
              </a:spcAft>
              <a:buClr>
                <a:srgbClr val="0E5A8A"/>
              </a:buClr>
              <a:buFont typeface="Arial"/>
              <a:buAutoNum type="arabicPeriod"/>
            </a:pPr>
            <a:r>
              <a:rPr sz="1600" b="0" i="0">
                <a:solidFill>
                  <a:srgbClr val="1B1F24"/>
                </a:solidFill>
                <a:latin typeface="Arial"/>
              </a:rPr>
              <a:t>Benchmark with a scaling test.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Step 3: tests before implementation</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19 / 25</a:t>
            </a:r>
          </a:p>
        </p:txBody>
      </p:sp>
      <p:sp>
        <p:nvSpPr>
          <p:cNvPr id="6" name="Rounded Rectangle 5"/>
          <p:cNvSpPr/>
          <p:nvPr/>
        </p:nvSpPr>
        <p:spPr>
          <a:xfrm>
            <a:off x="548640" y="1371600"/>
            <a:ext cx="11094415" cy="1170432"/>
          </a:xfrm>
          <a:prstGeom prst="roundRect">
            <a:avLst>
              <a:gd name="adj" fmla="val 6000"/>
            </a:avLst>
          </a:prstGeom>
          <a:solidFill>
            <a:srgbClr val="E9F1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t"/>
          <a:lstStyle/>
          <a:p>
            <a:pPr algn="l">
              <a:spcAft>
                <a:spcPts val="200"/>
              </a:spcAft>
            </a:pPr>
            <a:r>
              <a:rPr sz="900" b="1" i="0" cap="all" spc="150">
                <a:solidFill>
                  <a:srgbClr val="0E5A8A"/>
                </a:solidFill>
                <a:latin typeface="Arial"/>
              </a:rPr>
              <a:t>Prompt</a:t>
            </a:r>
          </a:p>
          <a:p>
            <a:pPr algn="l"/>
            <a:r>
              <a:rPr sz="1600" b="0" i="0">
                <a:solidFill>
                  <a:srgbClr val="1B1F24"/>
                </a:solidFill>
                <a:latin typeface="Arial"/>
              </a:rPr>
              <a:t>Write </a:t>
            </a:r>
            <a:r>
              <a:rPr sz="1472" b="0" i="0">
                <a:solidFill>
                  <a:srgbClr val="1B1F24"/>
                </a:solidFill>
                <a:highlight>
                  <a:srgbClr val="EEF1F4"/>
                </a:highlight>
                <a:latin typeface="Menlo"/>
              </a:rPr>
              <a:t>tests/test_simulator.py</a:t>
            </a:r>
            <a:r>
              <a:rPr sz="1600" b="0" i="0">
                <a:solidFill>
                  <a:srgbClr val="1B1F24"/>
                </a:solidFill>
                <a:latin typeface="Arial"/>
              </a:rPr>
              <a:t> with: (a) random circuits of H, Rz, CNOT on </a:t>
            </a:r>
            <a:r>
              <a:rPr sz="1472" b="0" i="0">
                <a:solidFill>
                  <a:srgbClr val="1B1F24"/>
                </a:solidFill>
                <a:highlight>
                  <a:srgbClr val="EEF1F4"/>
                </a:highlight>
                <a:latin typeface="Menlo"/>
              </a:rPr>
              <a:t>n = 2..6</a:t>
            </a:r>
            <a:r>
              <a:rPr sz="1600" b="0" i="0">
                <a:solidFill>
                  <a:srgbClr val="1B1F24"/>
                </a:solidFill>
                <a:latin typeface="Arial"/>
              </a:rPr>
              <a:t> compared against </a:t>
            </a:r>
            <a:r>
              <a:rPr sz="1472" b="0" i="0">
                <a:solidFill>
                  <a:srgbClr val="1B1F24"/>
                </a:solidFill>
                <a:highlight>
                  <a:srgbClr val="EEF1F4"/>
                </a:highlight>
                <a:latin typeface="Menlo"/>
              </a:rPr>
              <a:t>simulate</a:t>
            </a:r>
            <a:r>
              <a:rPr sz="1600" b="0" i="0">
                <a:solidFill>
                  <a:srgbClr val="1B1F24"/>
                </a:solidFill>
                <a:latin typeface="Arial"/>
              </a:rPr>
              <a:t> with </a:t>
            </a:r>
            <a:r>
              <a:rPr sz="1472" b="0" i="0">
                <a:solidFill>
                  <a:srgbClr val="1B1F24"/>
                </a:solidFill>
                <a:highlight>
                  <a:srgbClr val="EEF1F4"/>
                </a:highlight>
                <a:latin typeface="Menlo"/>
              </a:rPr>
              <a:t>np.allclose(atol=1e-10)</a:t>
            </a:r>
            <a:r>
              <a:rPr sz="1600" b="0" i="0">
                <a:solidFill>
                  <a:srgbClr val="1B1F24"/>
                </a:solidFill>
                <a:latin typeface="Arial"/>
              </a:rPr>
              <a:t>; (b) the Bell-like state from Exercise 1; (c) a test that fails if the 2-qubit subspace ordering is transposed; (d) norm preservation. Do not implement </a:t>
            </a:r>
            <a:r>
              <a:rPr sz="1472" b="0" i="0">
                <a:solidFill>
                  <a:srgbClr val="1B1F24"/>
                </a:solidFill>
                <a:highlight>
                  <a:srgbClr val="EEF1F4"/>
                </a:highlight>
                <a:latin typeface="Menlo"/>
              </a:rPr>
              <a:t>simulate_fast</a:t>
            </a:r>
            <a:r>
              <a:rPr sz="1600" b="0" i="0">
                <a:solidFill>
                  <a:srgbClr val="1B1F24"/>
                </a:solidFill>
                <a:latin typeface="Arial"/>
              </a:rPr>
              <a:t> yet; the tests should fail with </a:t>
            </a:r>
            <a:r>
              <a:rPr sz="1472" b="0" i="0">
                <a:solidFill>
                  <a:srgbClr val="1B1F24"/>
                </a:solidFill>
                <a:highlight>
                  <a:srgbClr val="EEF1F4"/>
                </a:highlight>
                <a:latin typeface="Menlo"/>
              </a:rPr>
              <a:t>ImportError</a:t>
            </a:r>
            <a:r>
              <a:rPr sz="1600" b="0" i="0">
                <a:solidFill>
                  <a:srgbClr val="1B1F24"/>
                </a:solidFill>
                <a:latin typeface="Arial"/>
              </a:rPr>
              <a:t>.</a:t>
            </a:r>
          </a:p>
        </p:txBody>
      </p:sp>
      <p:sp>
        <p:nvSpPr>
          <p:cNvPr id="7" name="TextBox 6"/>
          <p:cNvSpPr txBox="1"/>
          <p:nvPr/>
        </p:nvSpPr>
        <p:spPr>
          <a:xfrm>
            <a:off x="548640" y="2798064"/>
            <a:ext cx="11094415" cy="320040"/>
          </a:xfrm>
          <a:prstGeom prst="rect">
            <a:avLst/>
          </a:prstGeom>
          <a:noFill/>
        </p:spPr>
        <p:txBody>
          <a:bodyPr wrap="square" lIns="0" tIns="0" rIns="0" bIns="0" anchor="t">
            <a:spAutoFit/>
          </a:bodyPr>
          <a:lstStyle/>
          <a:p>
            <a:pPr algn="l"/>
            <a:r>
              <a:rPr sz="1700" b="0" i="0">
                <a:solidFill>
                  <a:srgbClr val="1B1F24"/>
                </a:solidFill>
                <a:latin typeface="Arial"/>
              </a:rPr>
              <a:t>Your review questions:</a:t>
            </a:r>
          </a:p>
        </p:txBody>
      </p:sp>
      <p:sp>
        <p:nvSpPr>
          <p:cNvPr id="8" name="TextBox 7"/>
          <p:cNvSpPr txBox="1"/>
          <p:nvPr/>
        </p:nvSpPr>
        <p:spPr>
          <a:xfrm>
            <a:off x="548640" y="3182112"/>
            <a:ext cx="11094415" cy="1287780"/>
          </a:xfrm>
          <a:prstGeom prst="rect">
            <a:avLst/>
          </a:prstGeom>
          <a:noFill/>
        </p:spPr>
        <p:txBody>
          <a:bodyPr wrap="square" lIns="0" tIns="0" rIns="0" bIns="0">
            <a:spAutoFit/>
          </a:bodyPr>
          <a:lstStyle/>
          <a:p>
            <a:pPr marL="256032" indent="-256032">
              <a:spcAft>
                <a:spcPts val="700"/>
              </a:spcAft>
              <a:buClr>
                <a:srgbClr val="0E5A8A"/>
              </a:buClr>
              <a:buFont typeface="Arial"/>
              <a:buChar char="•"/>
            </a:pPr>
            <a:r>
              <a:rPr sz="1600" b="0" i="0">
                <a:solidFill>
                  <a:srgbClr val="1B1F24"/>
                </a:solidFill>
                <a:latin typeface="Arial"/>
              </a:rPr>
              <a:t>Does (c) really discriminate? </a:t>
            </a:r>
            <a:r>
              <a:rPr sz="1472" b="0" i="0">
                <a:solidFill>
                  <a:srgbClr val="1B1F24"/>
                </a:solidFill>
                <a:highlight>
                  <a:srgbClr val="EEF1F4"/>
                </a:highlight>
                <a:latin typeface="Menlo"/>
              </a:rPr>
              <a:t>X_0|00&gt; = |01&gt;</a:t>
            </a:r>
            <a:r>
              <a:rPr sz="1600" b="0" i="0">
                <a:solidFill>
                  <a:srgbClr val="1B1F24"/>
                </a:solidFill>
                <a:latin typeface="Arial"/>
              </a:rPr>
              <a:t>, then </a:t>
            </a:r>
            <a:r>
              <a:rPr sz="1472" b="0" i="0">
                <a:solidFill>
                  <a:srgbClr val="1B1F24"/>
                </a:solidFill>
                <a:highlight>
                  <a:srgbClr val="EEF1F4"/>
                </a:highlight>
                <a:latin typeface="Menlo"/>
              </a:rPr>
              <a:t>CNOT</a:t>
            </a:r>
            <a:r>
              <a:rPr sz="1600" b="0" i="0">
                <a:solidFill>
                  <a:srgbClr val="1B1F24"/>
                </a:solidFill>
                <a:latin typeface="Arial"/>
              </a:rPr>
              <a:t> (control 0, target 1) gives </a:t>
            </a:r>
            <a:r>
              <a:rPr sz="1472" b="0" i="0">
                <a:solidFill>
                  <a:srgbClr val="1B1F24"/>
                </a:solidFill>
                <a:highlight>
                  <a:srgbClr val="EEF1F4"/>
                </a:highlight>
                <a:latin typeface="Menlo"/>
              </a:rPr>
              <a:t>|11&gt;</a:t>
            </a:r>
            <a:r>
              <a:rPr sz="1600" b="0" i="0">
                <a:solidFill>
                  <a:srgbClr val="1B1F24"/>
                </a:solidFill>
                <a:latin typeface="Arial"/>
              </a:rPr>
              <a:t>; with the transposed convention it gives </a:t>
            </a:r>
            <a:r>
              <a:rPr sz="1472" b="0" i="0">
                <a:solidFill>
                  <a:srgbClr val="1B1F24"/>
                </a:solidFill>
                <a:highlight>
                  <a:srgbClr val="EEF1F4"/>
                </a:highlight>
                <a:latin typeface="Menlo"/>
              </a:rPr>
              <a:t>|01&gt;</a:t>
            </a:r>
            <a:r>
              <a:rPr sz="1600" b="0" i="0">
                <a:solidFill>
                  <a:srgbClr val="1B1F24"/>
                </a:solidFill>
                <a:latin typeface="Arial"/>
              </a:rPr>
              <a:t>. Good. </a:t>
            </a:r>
            <a:r>
              <a:rPr sz="1472" b="0" i="0">
                <a:solidFill>
                  <a:srgbClr val="1B1F24"/>
                </a:solidFill>
                <a:highlight>
                  <a:srgbClr val="EEF1F4"/>
                </a:highlight>
                <a:latin typeface="Menlo"/>
              </a:rPr>
              <a:t>CZ</a:t>
            </a:r>
            <a:r>
              <a:rPr sz="1600" b="0" i="0">
                <a:solidFill>
                  <a:srgbClr val="1B1F24"/>
                </a:solidFill>
                <a:latin typeface="Arial"/>
              </a:rPr>
              <a:t> or </a:t>
            </a:r>
            <a:r>
              <a:rPr sz="1472" b="0" i="0">
                <a:solidFill>
                  <a:srgbClr val="1B1F24"/>
                </a:solidFill>
                <a:highlight>
                  <a:srgbClr val="EEF1F4"/>
                </a:highlight>
                <a:latin typeface="Menlo"/>
              </a:rPr>
              <a:t>H⊗H</a:t>
            </a:r>
            <a:r>
              <a:rPr sz="1600" b="0" i="0">
                <a:solidFill>
                  <a:srgbClr val="1B1F24"/>
                </a:solidFill>
                <a:latin typeface="Arial"/>
              </a:rPr>
              <a:t> would </a:t>
            </a:r>
            <a:r>
              <a:rPr sz="1600" b="1" i="0">
                <a:solidFill>
                  <a:srgbClr val="1B1F24"/>
                </a:solidFill>
                <a:latin typeface="Arial"/>
              </a:rPr>
              <a:t>not</a:t>
            </a:r>
            <a:r>
              <a:rPr sz="1600" b="0" i="0">
                <a:solidFill>
                  <a:srgbClr val="1B1F24"/>
                </a:solidFill>
                <a:latin typeface="Arial"/>
              </a:rPr>
              <a:t> discriminate: symmetric under qubit exchange.</a:t>
            </a:r>
          </a:p>
          <a:p>
            <a:pPr marL="256032" indent="-256032">
              <a:spcAft>
                <a:spcPts val="700"/>
              </a:spcAft>
              <a:buClr>
                <a:srgbClr val="0E5A8A"/>
              </a:buClr>
              <a:buFont typeface="Arial"/>
              <a:buChar char="•"/>
            </a:pPr>
            <a:r>
              <a:rPr sz="1600" b="0" i="0">
                <a:solidFill>
                  <a:srgbClr val="1B1F24"/>
                </a:solidFill>
                <a:latin typeface="Arial"/>
              </a:rPr>
              <a:t>Is </a:t>
            </a:r>
            <a:r>
              <a:rPr sz="1472" b="0" i="0">
                <a:solidFill>
                  <a:srgbClr val="1B1F24"/>
                </a:solidFill>
                <a:highlight>
                  <a:srgbClr val="EEF1F4"/>
                </a:highlight>
                <a:latin typeface="Menlo"/>
              </a:rPr>
              <a:t>atol</a:t>
            </a:r>
            <a:r>
              <a:rPr sz="1600" b="0" i="0">
                <a:solidFill>
                  <a:srgbClr val="1B1F24"/>
                </a:solidFill>
                <a:latin typeface="Arial"/>
              </a:rPr>
              <a:t> explicit? Is the random seed fixed?</a:t>
            </a:r>
          </a:p>
          <a:p>
            <a:pPr marL="256032" indent="-256032">
              <a:spcAft>
                <a:spcPts val="700"/>
              </a:spcAft>
              <a:buClr>
                <a:srgbClr val="0E5A8A"/>
              </a:buClr>
              <a:buFont typeface="Arial"/>
              <a:buChar char="•"/>
            </a:pPr>
            <a:r>
              <a:rPr sz="1600" b="0" i="0">
                <a:solidFill>
                  <a:srgbClr val="1B1F24"/>
                </a:solidFill>
                <a:latin typeface="Arial"/>
              </a:rPr>
              <a:t>Does any test compare </a:t>
            </a:r>
            <a:r>
              <a:rPr sz="1472" b="0" i="0">
                <a:solidFill>
                  <a:srgbClr val="1B1F24"/>
                </a:solidFill>
                <a:highlight>
                  <a:srgbClr val="EEF1F4"/>
                </a:highlight>
                <a:latin typeface="Menlo"/>
              </a:rPr>
              <a:t>simulate_fast</a:t>
            </a:r>
            <a:r>
              <a:rPr sz="1600" b="0" i="0">
                <a:solidFill>
                  <a:srgbClr val="1B1F24"/>
                </a:solidFill>
                <a:latin typeface="Arial"/>
              </a:rPr>
              <a:t> only against itself? Delete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Step 4: implement one piece, test, commit</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20 / 25</a:t>
            </a:r>
          </a:p>
        </p:txBody>
      </p:sp>
      <p:sp>
        <p:nvSpPr>
          <p:cNvPr id="6" name="Rounded Rectangle 5"/>
          <p:cNvSpPr/>
          <p:nvPr/>
        </p:nvSpPr>
        <p:spPr>
          <a:xfrm>
            <a:off x="548640" y="1371600"/>
            <a:ext cx="11094415" cy="682752"/>
          </a:xfrm>
          <a:prstGeom prst="roundRect">
            <a:avLst>
              <a:gd name="adj" fmla="val 6000"/>
            </a:avLst>
          </a:prstGeom>
          <a:solidFill>
            <a:srgbClr val="E9F1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t"/>
          <a:lstStyle/>
          <a:p>
            <a:pPr algn="l">
              <a:spcAft>
                <a:spcPts val="200"/>
              </a:spcAft>
            </a:pPr>
            <a:r>
              <a:rPr sz="900" b="1" i="0" cap="all" spc="150">
                <a:solidFill>
                  <a:srgbClr val="0E5A8A"/>
                </a:solidFill>
                <a:latin typeface="Arial"/>
              </a:rPr>
              <a:t>Prompt</a:t>
            </a:r>
          </a:p>
          <a:p>
            <a:pPr algn="l"/>
            <a:r>
              <a:rPr sz="1600" b="0" i="0">
                <a:solidFill>
                  <a:srgbClr val="1B1F24"/>
                </a:solidFill>
                <a:latin typeface="Arial"/>
              </a:rPr>
              <a:t>Implement </a:t>
            </a:r>
            <a:r>
              <a:rPr sz="1472" b="0" i="0">
                <a:solidFill>
                  <a:srgbClr val="1B1F24"/>
                </a:solidFill>
                <a:highlight>
                  <a:srgbClr val="EEF1F4"/>
                </a:highlight>
                <a:latin typeface="Menlo"/>
              </a:rPr>
              <a:t>apply_gate_1q_fast</a:t>
            </a:r>
            <a:r>
              <a:rPr sz="1600" b="0" i="0">
                <a:solidFill>
                  <a:srgbClr val="1B1F24"/>
                </a:solidFill>
                <a:latin typeface="Arial"/>
              </a:rPr>
              <a:t> only, following the plan. Run the tests.</a:t>
            </a:r>
          </a:p>
        </p:txBody>
      </p:sp>
      <p:sp>
        <p:nvSpPr>
          <p:cNvPr id="7" name="Rounded Rectangle 6"/>
          <p:cNvSpPr/>
          <p:nvPr/>
        </p:nvSpPr>
        <p:spPr>
          <a:xfrm>
            <a:off x="548640" y="2282952"/>
            <a:ext cx="11094415" cy="1517904"/>
          </a:xfrm>
          <a:prstGeom prst="roundRect">
            <a:avLst>
              <a:gd name="adj" fmla="val 4000"/>
            </a:avLst>
          </a:prstGeom>
          <a:solidFill>
            <a:srgbClr val="272822"/>
          </a:solidFill>
          <a:ln>
            <a:noFill/>
          </a:ln>
          <a:effectLst/>
        </p:spPr>
        <p:style>
          <a:lnRef idx="1">
            <a:schemeClr val="accent1"/>
          </a:lnRef>
          <a:fillRef idx="3">
            <a:schemeClr val="accent1"/>
          </a:fillRef>
          <a:effectRef idx="2">
            <a:schemeClr val="accent1"/>
          </a:effectRef>
          <a:fontRef idx="minor">
            <a:schemeClr val="lt1"/>
          </a:fontRef>
        </p:style>
        <p:txBody>
          <a:bodyPr wrap="none" lIns="182880" tIns="146304" rIns="182880" bIns="146304" rtlCol="0" anchor="t"/>
          <a:lstStyle/>
          <a:p>
            <a:pPr algn="l"/>
            <a:r>
              <a:rPr sz="1300" b="0">
                <a:solidFill>
                  <a:srgbClr val="F92672"/>
                </a:solidFill>
                <a:latin typeface="Menlo"/>
              </a:rPr>
              <a:t>def</a:t>
            </a:r>
            <a:r>
              <a:rPr sz="1300" b="0">
                <a:solidFill>
                  <a:srgbClr val="F8F8F2"/>
                </a:solidFill>
                <a:latin typeface="Menlo"/>
              </a:rPr>
              <a:t> </a:t>
            </a:r>
            <a:r>
              <a:rPr sz="1300" b="0">
                <a:solidFill>
                  <a:srgbClr val="A6E22E"/>
                </a:solidFill>
                <a:latin typeface="Menlo"/>
              </a:rPr>
              <a:t>apply_gate_1q_fast</a:t>
            </a:r>
            <a:r>
              <a:rPr sz="1300" b="0">
                <a:solidFill>
                  <a:srgbClr val="F8F8F2"/>
                </a:solidFill>
                <a:latin typeface="Menlo"/>
              </a:rPr>
              <a:t>(state, U, j):</a:t>
            </a:r>
          </a:p>
          <a:p>
            <a:pPr algn="l"/>
            <a:r>
              <a:rPr sz="1300" b="0">
                <a:solidFill>
                  <a:srgbClr val="F8F8F2"/>
                </a:solidFill>
                <a:latin typeface="Menlo"/>
              </a:rPr>
              <a:t>    n = </a:t>
            </a:r>
            <a:r>
              <a:rPr sz="1300" b="0">
                <a:solidFill>
                  <a:srgbClr val="66D9EF"/>
                </a:solidFill>
                <a:latin typeface="Menlo"/>
              </a:rPr>
              <a:t>int</a:t>
            </a:r>
            <a:r>
              <a:rPr sz="1300" b="0">
                <a:solidFill>
                  <a:srgbClr val="F8F8F2"/>
                </a:solidFill>
                <a:latin typeface="Menlo"/>
              </a:rPr>
              <a:t>(np.round(np.log2(</a:t>
            </a:r>
            <a:r>
              <a:rPr sz="1300" b="0">
                <a:solidFill>
                  <a:srgbClr val="66D9EF"/>
                </a:solidFill>
                <a:latin typeface="Menlo"/>
              </a:rPr>
              <a:t>len</a:t>
            </a:r>
            <a:r>
              <a:rPr sz="1300" b="0">
                <a:solidFill>
                  <a:srgbClr val="F8F8F2"/>
                </a:solidFill>
                <a:latin typeface="Menlo"/>
              </a:rPr>
              <a:t>(state))))</a:t>
            </a:r>
          </a:p>
          <a:p>
            <a:pPr algn="l"/>
            <a:r>
              <a:rPr sz="1300" b="0">
                <a:solidFill>
                  <a:srgbClr val="F8F8F2"/>
                </a:solidFill>
                <a:latin typeface="Menlo"/>
              </a:rPr>
              <a:t>    psi = state.reshape([</a:t>
            </a:r>
            <a:r>
              <a:rPr sz="1300" b="0">
                <a:solidFill>
                  <a:srgbClr val="AE81FF"/>
                </a:solidFill>
                <a:latin typeface="Menlo"/>
              </a:rPr>
              <a:t>2</a:t>
            </a:r>
            <a:r>
              <a:rPr sz="1300" b="0">
                <a:solidFill>
                  <a:srgbClr val="F8F8F2"/>
                </a:solidFill>
                <a:latin typeface="Menlo"/>
              </a:rPr>
              <a:t>] * n)</a:t>
            </a:r>
          </a:p>
          <a:p>
            <a:pPr algn="l"/>
            <a:r>
              <a:rPr sz="1300" b="0">
                <a:solidFill>
                  <a:srgbClr val="F8F8F2"/>
                </a:solidFill>
                <a:latin typeface="Menlo"/>
              </a:rPr>
              <a:t>    ax  = n - </a:t>
            </a:r>
            <a:r>
              <a:rPr sz="1300" b="0">
                <a:solidFill>
                  <a:srgbClr val="AE81FF"/>
                </a:solidFill>
                <a:latin typeface="Menlo"/>
              </a:rPr>
              <a:t>1</a:t>
            </a:r>
            <a:r>
              <a:rPr sz="1300" b="0">
                <a:solidFill>
                  <a:srgbClr val="F8F8F2"/>
                </a:solidFill>
                <a:latin typeface="Menlo"/>
              </a:rPr>
              <a:t> - j                                </a:t>
            </a:r>
            <a:r>
              <a:rPr sz="1300" b="0">
                <a:solidFill>
                  <a:srgbClr val="8A8A7A"/>
                </a:solidFill>
                <a:latin typeface="Menlo"/>
              </a:rPr>
              <a:t># qubit j &lt;-&gt; tensor axis n-1-j</a:t>
            </a:r>
          </a:p>
          <a:p>
            <a:pPr algn="l"/>
            <a:r>
              <a:rPr sz="1300" b="0">
                <a:solidFill>
                  <a:srgbClr val="F8F8F2"/>
                </a:solidFill>
                <a:latin typeface="Menlo"/>
              </a:rPr>
              <a:t>    psi = np.tensordot(U, psi, axes=[[</a:t>
            </a:r>
            <a:r>
              <a:rPr sz="1300" b="0">
                <a:solidFill>
                  <a:srgbClr val="AE81FF"/>
                </a:solidFill>
                <a:latin typeface="Menlo"/>
              </a:rPr>
              <a:t>1</a:t>
            </a:r>
            <a:r>
              <a:rPr sz="1300" b="0">
                <a:solidFill>
                  <a:srgbClr val="F8F8F2"/>
                </a:solidFill>
                <a:latin typeface="Menlo"/>
              </a:rPr>
              <a:t>], [ax]])   </a:t>
            </a:r>
            <a:r>
              <a:rPr sz="1300" b="0">
                <a:solidFill>
                  <a:srgbClr val="8A8A7A"/>
                </a:solidFill>
                <a:latin typeface="Menlo"/>
              </a:rPr>
              <a:t># new axis 0 is the output index</a:t>
            </a:r>
          </a:p>
          <a:p>
            <a:pPr algn="l"/>
            <a:r>
              <a:rPr sz="1300" b="0">
                <a:solidFill>
                  <a:srgbClr val="F8F8F2"/>
                </a:solidFill>
                <a:latin typeface="Menlo"/>
              </a:rPr>
              <a:t>    </a:t>
            </a:r>
            <a:r>
              <a:rPr sz="1300" b="0">
                <a:solidFill>
                  <a:srgbClr val="F92672"/>
                </a:solidFill>
                <a:latin typeface="Menlo"/>
              </a:rPr>
              <a:t>return</a:t>
            </a:r>
            <a:r>
              <a:rPr sz="1300" b="0">
                <a:solidFill>
                  <a:srgbClr val="F8F8F2"/>
                </a:solidFill>
                <a:latin typeface="Menlo"/>
              </a:rPr>
              <a:t> np.moveaxis(psi, </a:t>
            </a:r>
            <a:r>
              <a:rPr sz="1300" b="0">
                <a:solidFill>
                  <a:srgbClr val="AE81FF"/>
                </a:solidFill>
                <a:latin typeface="Menlo"/>
              </a:rPr>
              <a:t>0</a:t>
            </a:r>
            <a:r>
              <a:rPr sz="1300" b="0">
                <a:solidFill>
                  <a:srgbClr val="F8F8F2"/>
                </a:solidFill>
                <a:latin typeface="Menlo"/>
              </a:rPr>
              <a:t>, ax).reshape(-</a:t>
            </a:r>
            <a:r>
              <a:rPr sz="1300" b="0">
                <a:solidFill>
                  <a:srgbClr val="AE81FF"/>
                </a:solidFill>
                <a:latin typeface="Menlo"/>
              </a:rPr>
              <a:t>1</a:t>
            </a:r>
            <a:r>
              <a:rPr sz="1300" b="0">
                <a:solidFill>
                  <a:srgbClr val="F8F8F2"/>
                </a:solidFill>
                <a:latin typeface="Menlo"/>
              </a:rPr>
              <a:t>)</a:t>
            </a:r>
          </a:p>
        </p:txBody>
      </p:sp>
      <p:sp>
        <p:nvSpPr>
          <p:cNvPr id="8" name="TextBox 7"/>
          <p:cNvSpPr txBox="1"/>
          <p:nvPr/>
        </p:nvSpPr>
        <p:spPr>
          <a:xfrm>
            <a:off x="548640" y="4120895"/>
            <a:ext cx="11094415" cy="711200"/>
          </a:xfrm>
          <a:prstGeom prst="rect">
            <a:avLst/>
          </a:prstGeom>
          <a:noFill/>
        </p:spPr>
        <p:txBody>
          <a:bodyPr wrap="square" lIns="0" tIns="0" rIns="0" bIns="0">
            <a:spAutoFit/>
          </a:bodyPr>
          <a:lstStyle/>
          <a:p>
            <a:pPr marL="256032" indent="-256032">
              <a:spcAft>
                <a:spcPts val="700"/>
              </a:spcAft>
              <a:buClr>
                <a:srgbClr val="0E5A8A"/>
              </a:buClr>
              <a:buFont typeface="Arial"/>
              <a:buChar char="•"/>
            </a:pPr>
            <a:r>
              <a:rPr sz="1600" b="0" i="0" dirty="0">
                <a:solidFill>
                  <a:srgbClr val="1B1F24"/>
                </a:solidFill>
                <a:latin typeface="Arial"/>
              </a:rPr>
              <a:t>Before accepting, answer: why </a:t>
            </a:r>
            <a:r>
              <a:rPr sz="1472" b="0" i="0" dirty="0">
                <a:solidFill>
                  <a:srgbClr val="1B1F24"/>
                </a:solidFill>
                <a:highlight>
                  <a:srgbClr val="EEF1F4"/>
                </a:highlight>
                <a:latin typeface="Menlo"/>
              </a:rPr>
              <a:t>n-1-j</a:t>
            </a:r>
            <a:r>
              <a:rPr sz="1600" b="0" i="0" dirty="0">
                <a:solidFill>
                  <a:srgbClr val="1B1F24"/>
                </a:solidFill>
                <a:latin typeface="Arial"/>
              </a:rPr>
              <a:t>? What is the shape after </a:t>
            </a:r>
            <a:r>
              <a:rPr sz="1472" b="0" i="0" dirty="0" err="1">
                <a:solidFill>
                  <a:srgbClr val="1B1F24"/>
                </a:solidFill>
                <a:highlight>
                  <a:srgbClr val="EEF1F4"/>
                </a:highlight>
                <a:latin typeface="Menlo"/>
              </a:rPr>
              <a:t>tensordot</a:t>
            </a:r>
            <a:r>
              <a:rPr sz="1600" b="0" i="0" dirty="0">
                <a:solidFill>
                  <a:srgbClr val="1B1F24"/>
                </a:solidFill>
                <a:latin typeface="Arial"/>
              </a:rPr>
              <a:t>? Why </a:t>
            </a:r>
            <a:r>
              <a:rPr sz="1472" b="0" i="0" dirty="0" err="1">
                <a:solidFill>
                  <a:srgbClr val="1B1F24"/>
                </a:solidFill>
                <a:highlight>
                  <a:srgbClr val="EEF1F4"/>
                </a:highlight>
                <a:latin typeface="Menlo"/>
              </a:rPr>
              <a:t>moveaxis</a:t>
            </a:r>
            <a:r>
              <a:rPr sz="1600" b="0" i="0" dirty="0">
                <a:solidFill>
                  <a:srgbClr val="1B1F24"/>
                </a:solidFill>
                <a:latin typeface="Arial"/>
              </a:rPr>
              <a:t>? Does </a:t>
            </a:r>
            <a:r>
              <a:rPr sz="1472" b="0" i="0" dirty="0">
                <a:solidFill>
                  <a:srgbClr val="1B1F24"/>
                </a:solidFill>
                <a:highlight>
                  <a:srgbClr val="EEF1F4"/>
                </a:highlight>
                <a:latin typeface="Menlo"/>
              </a:rPr>
              <a:t>reshape(-1)</a:t>
            </a:r>
            <a:r>
              <a:rPr sz="1600" b="0" i="0" dirty="0">
                <a:solidFill>
                  <a:srgbClr val="1B1F24"/>
                </a:solidFill>
                <a:latin typeface="Arial"/>
              </a:rPr>
              <a:t> copy?</a:t>
            </a:r>
          </a:p>
          <a:p>
            <a:pPr marL="256032" indent="-256032">
              <a:spcAft>
                <a:spcPts val="700"/>
              </a:spcAft>
              <a:buClr>
                <a:srgbClr val="0E5A8A"/>
              </a:buClr>
              <a:buFont typeface="Arial"/>
              <a:buChar char="•"/>
            </a:pPr>
            <a:r>
              <a:rPr sz="1600" b="0" i="0" dirty="0">
                <a:solidFill>
                  <a:srgbClr val="1B1F24"/>
                </a:solidFill>
                <a:latin typeface="Arial"/>
              </a:rPr>
              <a:t>Tests pass, </a:t>
            </a:r>
            <a:r>
              <a:rPr sz="1472" b="0" i="0" dirty="0">
                <a:solidFill>
                  <a:srgbClr val="1B1F24"/>
                </a:solidFill>
                <a:highlight>
                  <a:srgbClr val="EEF1F4"/>
                </a:highlight>
                <a:latin typeface="Menlo"/>
              </a:rPr>
              <a:t>git commit -m "1-qubit gate via </a:t>
            </a:r>
            <a:r>
              <a:rPr sz="1472" b="0" i="0" dirty="0" err="1">
                <a:solidFill>
                  <a:srgbClr val="1B1F24"/>
                </a:solidFill>
                <a:highlight>
                  <a:srgbClr val="EEF1F4"/>
                </a:highlight>
                <a:latin typeface="Menlo"/>
              </a:rPr>
              <a:t>tensordot</a:t>
            </a:r>
            <a:r>
              <a:rPr sz="1472" b="0" i="0" dirty="0">
                <a:solidFill>
                  <a:srgbClr val="1B1F24"/>
                </a:solidFill>
                <a:highlight>
                  <a:srgbClr val="EEF1F4"/>
                </a:highlight>
                <a:latin typeface="Menlo"/>
              </a:rPr>
              <a:t>"</a:t>
            </a:r>
            <a:r>
              <a:rPr sz="1600" b="0" i="0" dirty="0">
                <a:solidFill>
                  <a:srgbClr val="1B1F24"/>
                </a:solidFill>
                <a:latin typeface="Arial"/>
              </a:rPr>
              <a:t>. Then the 2-qubit gate, then </a:t>
            </a:r>
            <a:r>
              <a:rPr sz="1472" b="0" i="0" dirty="0" err="1">
                <a:solidFill>
                  <a:srgbClr val="1B1F24"/>
                </a:solidFill>
                <a:highlight>
                  <a:srgbClr val="EEF1F4"/>
                </a:highlight>
                <a:latin typeface="Menlo"/>
              </a:rPr>
              <a:t>simulate_fast</a:t>
            </a:r>
            <a:r>
              <a:rPr sz="1600" b="0" i="0" dirty="0">
                <a:solidFill>
                  <a:srgbClr val="1B1F24"/>
                </a:solidFill>
                <a:latin typeface="Arial"/>
              </a:rPr>
              <a:t>. One commit each.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The 2-qubit gate: where conventions bite</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21 / 25</a:t>
            </a:r>
          </a:p>
        </p:txBody>
      </p:sp>
      <p:sp>
        <p:nvSpPr>
          <p:cNvPr id="6" name="Rounded Rectangle 5"/>
          <p:cNvSpPr/>
          <p:nvPr/>
        </p:nvSpPr>
        <p:spPr>
          <a:xfrm>
            <a:off x="548640" y="1371600"/>
            <a:ext cx="11094415" cy="2889503"/>
          </a:xfrm>
          <a:prstGeom prst="roundRect">
            <a:avLst>
              <a:gd name="adj" fmla="val 4000"/>
            </a:avLst>
          </a:prstGeom>
          <a:solidFill>
            <a:srgbClr val="272822"/>
          </a:solidFill>
          <a:ln>
            <a:noFill/>
          </a:ln>
          <a:effectLst/>
        </p:spPr>
        <p:style>
          <a:lnRef idx="1">
            <a:schemeClr val="accent1"/>
          </a:lnRef>
          <a:fillRef idx="3">
            <a:schemeClr val="accent1"/>
          </a:fillRef>
          <a:effectRef idx="2">
            <a:schemeClr val="accent1"/>
          </a:effectRef>
          <a:fontRef idx="minor">
            <a:schemeClr val="lt1"/>
          </a:fontRef>
        </p:style>
        <p:txBody>
          <a:bodyPr wrap="none" lIns="182880" tIns="146304" rIns="182880" bIns="146304" rtlCol="0" anchor="t"/>
          <a:lstStyle/>
          <a:p>
            <a:pPr algn="l"/>
            <a:r>
              <a:rPr sz="1200" b="0">
                <a:solidFill>
                  <a:srgbClr val="F92672"/>
                </a:solidFill>
                <a:latin typeface="Menlo"/>
              </a:rPr>
              <a:t>def</a:t>
            </a:r>
            <a:r>
              <a:rPr sz="1200" b="0">
                <a:solidFill>
                  <a:srgbClr val="F8F8F2"/>
                </a:solidFill>
                <a:latin typeface="Menlo"/>
              </a:rPr>
              <a:t> </a:t>
            </a:r>
            <a:r>
              <a:rPr sz="1200" b="0">
                <a:solidFill>
                  <a:srgbClr val="A6E22E"/>
                </a:solidFill>
                <a:latin typeface="Menlo"/>
              </a:rPr>
              <a:t>apply_gate_2q_fast</a:t>
            </a:r>
            <a:r>
              <a:rPr sz="1200" b="0">
                <a:solidFill>
                  <a:srgbClr val="F8F8F2"/>
                </a:solidFill>
                <a:latin typeface="Menlo"/>
              </a:rPr>
              <a:t>(state, U, j, k):</a:t>
            </a:r>
          </a:p>
          <a:p>
            <a:pPr algn="l"/>
            <a:r>
              <a:rPr sz="1200" b="0">
                <a:solidFill>
                  <a:srgbClr val="F8F8F2"/>
                </a:solidFill>
                <a:latin typeface="Menlo"/>
              </a:rPr>
              <a:t>    </a:t>
            </a:r>
            <a:r>
              <a:rPr sz="1200" b="0">
                <a:solidFill>
                  <a:srgbClr val="E6DB74"/>
                </a:solidFill>
                <a:latin typeface="Menlo"/>
              </a:rPr>
              <a:t>"""4x4 gate U on adjacent qubits j &lt; k = j+1. Subspace index b_j + 2*b_k."""</a:t>
            </a:r>
          </a:p>
          <a:p>
            <a:pPr algn="l"/>
            <a:r>
              <a:rPr sz="1200" b="0">
                <a:solidFill>
                  <a:srgbClr val="F8F8F2"/>
                </a:solidFill>
                <a:latin typeface="Menlo"/>
              </a:rPr>
              <a:t>    </a:t>
            </a:r>
            <a:r>
              <a:rPr sz="1200" b="0">
                <a:solidFill>
                  <a:srgbClr val="F92672"/>
                </a:solidFill>
                <a:latin typeface="Menlo"/>
              </a:rPr>
              <a:t>assert</a:t>
            </a:r>
            <a:r>
              <a:rPr sz="1200" b="0">
                <a:solidFill>
                  <a:srgbClr val="F8F8F2"/>
                </a:solidFill>
                <a:latin typeface="Menlo"/>
              </a:rPr>
              <a:t> k == j + </a:t>
            </a:r>
            <a:r>
              <a:rPr sz="1200" b="0">
                <a:solidFill>
                  <a:srgbClr val="AE81FF"/>
                </a:solidFill>
                <a:latin typeface="Menlo"/>
              </a:rPr>
              <a:t>1</a:t>
            </a:r>
          </a:p>
          <a:p>
            <a:pPr algn="l"/>
            <a:r>
              <a:rPr sz="1200" b="0">
                <a:solidFill>
                  <a:srgbClr val="F8F8F2"/>
                </a:solidFill>
                <a:latin typeface="Menlo"/>
              </a:rPr>
              <a:t>    state = state.copy()</a:t>
            </a:r>
          </a:p>
          <a:p>
            <a:pPr algn="l"/>
            <a:r>
              <a:rPr sz="1200" b="0">
                <a:solidFill>
                  <a:srgbClr val="F8F8F2"/>
                </a:solidFill>
                <a:latin typeface="Menlo"/>
              </a:rPr>
              <a:t>    pairs = np.arange(</a:t>
            </a:r>
            <a:r>
              <a:rPr sz="1200" b="0">
                <a:solidFill>
                  <a:srgbClr val="66D9EF"/>
                </a:solidFill>
                <a:latin typeface="Menlo"/>
              </a:rPr>
              <a:t>len</a:t>
            </a:r>
            <a:r>
              <a:rPr sz="1200" b="0">
                <a:solidFill>
                  <a:srgbClr val="F8F8F2"/>
                </a:solidFill>
                <a:latin typeface="Menlo"/>
              </a:rPr>
              <a:t>(state) &gt;&gt; </a:t>
            </a:r>
            <a:r>
              <a:rPr sz="1200" b="0">
                <a:solidFill>
                  <a:srgbClr val="AE81FF"/>
                </a:solidFill>
                <a:latin typeface="Menlo"/>
              </a:rPr>
              <a:t>2</a:t>
            </a:r>
            <a:r>
              <a:rPr sz="1200" b="0">
                <a:solidFill>
                  <a:srgbClr val="F8F8F2"/>
                </a:solidFill>
                <a:latin typeface="Menlo"/>
              </a:rPr>
              <a:t>, dtype=np.int64)  </a:t>
            </a:r>
            <a:r>
              <a:rPr sz="1200" b="0">
                <a:solidFill>
                  <a:srgbClr val="8A8A7A"/>
                </a:solidFill>
                <a:latin typeface="Menlo"/>
              </a:rPr>
              <a:t># 2^(n-2) reduced indices</a:t>
            </a:r>
          </a:p>
          <a:p>
            <a:pPr algn="l"/>
            <a:r>
              <a:rPr sz="1200" b="0">
                <a:solidFill>
                  <a:srgbClr val="F8F8F2"/>
                </a:solidFill>
                <a:latin typeface="Menlo"/>
              </a:rPr>
              <a:t>    low   = pairs &amp; ((</a:t>
            </a:r>
            <a:r>
              <a:rPr sz="1200" b="0">
                <a:solidFill>
                  <a:srgbClr val="AE81FF"/>
                </a:solidFill>
                <a:latin typeface="Menlo"/>
              </a:rPr>
              <a:t>1</a:t>
            </a:r>
            <a:r>
              <a:rPr sz="1200" b="0">
                <a:solidFill>
                  <a:srgbClr val="F8F8F2"/>
                </a:solidFill>
                <a:latin typeface="Menlo"/>
              </a:rPr>
              <a:t> &lt;&lt; j) - </a:t>
            </a:r>
            <a:r>
              <a:rPr sz="1200" b="0">
                <a:solidFill>
                  <a:srgbClr val="AE81FF"/>
                </a:solidFill>
                <a:latin typeface="Menlo"/>
              </a:rPr>
              <a:t>1</a:t>
            </a:r>
            <a:r>
              <a:rPr sz="1200" b="0">
                <a:solidFill>
                  <a:srgbClr val="F8F8F2"/>
                </a:solidFill>
                <a:latin typeface="Menlo"/>
              </a:rPr>
              <a:t>)                       </a:t>
            </a:r>
            <a:r>
              <a:rPr sz="1200" b="0">
                <a:solidFill>
                  <a:srgbClr val="8A8A7A"/>
                </a:solidFill>
                <a:latin typeface="Menlo"/>
              </a:rPr>
              <a:t># bits below j</a:t>
            </a:r>
          </a:p>
          <a:p>
            <a:pPr algn="l"/>
            <a:r>
              <a:rPr sz="1200" b="0">
                <a:solidFill>
                  <a:srgbClr val="F8F8F2"/>
                </a:solidFill>
                <a:latin typeface="Menlo"/>
              </a:rPr>
              <a:t>    high  = pairs &gt;&gt; j                                   </a:t>
            </a:r>
            <a:r>
              <a:rPr sz="1200" b="0">
                <a:solidFill>
                  <a:srgbClr val="8A8A7A"/>
                </a:solidFill>
                <a:latin typeface="Menlo"/>
              </a:rPr>
              <a:t># bits above k</a:t>
            </a:r>
          </a:p>
          <a:p>
            <a:pPr algn="l"/>
            <a:r>
              <a:rPr sz="1200" b="0">
                <a:solidFill>
                  <a:srgbClr val="F8F8F2"/>
                </a:solidFill>
                <a:latin typeface="Menlo"/>
              </a:rPr>
              <a:t>    base  = low | (high &lt;&lt; (j + </a:t>
            </a:r>
            <a:r>
              <a:rPr sz="1200" b="0">
                <a:solidFill>
                  <a:srgbClr val="AE81FF"/>
                </a:solidFill>
                <a:latin typeface="Menlo"/>
              </a:rPr>
              <a:t>2</a:t>
            </a:r>
            <a:r>
              <a:rPr sz="1200" b="0">
                <a:solidFill>
                  <a:srgbClr val="F8F8F2"/>
                </a:solidFill>
                <a:latin typeface="Menlo"/>
              </a:rPr>
              <a:t>))                      </a:t>
            </a:r>
            <a:r>
              <a:rPr sz="1200" b="0">
                <a:solidFill>
                  <a:srgbClr val="8A8A7A"/>
                </a:solidFill>
                <a:latin typeface="Menlo"/>
              </a:rPr>
              <a:t># bits j and k cleared</a:t>
            </a:r>
          </a:p>
          <a:p>
            <a:pPr algn="l"/>
            <a:r>
              <a:rPr sz="1200" b="0">
                <a:solidFill>
                  <a:srgbClr val="F8F8F2"/>
                </a:solidFill>
                <a:latin typeface="Menlo"/>
              </a:rPr>
              <a:t>    idx   = np.array([base,</a:t>
            </a:r>
          </a:p>
          <a:p>
            <a:pPr algn="l"/>
            <a:r>
              <a:rPr sz="1200" b="0">
                <a:solidFill>
                  <a:srgbClr val="F8F8F2"/>
                </a:solidFill>
                <a:latin typeface="Menlo"/>
              </a:rPr>
              <a:t>                      base | (</a:t>
            </a:r>
            <a:r>
              <a:rPr sz="1200" b="0">
                <a:solidFill>
                  <a:srgbClr val="AE81FF"/>
                </a:solidFill>
                <a:latin typeface="Menlo"/>
              </a:rPr>
              <a:t>1</a:t>
            </a:r>
            <a:r>
              <a:rPr sz="1200" b="0">
                <a:solidFill>
                  <a:srgbClr val="F8F8F2"/>
                </a:solidFill>
                <a:latin typeface="Menlo"/>
              </a:rPr>
              <a:t> &lt;&lt; j),                   </a:t>
            </a:r>
            <a:r>
              <a:rPr sz="1200" b="0">
                <a:solidFill>
                  <a:srgbClr val="8A8A7A"/>
                </a:solidFill>
                <a:latin typeface="Menlo"/>
              </a:rPr>
              <a:t># b_j=1, b_k=0 -&gt; subspace index 1</a:t>
            </a:r>
          </a:p>
          <a:p>
            <a:pPr algn="l"/>
            <a:r>
              <a:rPr sz="1200" b="0">
                <a:solidFill>
                  <a:srgbClr val="F8F8F2"/>
                </a:solidFill>
                <a:latin typeface="Menlo"/>
              </a:rPr>
              <a:t>                      base | (</a:t>
            </a:r>
            <a:r>
              <a:rPr sz="1200" b="0">
                <a:solidFill>
                  <a:srgbClr val="AE81FF"/>
                </a:solidFill>
                <a:latin typeface="Menlo"/>
              </a:rPr>
              <a:t>1</a:t>
            </a:r>
            <a:r>
              <a:rPr sz="1200" b="0">
                <a:solidFill>
                  <a:srgbClr val="F8F8F2"/>
                </a:solidFill>
                <a:latin typeface="Menlo"/>
              </a:rPr>
              <a:t> &lt;&lt; k),                   </a:t>
            </a:r>
            <a:r>
              <a:rPr sz="1200" b="0">
                <a:solidFill>
                  <a:srgbClr val="8A8A7A"/>
                </a:solidFill>
                <a:latin typeface="Menlo"/>
              </a:rPr>
              <a:t># b_j=0, b_k=1 -&gt; subspace index 2</a:t>
            </a:r>
          </a:p>
          <a:p>
            <a:pPr algn="l"/>
            <a:r>
              <a:rPr sz="1200" b="0">
                <a:solidFill>
                  <a:srgbClr val="F8F8F2"/>
                </a:solidFill>
                <a:latin typeface="Menlo"/>
              </a:rPr>
              <a:t>                      base | (</a:t>
            </a:r>
            <a:r>
              <a:rPr sz="1200" b="0">
                <a:solidFill>
                  <a:srgbClr val="AE81FF"/>
                </a:solidFill>
                <a:latin typeface="Menlo"/>
              </a:rPr>
              <a:t>1</a:t>
            </a:r>
            <a:r>
              <a:rPr sz="1200" b="0">
                <a:solidFill>
                  <a:srgbClr val="F8F8F2"/>
                </a:solidFill>
                <a:latin typeface="Menlo"/>
              </a:rPr>
              <a:t> &lt;&lt; j) | (</a:t>
            </a:r>
            <a:r>
              <a:rPr sz="1200" b="0">
                <a:solidFill>
                  <a:srgbClr val="AE81FF"/>
                </a:solidFill>
                <a:latin typeface="Menlo"/>
              </a:rPr>
              <a:t>1</a:t>
            </a:r>
            <a:r>
              <a:rPr sz="1200" b="0">
                <a:solidFill>
                  <a:srgbClr val="F8F8F2"/>
                </a:solidFill>
                <a:latin typeface="Menlo"/>
              </a:rPr>
              <a:t> &lt;&lt; k)])       </a:t>
            </a:r>
            <a:r>
              <a:rPr sz="1200" b="0">
                <a:solidFill>
                  <a:srgbClr val="8A8A7A"/>
                </a:solidFill>
                <a:latin typeface="Menlo"/>
              </a:rPr>
              <a:t># b_j=1, b_k=1 -&gt; subspace index 3</a:t>
            </a:r>
          </a:p>
          <a:p>
            <a:pPr algn="l"/>
            <a:r>
              <a:rPr sz="1200" b="0">
                <a:solidFill>
                  <a:srgbClr val="F8F8F2"/>
                </a:solidFill>
                <a:latin typeface="Menlo"/>
              </a:rPr>
              <a:t>    state[idx] = U @ state[idx]                          </a:t>
            </a:r>
            <a:r>
              <a:rPr sz="1200" b="0">
                <a:solidFill>
                  <a:srgbClr val="8A8A7A"/>
                </a:solidFill>
                <a:latin typeface="Menlo"/>
              </a:rPr>
              <a:t># batched 4x4 matrix-vector product</a:t>
            </a:r>
          </a:p>
          <a:p>
            <a:pPr algn="l"/>
            <a:r>
              <a:rPr sz="1200" b="0">
                <a:solidFill>
                  <a:srgbClr val="F8F8F2"/>
                </a:solidFill>
                <a:latin typeface="Menlo"/>
              </a:rPr>
              <a:t>    </a:t>
            </a:r>
            <a:r>
              <a:rPr sz="1200" b="0">
                <a:solidFill>
                  <a:srgbClr val="F92672"/>
                </a:solidFill>
                <a:latin typeface="Menlo"/>
              </a:rPr>
              <a:t>return</a:t>
            </a:r>
            <a:r>
              <a:rPr sz="1200" b="0">
                <a:solidFill>
                  <a:srgbClr val="F8F8F2"/>
                </a:solidFill>
                <a:latin typeface="Menlo"/>
              </a:rPr>
              <a:t> state</a:t>
            </a:r>
          </a:p>
        </p:txBody>
      </p:sp>
      <p:sp>
        <p:nvSpPr>
          <p:cNvPr id="7" name="TextBox 6"/>
          <p:cNvSpPr txBox="1"/>
          <p:nvPr/>
        </p:nvSpPr>
        <p:spPr>
          <a:xfrm>
            <a:off x="548640" y="4535424"/>
            <a:ext cx="11094415" cy="711200"/>
          </a:xfrm>
          <a:prstGeom prst="rect">
            <a:avLst/>
          </a:prstGeom>
          <a:noFill/>
        </p:spPr>
        <p:txBody>
          <a:bodyPr wrap="square" lIns="0" tIns="0" rIns="0" bIns="0">
            <a:spAutoFit/>
          </a:bodyPr>
          <a:lstStyle/>
          <a:p>
            <a:pPr marL="256032" indent="-256032">
              <a:spcAft>
                <a:spcPts val="700"/>
              </a:spcAft>
              <a:buClr>
                <a:srgbClr val="0E5A8A"/>
              </a:buClr>
              <a:buFont typeface="Arial"/>
              <a:buChar char="•"/>
            </a:pPr>
            <a:r>
              <a:rPr sz="1600" b="0" i="0">
                <a:solidFill>
                  <a:srgbClr val="1B1F24"/>
                </a:solidFill>
                <a:latin typeface="Arial"/>
              </a:rPr>
              <a:t>The row order of </a:t>
            </a:r>
            <a:r>
              <a:rPr sz="1472" b="0" i="0">
                <a:solidFill>
                  <a:srgbClr val="1B1F24"/>
                </a:solidFill>
                <a:highlight>
                  <a:srgbClr val="EEF1F4"/>
                </a:highlight>
                <a:latin typeface="Menlo"/>
              </a:rPr>
              <a:t>idx</a:t>
            </a:r>
            <a:r>
              <a:rPr sz="1600" b="0" i="0">
                <a:solidFill>
                  <a:srgbClr val="1B1F24"/>
                </a:solidFill>
                <a:latin typeface="Arial"/>
              </a:rPr>
              <a:t> </a:t>
            </a:r>
            <a:r>
              <a:rPr sz="1600" b="1" i="0">
                <a:solidFill>
                  <a:srgbClr val="1B1F24"/>
                </a:solidFill>
                <a:latin typeface="Arial"/>
              </a:rPr>
              <a:t>is</a:t>
            </a:r>
            <a:r>
              <a:rPr sz="1600" b="0" i="0">
                <a:solidFill>
                  <a:srgbClr val="1B1F24"/>
                </a:solidFill>
                <a:latin typeface="Arial"/>
              </a:rPr>
              <a:t> the convention. Swap rows 1 and 2: every asymmetric gate is wrong, every symmetric test still passes.</a:t>
            </a:r>
          </a:p>
          <a:p>
            <a:pPr marL="256032" indent="-256032">
              <a:spcAft>
                <a:spcPts val="700"/>
              </a:spcAft>
              <a:buClr>
                <a:srgbClr val="0E5A8A"/>
              </a:buClr>
              <a:buFont typeface="Arial"/>
              <a:buChar char="•"/>
            </a:pPr>
            <a:r>
              <a:rPr sz="1600" b="0" i="0">
                <a:solidFill>
                  <a:srgbClr val="1B1F24"/>
                </a:solidFill>
                <a:latin typeface="Arial"/>
              </a:rPr>
              <a:t>Ask the agent to explain </a:t>
            </a:r>
            <a:r>
              <a:rPr sz="1472" b="0" i="0">
                <a:solidFill>
                  <a:srgbClr val="1B1F24"/>
                </a:solidFill>
                <a:highlight>
                  <a:srgbClr val="EEF1F4"/>
                </a:highlight>
                <a:latin typeface="Menlo"/>
              </a:rPr>
              <a:t>base = low | (high &lt;&lt; (j+2))</a:t>
            </a:r>
            <a:r>
              <a:rPr sz="1600" b="0" i="0">
                <a:solidFill>
                  <a:srgbClr val="1B1F24"/>
                </a:solidFill>
                <a:latin typeface="Arial"/>
              </a:rPr>
              <a:t> with a 5-bit example. Check it by hand.</a:t>
            </a:r>
          </a:p>
        </p:txBody>
      </p:sp>
      <p:sp>
        <p:nvSpPr>
          <p:cNvPr id="8" name="TextBox 7">
            <a:extLst>
              <a:ext uri="{FF2B5EF4-FFF2-40B4-BE49-F238E27FC236}">
                <a16:creationId xmlns:a16="http://schemas.microsoft.com/office/drawing/2014/main" id="{8D28D709-0281-0AFD-5C77-7D2FA19A0286}"/>
              </a:ext>
            </a:extLst>
          </p:cNvPr>
          <p:cNvSpPr txBox="1"/>
          <p:nvPr/>
        </p:nvSpPr>
        <p:spPr>
          <a:xfrm>
            <a:off x="713079" y="5648190"/>
            <a:ext cx="4913376" cy="369332"/>
          </a:xfrm>
          <a:prstGeom prst="rect">
            <a:avLst/>
          </a:prstGeom>
          <a:noFill/>
        </p:spPr>
        <p:txBody>
          <a:bodyPr wrap="square" rtlCol="0">
            <a:spAutoFit/>
          </a:bodyPr>
          <a:lstStyle/>
          <a:p>
            <a:r>
              <a:rPr lang="en-US" dirty="0">
                <a:solidFill>
                  <a:schemeClr val="accent2"/>
                </a:solidFill>
              </a:rPr>
              <a:t>Grill Claude: Is neighboring qubits necessary?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Step 5: benchmark, then optimise</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22 / 25</a:t>
            </a:r>
          </a:p>
        </p:txBody>
      </p:sp>
      <p:sp>
        <p:nvSpPr>
          <p:cNvPr id="6" name="Rounded Rectangle 5"/>
          <p:cNvSpPr/>
          <p:nvPr/>
        </p:nvSpPr>
        <p:spPr>
          <a:xfrm>
            <a:off x="548640" y="1371600"/>
            <a:ext cx="11094415" cy="926591"/>
          </a:xfrm>
          <a:prstGeom prst="roundRect">
            <a:avLst>
              <a:gd name="adj" fmla="val 6000"/>
            </a:avLst>
          </a:prstGeom>
          <a:solidFill>
            <a:srgbClr val="E9F1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t"/>
          <a:lstStyle/>
          <a:p>
            <a:pPr algn="l">
              <a:spcAft>
                <a:spcPts val="200"/>
              </a:spcAft>
            </a:pPr>
            <a:r>
              <a:rPr sz="900" b="1" i="0" cap="all" spc="150">
                <a:solidFill>
                  <a:srgbClr val="0E5A8A"/>
                </a:solidFill>
                <a:latin typeface="Arial"/>
              </a:rPr>
              <a:t>Prompt</a:t>
            </a:r>
          </a:p>
          <a:p>
            <a:pPr algn="l"/>
            <a:r>
              <a:rPr sz="1600" b="0" i="0">
                <a:solidFill>
                  <a:srgbClr val="1B1F24"/>
                </a:solidFill>
                <a:latin typeface="Arial"/>
              </a:rPr>
              <a:t>Add </a:t>
            </a:r>
            <a:r>
              <a:rPr sz="1472" b="0" i="0">
                <a:solidFill>
                  <a:srgbClr val="1B1F24"/>
                </a:solidFill>
                <a:highlight>
                  <a:srgbClr val="EEF1F4"/>
                </a:highlight>
                <a:latin typeface="Menlo"/>
              </a:rPr>
              <a:t>bench.py</a:t>
            </a:r>
            <a:r>
              <a:rPr sz="1600" b="0" i="0">
                <a:solidFill>
                  <a:srgbClr val="1B1F24"/>
                </a:solidFill>
                <a:latin typeface="Arial"/>
              </a:rPr>
              <a:t>: time </a:t>
            </a:r>
            <a:r>
              <a:rPr sz="1472" b="0" i="0">
                <a:solidFill>
                  <a:srgbClr val="1B1F24"/>
                </a:solidFill>
                <a:highlight>
                  <a:srgbClr val="EEF1F4"/>
                </a:highlight>
                <a:latin typeface="Menlo"/>
              </a:rPr>
              <a:t>simulate</a:t>
            </a:r>
            <a:r>
              <a:rPr sz="1600" b="0" i="0">
                <a:solidFill>
                  <a:srgbClr val="1B1F24"/>
                </a:solidFill>
                <a:latin typeface="Arial"/>
              </a:rPr>
              <a:t> vs </a:t>
            </a:r>
            <a:r>
              <a:rPr sz="1472" b="0" i="0">
                <a:solidFill>
                  <a:srgbClr val="1B1F24"/>
                </a:solidFill>
                <a:highlight>
                  <a:srgbClr val="EEF1F4"/>
                </a:highlight>
                <a:latin typeface="Menlo"/>
              </a:rPr>
              <a:t>simulate_fast</a:t>
            </a:r>
            <a:r>
              <a:rPr sz="1600" b="0" i="0">
                <a:solidFill>
                  <a:srgbClr val="1B1F24"/>
                </a:solidFill>
                <a:latin typeface="Arial"/>
              </a:rPr>
              <a:t> on a layer of H and Rz on all qubits for </a:t>
            </a:r>
            <a:r>
              <a:rPr sz="1472" b="0" i="0">
                <a:solidFill>
                  <a:srgbClr val="1B1F24"/>
                </a:solidFill>
                <a:highlight>
                  <a:srgbClr val="EEF1F4"/>
                </a:highlight>
                <a:latin typeface="Menlo"/>
              </a:rPr>
              <a:t>n = 10, 12, 14</a:t>
            </a:r>
            <a:r>
              <a:rPr sz="1600" b="0" i="0">
                <a:solidFill>
                  <a:srgbClr val="1B1F24"/>
                </a:solidFill>
                <a:latin typeface="Arial"/>
              </a:rPr>
              <a:t>, three repetitions each; print the speedup and the ratio of times between consecutive </a:t>
            </a:r>
            <a:r>
              <a:rPr sz="1472" b="0" i="0">
                <a:solidFill>
                  <a:srgbClr val="1B1F24"/>
                </a:solidFill>
                <a:highlight>
                  <a:srgbClr val="EEF1F4"/>
                </a:highlight>
                <a:latin typeface="Menlo"/>
              </a:rPr>
              <a:t>n</a:t>
            </a:r>
            <a:r>
              <a:rPr sz="1600" b="0" i="0">
                <a:solidFill>
                  <a:srgbClr val="1B1F24"/>
                </a:solidFill>
                <a:latin typeface="Arial"/>
              </a:rPr>
              <a:t>.</a:t>
            </a:r>
          </a:p>
        </p:txBody>
      </p:sp>
      <p:sp>
        <p:nvSpPr>
          <p:cNvPr id="7" name="TextBox 6"/>
          <p:cNvSpPr txBox="1"/>
          <p:nvPr/>
        </p:nvSpPr>
        <p:spPr>
          <a:xfrm>
            <a:off x="548640" y="2618232"/>
            <a:ext cx="11094415" cy="1684020"/>
          </a:xfrm>
          <a:prstGeom prst="rect">
            <a:avLst/>
          </a:prstGeom>
          <a:noFill/>
        </p:spPr>
        <p:txBody>
          <a:bodyPr wrap="square" lIns="0" tIns="0" rIns="0" bIns="0">
            <a:spAutoFit/>
          </a:bodyPr>
          <a:lstStyle/>
          <a:p>
            <a:pPr marL="256032" indent="-256032">
              <a:spcAft>
                <a:spcPts val="900"/>
              </a:spcAft>
              <a:buClr>
                <a:srgbClr val="0E5A8A"/>
              </a:buClr>
              <a:buFont typeface="Arial"/>
              <a:buChar char="•"/>
            </a:pPr>
            <a:r>
              <a:rPr sz="1700" b="0" i="0">
                <a:solidFill>
                  <a:srgbClr val="1B1F24"/>
                </a:solidFill>
                <a:latin typeface="Arial"/>
              </a:rPr>
              <a:t>Expected: the fast version roughly </a:t>
            </a:r>
            <a:r>
              <a:rPr sz="1700" b="1" i="0">
                <a:solidFill>
                  <a:srgbClr val="1B1F24"/>
                </a:solidFill>
                <a:latin typeface="Arial"/>
              </a:rPr>
              <a:t>doubles</a:t>
            </a:r>
            <a:r>
              <a:rPr sz="1700" b="0" i="0">
                <a:solidFill>
                  <a:srgbClr val="1B1F24"/>
                </a:solidFill>
                <a:latin typeface="Arial"/>
              </a:rPr>
              <a:t> per added qubit, the naive one </a:t>
            </a:r>
            <a:r>
              <a:rPr sz="1700" b="1" i="0">
                <a:solidFill>
                  <a:srgbClr val="1B1F24"/>
                </a:solidFill>
                <a:latin typeface="Arial"/>
              </a:rPr>
              <a:t>quadruples</a:t>
            </a:r>
            <a:r>
              <a:rPr sz="1700" b="0" i="0">
                <a:solidFill>
                  <a:srgbClr val="1B1F24"/>
                </a:solidFill>
                <a:latin typeface="Arial"/>
              </a:rPr>
              <a:t>; the speedup grows with </a:t>
            </a:r>
            <a:r>
              <a:rPr sz="1564" b="0" i="0">
                <a:solidFill>
                  <a:srgbClr val="1B1F24"/>
                </a:solidFill>
                <a:highlight>
                  <a:srgbClr val="EEF1F4"/>
                </a:highlight>
                <a:latin typeface="Menlo"/>
              </a:rPr>
              <a:t>n</a:t>
            </a:r>
            <a:r>
              <a:rPr sz="1700" b="0" i="0">
                <a:solidFill>
                  <a:srgbClr val="1B1F24"/>
                </a:solidFill>
                <a:latin typeface="Arial"/>
              </a:rPr>
              <a:t>.</a:t>
            </a:r>
          </a:p>
          <a:p>
            <a:pPr marL="256032" indent="-256032">
              <a:spcAft>
                <a:spcPts val="900"/>
              </a:spcAft>
              <a:buClr>
                <a:srgbClr val="0E5A8A"/>
              </a:buClr>
              <a:buFont typeface="Arial"/>
              <a:buChar char="•"/>
            </a:pPr>
            <a:r>
              <a:rPr sz="1700" b="0" i="0">
                <a:solidFill>
                  <a:srgbClr val="1B1F24"/>
                </a:solidFill>
                <a:latin typeface="Arial"/>
              </a:rPr>
              <a:t>Only then: </a:t>
            </a:r>
            <a:r>
              <a:rPr sz="1700" b="0" i="1">
                <a:solidFill>
                  <a:srgbClr val="1B1F24"/>
                </a:solidFill>
                <a:latin typeface="Arial"/>
              </a:rPr>
              <a:t>“Profile </a:t>
            </a:r>
            <a:r>
              <a:rPr sz="1564" b="0" i="1">
                <a:solidFill>
                  <a:srgbClr val="1B1F24"/>
                </a:solidFill>
                <a:highlight>
                  <a:srgbClr val="EEF1F4"/>
                </a:highlight>
                <a:latin typeface="Menlo"/>
              </a:rPr>
              <a:t>simulate_fast</a:t>
            </a:r>
            <a:r>
              <a:rPr sz="1700" b="0" i="1">
                <a:solidFill>
                  <a:srgbClr val="1B1F24"/>
                </a:solidFill>
                <a:latin typeface="Arial"/>
              </a:rPr>
              <a:t> at </a:t>
            </a:r>
            <a:r>
              <a:rPr sz="1564" b="0" i="1">
                <a:solidFill>
                  <a:srgbClr val="1B1F24"/>
                </a:solidFill>
                <a:highlight>
                  <a:srgbClr val="EEF1F4"/>
                </a:highlight>
                <a:latin typeface="Menlo"/>
              </a:rPr>
              <a:t>n = 20</a:t>
            </a:r>
            <a:r>
              <a:rPr sz="1700" b="0" i="1">
                <a:solidFill>
                  <a:srgbClr val="1B1F24"/>
                </a:solidFill>
                <a:latin typeface="Arial"/>
              </a:rPr>
              <a:t> and propose the two most valuable optimisations with expected gain. Do not implement yet.”</a:t>
            </a:r>
            <a:r>
              <a:rPr sz="1700" b="0" i="0">
                <a:solidFill>
                  <a:srgbClr val="1B1F24"/>
                </a:solidFill>
                <a:latin typeface="Arial"/>
              </a:rPr>
              <a:t> Typical answers: keep the tensor form between gates (avoid the copy in </a:t>
            </a:r>
            <a:r>
              <a:rPr sz="1564" b="0" i="0">
                <a:solidFill>
                  <a:srgbClr val="1B1F24"/>
                </a:solidFill>
                <a:highlight>
                  <a:srgbClr val="EEF1F4"/>
                </a:highlight>
                <a:latin typeface="Menlo"/>
              </a:rPr>
              <a:t>reshape(-1)</a:t>
            </a:r>
            <a:r>
              <a:rPr sz="1700" b="0" i="0">
                <a:solidFill>
                  <a:srgbClr val="1B1F24"/>
                </a:solidFill>
                <a:latin typeface="Arial"/>
              </a:rPr>
              <a:t>), in-place 2-qubit update, fuse adjacent 1-qubit gates, Numba.</a:t>
            </a:r>
          </a:p>
          <a:p>
            <a:pPr marL="256032" indent="-256032">
              <a:spcAft>
                <a:spcPts val="900"/>
              </a:spcAft>
              <a:buClr>
                <a:srgbClr val="0E5A8A"/>
              </a:buClr>
              <a:buFont typeface="Arial"/>
              <a:buChar char="•"/>
            </a:pPr>
            <a:r>
              <a:rPr sz="1700" b="0" i="0">
                <a:solidFill>
                  <a:srgbClr val="1B1F24"/>
                </a:solidFill>
                <a:latin typeface="Arial"/>
              </a:rPr>
              <a:t>Rule: </a:t>
            </a:r>
            <a:r>
              <a:rPr sz="1700" b="1" i="0">
                <a:solidFill>
                  <a:srgbClr val="1B1F24"/>
                </a:solidFill>
                <a:latin typeface="Arial"/>
              </a:rPr>
              <a:t>measure before and after.</a:t>
            </a:r>
            <a:r>
              <a:rPr sz="1700" b="0" i="0">
                <a:solidFill>
                  <a:srgbClr val="1B1F24"/>
                </a:solidFill>
                <a:latin typeface="Arial"/>
              </a:rPr>
              <a:t> A proposed optimisation without a number is a hypothesis.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Failure cases 1 and 2</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23 / 25</a:t>
            </a:r>
          </a:p>
        </p:txBody>
      </p:sp>
      <p:graphicFrame>
        <p:nvGraphicFramePr>
          <p:cNvPr id="6" name="Table 5"/>
          <p:cNvGraphicFramePr>
            <a:graphicFrameLocks noGrp="1"/>
          </p:cNvGraphicFramePr>
          <p:nvPr/>
        </p:nvGraphicFramePr>
        <p:xfrm>
          <a:off x="548640" y="1371600"/>
          <a:ext cx="11094415" cy="2919984"/>
        </p:xfrm>
        <a:graphic>
          <a:graphicData uri="http://schemas.openxmlformats.org/drawingml/2006/table">
            <a:tbl>
              <a:tblPr/>
              <a:tblGrid>
                <a:gridCol w="1600200">
                  <a:extLst>
                    <a:ext uri="{9D8B030D-6E8A-4147-A177-3AD203B41FA5}">
                      <a16:colId xmlns:a16="http://schemas.microsoft.com/office/drawing/2014/main" val="20000"/>
                    </a:ext>
                  </a:extLst>
                </a:gridCol>
                <a:gridCol w="4745736">
                  <a:extLst>
                    <a:ext uri="{9D8B030D-6E8A-4147-A177-3AD203B41FA5}">
                      <a16:colId xmlns:a16="http://schemas.microsoft.com/office/drawing/2014/main" val="20001"/>
                    </a:ext>
                  </a:extLst>
                </a:gridCol>
                <a:gridCol w="4748479">
                  <a:extLst>
                    <a:ext uri="{9D8B030D-6E8A-4147-A177-3AD203B41FA5}">
                      <a16:colId xmlns:a16="http://schemas.microsoft.com/office/drawing/2014/main" val="20002"/>
                    </a:ext>
                  </a:extLst>
                </a:gridCol>
              </a:tblGrid>
              <a:tr h="323088">
                <a:tc>
                  <a:txBody>
                    <a:bodyPr/>
                    <a:lstStyle/>
                    <a:p>
                      <a:pPr algn="l"/>
                      <a:endParaRPr/>
                    </a:p>
                  </a:txBody>
                  <a:tcPr marL="82296" marR="82296">
                    <a:lnL w="0">
                      <a:noFill/>
                    </a:lnL>
                    <a:lnR w="0">
                      <a:noFill/>
                    </a:lnR>
                    <a:lnT w="0">
                      <a:noFill/>
                    </a:lnT>
                    <a:lnB w="19050" cap="flat" cmpd="sng" algn="ctr">
                      <a:solidFill>
                        <a:srgbClr val="0E5A8A"/>
                      </a:solidFill>
                      <a:prstDash val="solid"/>
                    </a:lnB>
                  </a:tcPr>
                </a:tc>
                <a:tc>
                  <a:txBody>
                    <a:bodyPr/>
                    <a:lstStyle/>
                    <a:p>
                      <a:pPr algn="l"/>
                      <a:r>
                        <a:rPr sz="1400" b="1" i="0">
                          <a:solidFill>
                            <a:srgbClr val="1B1F24"/>
                          </a:solidFill>
                          <a:latin typeface="Arial"/>
                        </a:rPr>
                        <a:t>1. Transposed convention</a:t>
                      </a:r>
                    </a:p>
                  </a:txBody>
                  <a:tcPr marL="82296" marR="82296">
                    <a:lnL w="0">
                      <a:noFill/>
                    </a:lnL>
                    <a:lnR w="0">
                      <a:noFill/>
                    </a:lnR>
                    <a:lnT w="0">
                      <a:noFill/>
                    </a:lnT>
                    <a:lnB w="19050" cap="flat" cmpd="sng" algn="ctr">
                      <a:solidFill>
                        <a:srgbClr val="0E5A8A"/>
                      </a:solidFill>
                      <a:prstDash val="solid"/>
                    </a:lnB>
                  </a:tcPr>
                </a:tc>
                <a:tc>
                  <a:txBody>
                    <a:bodyPr/>
                    <a:lstStyle/>
                    <a:p>
                      <a:pPr algn="l"/>
                      <a:r>
                        <a:rPr sz="1400" b="1" i="0">
                          <a:solidFill>
                            <a:srgbClr val="1B1F24"/>
                          </a:solidFill>
                          <a:latin typeface="Arial"/>
                        </a:rPr>
                        <a:t>2. The agent “fixed” the test</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749808">
                <a:tc>
                  <a:txBody>
                    <a:bodyPr/>
                    <a:lstStyle/>
                    <a:p>
                      <a:pPr algn="l"/>
                      <a:r>
                        <a:rPr sz="1400" b="1" i="0">
                          <a:solidFill>
                            <a:srgbClr val="1B1F24"/>
                          </a:solidFill>
                          <a:latin typeface="Arial"/>
                        </a:rPr>
                        <a:t>What happened</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Asked for the 2-qubit gate without restating the convention. The agent used the textbook ordering (qubit </a:t>
                      </a:r>
                      <a:r>
                        <a:rPr sz="1288" b="0" i="0">
                          <a:solidFill>
                            <a:srgbClr val="1B1F24"/>
                          </a:solidFill>
                          <a:highlight>
                            <a:srgbClr val="EEF1F4"/>
                          </a:highlight>
                          <a:latin typeface="Menlo"/>
                        </a:rPr>
                        <a:t>j</a:t>
                      </a:r>
                      <a:r>
                        <a:rPr sz="1400" b="0" i="0">
                          <a:solidFill>
                            <a:srgbClr val="1B1F24"/>
                          </a:solidFill>
                          <a:latin typeface="Arial"/>
                        </a:rPr>
                        <a:t> as the most significant bit of the subspace, i.e. big-endian).</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After a failing random-circuit test, it changed </a:t>
                      </a:r>
                      <a:r>
                        <a:rPr sz="1288" b="0" i="0">
                          <a:solidFill>
                            <a:srgbClr val="1B1F24"/>
                          </a:solidFill>
                          <a:highlight>
                            <a:srgbClr val="EEF1F4"/>
                          </a:highlight>
                          <a:latin typeface="Menlo"/>
                        </a:rPr>
                        <a:t>atol=1e-10</a:t>
                      </a:r>
                      <a:r>
                        <a:rPr sz="1400" b="0" i="0">
                          <a:solidFill>
                            <a:srgbClr val="1B1F24"/>
                          </a:solidFill>
                          <a:latin typeface="Arial"/>
                        </a:rPr>
                        <a:t> to </a:t>
                      </a:r>
                      <a:r>
                        <a:rPr sz="1288" b="0" i="0">
                          <a:solidFill>
                            <a:srgbClr val="1B1F24"/>
                          </a:solidFill>
                          <a:highlight>
                            <a:srgbClr val="EEF1F4"/>
                          </a:highlight>
                          <a:latin typeface="Menlo"/>
                        </a:rPr>
                        <a:t>atol=1e-2</a:t>
                      </a:r>
                      <a:r>
                        <a:rPr sz="1400" b="0" i="0">
                          <a:solidFill>
                            <a:srgbClr val="1B1F24"/>
                          </a:solidFill>
                          <a:latin typeface="Arial"/>
                        </a:rPr>
                        <a:t>; in another run it re-ordered the rows of </a:t>
                      </a:r>
                      <a:r>
                        <a:rPr sz="1288" b="0" i="0">
                          <a:solidFill>
                            <a:srgbClr val="1B1F24"/>
                          </a:solidFill>
                          <a:highlight>
                            <a:srgbClr val="EEF1F4"/>
                          </a:highlight>
                          <a:latin typeface="Menlo"/>
                        </a:rPr>
                        <a:t>CNOT_gate</a:t>
                      </a:r>
                      <a:r>
                        <a:rPr sz="1400" b="0" i="0">
                          <a:solidFill>
                            <a:srgbClr val="1B1F24"/>
                          </a:solidFill>
                          <a:latin typeface="Arial"/>
                        </a:rPr>
                        <a:t> in </a:t>
                      </a:r>
                      <a:r>
                        <a:rPr sz="1288" b="0" i="0">
                          <a:solidFill>
                            <a:srgbClr val="1B1F24"/>
                          </a:solidFill>
                          <a:highlight>
                            <a:srgbClr val="EEF1F4"/>
                          </a:highlight>
                          <a:latin typeface="Menlo"/>
                        </a:rPr>
                        <a:t>gates.py</a:t>
                      </a:r>
                      <a:r>
                        <a:rPr sz="1400" b="0" i="0">
                          <a:solidFill>
                            <a:srgbClr val="1B1F24"/>
                          </a:solidFill>
                          <a:latin typeface="Arial"/>
                        </a:rPr>
                        <a:t> “to match the convention”.</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536448">
                <a:tc>
                  <a:txBody>
                    <a:bodyPr/>
                    <a:lstStyle/>
                    <a:p>
                      <a:pPr algn="l"/>
                      <a:r>
                        <a:rPr sz="1400" b="1" i="0">
                          <a:solidFill>
                            <a:srgbClr val="1B1F24"/>
                          </a:solidFill>
                          <a:latin typeface="Arial"/>
                        </a:rPr>
                        <a:t>Why it looked fine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Its own first tests used </a:t>
                      </a:r>
                      <a:r>
                        <a:rPr sz="1288" b="0" i="0">
                          <a:solidFill>
                            <a:srgbClr val="1B1F24"/>
                          </a:solidFill>
                          <a:highlight>
                            <a:srgbClr val="EEF1F4"/>
                          </a:highlight>
                          <a:latin typeface="Menlo"/>
                        </a:rPr>
                        <a:t>CZ</a:t>
                      </a:r>
                      <a:r>
                        <a:rPr sz="1400" b="0" i="0">
                          <a:solidFill>
                            <a:srgbClr val="1B1F24"/>
                          </a:solidFill>
                          <a:latin typeface="Arial"/>
                        </a:rPr>
                        <a:t> and </a:t>
                      </a:r>
                      <a:r>
                        <a:rPr sz="1288" b="0" i="0">
                          <a:solidFill>
                            <a:srgbClr val="1B1F24"/>
                          </a:solidFill>
                          <a:highlight>
                            <a:srgbClr val="EEF1F4"/>
                          </a:highlight>
                          <a:latin typeface="Menlo"/>
                        </a:rPr>
                        <a:t>H⊗H</a:t>
                      </a:r>
                      <a:r>
                        <a:rPr sz="1400" b="0" i="0">
                          <a:solidFill>
                            <a:srgbClr val="1B1F24"/>
                          </a:solidFill>
                          <a:latin typeface="Arial"/>
                        </a:rPr>
                        <a:t>, both symmetric under qubit exchange.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Tests went green; the summary said “fixed the ordering issue”.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536448">
                <a:tc>
                  <a:txBody>
                    <a:bodyPr/>
                    <a:lstStyle/>
                    <a:p>
                      <a:pPr algn="l"/>
                      <a:r>
                        <a:rPr sz="1400" b="1" i="0">
                          <a:solidFill>
                            <a:srgbClr val="1B1F24"/>
                          </a:solidFill>
                          <a:latin typeface="Arial"/>
                        </a:rPr>
                        <a:t>How it was caught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The asymmetric ordering test from slide 19, and random circuits versus </a:t>
                      </a:r>
                      <a:r>
                        <a:rPr sz="1288" b="0" i="0">
                          <a:solidFill>
                            <a:srgbClr val="1B1F24"/>
                          </a:solidFill>
                          <a:highlight>
                            <a:srgbClr val="EEF1F4"/>
                          </a:highlight>
                          <a:latin typeface="Menlo"/>
                        </a:rPr>
                        <a:t>simulate</a:t>
                      </a:r>
                      <a:r>
                        <a:rPr sz="1400" b="0" i="0">
                          <a:solidFill>
                            <a:srgbClr val="1B1F24"/>
                          </a:solidFill>
                          <a:latin typeface="Arial"/>
                        </a:rPr>
                        <a: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288" b="0" i="0">
                          <a:solidFill>
                            <a:srgbClr val="1B1F24"/>
                          </a:solidFill>
                          <a:highlight>
                            <a:srgbClr val="EEF1F4"/>
                          </a:highlight>
                          <a:latin typeface="Menlo"/>
                        </a:rPr>
                        <a:t>git diff</a:t>
                      </a:r>
                      <a:r>
                        <a:rPr sz="1400" b="0" i="0">
                          <a:solidFill>
                            <a:srgbClr val="1B1F24"/>
                          </a:solidFill>
                          <a:latin typeface="Arial"/>
                        </a:rPr>
                        <a:t> showed changes in </a:t>
                      </a:r>
                      <a:r>
                        <a:rPr sz="1288" b="0" i="0">
                          <a:solidFill>
                            <a:srgbClr val="1B1F24"/>
                          </a:solidFill>
                          <a:highlight>
                            <a:srgbClr val="EEF1F4"/>
                          </a:highlight>
                          <a:latin typeface="Menlo"/>
                        </a:rPr>
                        <a:t>tests/</a:t>
                      </a:r>
                      <a:r>
                        <a:rPr sz="1400" b="0" i="0">
                          <a:solidFill>
                            <a:srgbClr val="1B1F24"/>
                          </a:solidFill>
                          <a:latin typeface="Arial"/>
                        </a:rPr>
                        <a:t> and </a:t>
                      </a:r>
                      <a:r>
                        <a:rPr sz="1288" b="0" i="0">
                          <a:solidFill>
                            <a:srgbClr val="1B1F24"/>
                          </a:solidFill>
                          <a:highlight>
                            <a:srgbClr val="EEF1F4"/>
                          </a:highlight>
                          <a:latin typeface="Menlo"/>
                        </a:rPr>
                        <a:t>gates.py</a:t>
                      </a:r>
                      <a:r>
                        <a:rPr sz="1400" b="0" i="0">
                          <a:solidFill>
                            <a:srgbClr val="1B1F24"/>
                          </a:solidFill>
                          <a:latin typeface="Arial"/>
                        </a:rPr>
                        <a:t>, neither in scope.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r h="536448">
                <a:tc>
                  <a:txBody>
                    <a:bodyPr/>
                    <a:lstStyle/>
                    <a:p>
                      <a:pPr algn="l"/>
                      <a:r>
                        <a:rPr sz="1400" b="1" i="0">
                          <a:solidFill>
                            <a:srgbClr val="1B1F24"/>
                          </a:solidFill>
                          <a:latin typeface="Arial"/>
                        </a:rPr>
                        <a:t>Rule added</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Convention written into </a:t>
                      </a:r>
                      <a:r>
                        <a:rPr sz="1288" b="0" i="0">
                          <a:solidFill>
                            <a:srgbClr val="1B1F24"/>
                          </a:solidFill>
                          <a:highlight>
                            <a:srgbClr val="EEF1F4"/>
                          </a:highlight>
                          <a:latin typeface="Menlo"/>
                        </a:rPr>
                        <a:t>CLAUDE.md</a:t>
                      </a:r>
                      <a:r>
                        <a:rPr sz="1400" b="0" i="0">
                          <a:solidFill>
                            <a:srgbClr val="1B1F24"/>
                          </a:solidFill>
                          <a:latin typeface="Arial"/>
                        </a:rPr>
                        <a:t>; the ordering test kept forever.</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“Never modify a test or </a:t>
                      </a:r>
                      <a:r>
                        <a:rPr sz="1288" b="0" i="0">
                          <a:solidFill>
                            <a:srgbClr val="1B1F24"/>
                          </a:solidFill>
                          <a:highlight>
                            <a:srgbClr val="EEF1F4"/>
                          </a:highlight>
                          <a:latin typeface="Menlo"/>
                        </a:rPr>
                        <a:t>gates.py</a:t>
                      </a:r>
                      <a:r>
                        <a:rPr sz="1400" b="0" i="0">
                          <a:solidFill>
                            <a:srgbClr val="1B1F24"/>
                          </a:solidFill>
                          <a:latin typeface="Arial"/>
                        </a:rPr>
                        <a:t> to make a test pass; ask.” Optionally a hook that blocks edits under </a:t>
                      </a:r>
                      <a:r>
                        <a:rPr sz="1288" b="0" i="0">
                          <a:solidFill>
                            <a:srgbClr val="1B1F24"/>
                          </a:solidFill>
                          <a:highlight>
                            <a:srgbClr val="EEF1F4"/>
                          </a:highlight>
                          <a:latin typeface="Menlo"/>
                        </a:rPr>
                        <a:t>tests/</a:t>
                      </a:r>
                      <a:r>
                        <a:rPr sz="1400" b="0" i="0">
                          <a:solidFill>
                            <a:srgbClr val="1B1F24"/>
                          </a:solidFill>
                          <a:latin typeface="Arial"/>
                        </a:rPr>
                        <a: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373880"/>
            <a:ext cx="11094415" cy="380999"/>
          </a:xfrm>
          <a:prstGeom prst="rect">
            <a:avLst/>
          </a:prstGeom>
          <a:noFill/>
        </p:spPr>
        <p:txBody>
          <a:bodyPr wrap="square" lIns="0" tIns="0" rIns="0" bIns="0">
            <a:spAutoFit/>
          </a:bodyPr>
          <a:lstStyle/>
          <a:p>
            <a:pPr marL="256032" indent="-256032">
              <a:spcAft>
                <a:spcPts val="600"/>
              </a:spcAft>
              <a:buClr>
                <a:srgbClr val="0E5A8A"/>
              </a:buClr>
              <a:buFont typeface="Arial"/>
              <a:buChar char="•"/>
            </a:pPr>
            <a:r>
              <a:rPr sz="1700" b="0" i="0">
                <a:solidFill>
                  <a:srgbClr val="1B1F24"/>
                </a:solidFill>
                <a:latin typeface="Arial"/>
              </a:rPr>
              <a:t>Lessons: a test must be able to fail; read the diff, not the summary; protect the oracle.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0E5A8A"/>
                </a:solidFill>
                <a:latin typeface="Arial"/>
              </a:rPr>
              <a:t>Part 2 · Case study</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Failure cases 3 and 4</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24 / 25</a:t>
            </a:r>
          </a:p>
        </p:txBody>
      </p:sp>
      <p:graphicFrame>
        <p:nvGraphicFramePr>
          <p:cNvPr id="6" name="Table 5"/>
          <p:cNvGraphicFramePr>
            <a:graphicFrameLocks noGrp="1"/>
          </p:cNvGraphicFramePr>
          <p:nvPr/>
        </p:nvGraphicFramePr>
        <p:xfrm>
          <a:off x="548640" y="1371600"/>
          <a:ext cx="11094415" cy="3346704"/>
        </p:xfrm>
        <a:graphic>
          <a:graphicData uri="http://schemas.openxmlformats.org/drawingml/2006/table">
            <a:tbl>
              <a:tblPr/>
              <a:tblGrid>
                <a:gridCol w="1600200">
                  <a:extLst>
                    <a:ext uri="{9D8B030D-6E8A-4147-A177-3AD203B41FA5}">
                      <a16:colId xmlns:a16="http://schemas.microsoft.com/office/drawing/2014/main" val="20000"/>
                    </a:ext>
                  </a:extLst>
                </a:gridCol>
                <a:gridCol w="4745736">
                  <a:extLst>
                    <a:ext uri="{9D8B030D-6E8A-4147-A177-3AD203B41FA5}">
                      <a16:colId xmlns:a16="http://schemas.microsoft.com/office/drawing/2014/main" val="20001"/>
                    </a:ext>
                  </a:extLst>
                </a:gridCol>
                <a:gridCol w="4748479">
                  <a:extLst>
                    <a:ext uri="{9D8B030D-6E8A-4147-A177-3AD203B41FA5}">
                      <a16:colId xmlns:a16="http://schemas.microsoft.com/office/drawing/2014/main" val="20002"/>
                    </a:ext>
                  </a:extLst>
                </a:gridCol>
              </a:tblGrid>
              <a:tr h="323088">
                <a:tc>
                  <a:txBody>
                    <a:bodyPr/>
                    <a:lstStyle/>
                    <a:p>
                      <a:pPr algn="l"/>
                      <a:endParaRPr/>
                    </a:p>
                  </a:txBody>
                  <a:tcPr marL="82296" marR="82296">
                    <a:lnL w="0">
                      <a:noFill/>
                    </a:lnL>
                    <a:lnR w="0">
                      <a:noFill/>
                    </a:lnR>
                    <a:lnT w="0">
                      <a:noFill/>
                    </a:lnT>
                    <a:lnB w="19050" cap="flat" cmpd="sng" algn="ctr">
                      <a:solidFill>
                        <a:srgbClr val="0E5A8A"/>
                      </a:solidFill>
                      <a:prstDash val="solid"/>
                    </a:lnB>
                  </a:tcPr>
                </a:tc>
                <a:tc>
                  <a:txBody>
                    <a:bodyPr/>
                    <a:lstStyle/>
                    <a:p>
                      <a:pPr algn="l"/>
                      <a:r>
                        <a:rPr sz="1400" b="1" i="0">
                          <a:solidFill>
                            <a:srgbClr val="1B1F24"/>
                          </a:solidFill>
                          <a:latin typeface="Arial"/>
                        </a:rPr>
                        <a:t>3. The fake speedup</a:t>
                      </a:r>
                    </a:p>
                  </a:txBody>
                  <a:tcPr marL="82296" marR="82296">
                    <a:lnL w="0">
                      <a:noFill/>
                    </a:lnL>
                    <a:lnR w="0">
                      <a:noFill/>
                    </a:lnR>
                    <a:lnT w="0">
                      <a:noFill/>
                    </a:lnT>
                    <a:lnB w="19050" cap="flat" cmpd="sng" algn="ctr">
                      <a:solidFill>
                        <a:srgbClr val="0E5A8A"/>
                      </a:solidFill>
                      <a:prstDash val="solid"/>
                    </a:lnB>
                  </a:tcPr>
                </a:tc>
                <a:tc>
                  <a:txBody>
                    <a:bodyPr/>
                    <a:lstStyle/>
                    <a:p>
                      <a:pPr algn="l"/>
                      <a:r>
                        <a:rPr sz="1400" b="1" i="0">
                          <a:solidFill>
                            <a:srgbClr val="1B1F24"/>
                          </a:solidFill>
                          <a:latin typeface="Arial"/>
                        </a:rPr>
                        <a:t>4. The removed assertion</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749808">
                <a:tc>
                  <a:txBody>
                    <a:bodyPr/>
                    <a:lstStyle/>
                    <a:p>
                      <a:pPr algn="l"/>
                      <a:r>
                        <a:rPr sz="1400" b="1" i="0">
                          <a:solidFill>
                            <a:srgbClr val="1B1F24"/>
                          </a:solidFill>
                          <a:latin typeface="Arial"/>
                        </a:rPr>
                        <a:t>What happened</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An early “fast” 2-qubit gate used </a:t>
                      </a:r>
                      <a:r>
                        <a:rPr sz="1288" b="0" i="0">
                          <a:solidFill>
                            <a:srgbClr val="1B1F24"/>
                          </a:solidFill>
                          <a:highlight>
                            <a:srgbClr val="EEF1F4"/>
                          </a:highlight>
                          <a:latin typeface="Menlo"/>
                        </a:rPr>
                        <a:t>np.einsum</a:t>
                      </a:r>
                      <a:r>
                        <a:rPr sz="1400" b="0" i="0">
                          <a:solidFill>
                            <a:srgbClr val="1B1F24"/>
                          </a:solidFill>
                          <a:latin typeface="Arial"/>
                        </a:rPr>
                        <a:t> on an explicitly built </a:t>
                      </a:r>
                      <a:r>
                        <a:rPr sz="1288" b="0" i="0">
                          <a:solidFill>
                            <a:srgbClr val="1B1F24"/>
                          </a:solidFill>
                          <a:highlight>
                            <a:srgbClr val="EEF1F4"/>
                          </a:highlight>
                          <a:latin typeface="Menlo"/>
                        </a:rPr>
                        <a:t>2^n × 2^n</a:t>
                      </a:r>
                      <a:r>
                        <a:rPr sz="1400" b="0" i="0">
                          <a:solidFill>
                            <a:srgbClr val="1B1F24"/>
                          </a:solidFill>
                          <a:latin typeface="Arial"/>
                        </a:rPr>
                        <a:t> operator hidden in a helper. It beat </a:t>
                      </a:r>
                      <a:r>
                        <a:rPr sz="1288" b="0" i="0">
                          <a:solidFill>
                            <a:srgbClr val="1B1F24"/>
                          </a:solidFill>
                          <a:highlight>
                            <a:srgbClr val="EEF1F4"/>
                          </a:highlight>
                          <a:latin typeface="Menlo"/>
                        </a:rPr>
                        <a:t>np.kron</a:t>
                      </a:r>
                      <a:r>
                        <a:rPr sz="1400" b="0" i="0">
                          <a:solidFill>
                            <a:srgbClr val="1B1F24"/>
                          </a:solidFill>
                          <a:latin typeface="Arial"/>
                        </a:rPr>
                        <a:t> by a constant and reported “12× speedup” at </a:t>
                      </a:r>
                      <a:r>
                        <a:rPr sz="1288" b="0" i="0">
                          <a:solidFill>
                            <a:srgbClr val="1B1F24"/>
                          </a:solidFill>
                          <a:highlight>
                            <a:srgbClr val="EEF1F4"/>
                          </a:highlight>
                          <a:latin typeface="Menlo"/>
                        </a:rPr>
                        <a:t>n = 10</a:t>
                      </a:r>
                      <a:r>
                        <a:rPr sz="1400" b="0" i="0">
                          <a:solidFill>
                            <a:srgbClr val="1B1F24"/>
                          </a:solidFill>
                          <a:latin typeface="Arial"/>
                        </a:rPr>
                        <a:t>.</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To “support non-adjacent qubits” the agent deleted </a:t>
                      </a:r>
                      <a:r>
                        <a:rPr sz="1288" b="0" i="0">
                          <a:solidFill>
                            <a:srgbClr val="1B1F24"/>
                          </a:solidFill>
                          <a:highlight>
                            <a:srgbClr val="EEF1F4"/>
                          </a:highlight>
                          <a:latin typeface="Menlo"/>
                        </a:rPr>
                        <a:t>assert k == j + 1</a:t>
                      </a:r>
                      <a:r>
                        <a:rPr sz="1400" b="0" i="0">
                          <a:solidFill>
                            <a:srgbClr val="1B1F24"/>
                          </a:solidFill>
                          <a:latin typeface="Arial"/>
                        </a:rPr>
                        <a:t> and left the bit arithmetic unchanged. For </a:t>
                      </a:r>
                      <a:r>
                        <a:rPr sz="1288" b="0" i="0">
                          <a:solidFill>
                            <a:srgbClr val="1B1F24"/>
                          </a:solidFill>
                          <a:highlight>
                            <a:srgbClr val="EEF1F4"/>
                          </a:highlight>
                          <a:latin typeface="Menlo"/>
                        </a:rPr>
                        <a:t>k ≠ j+1</a:t>
                      </a:r>
                      <a:r>
                        <a:rPr sz="1400" b="0" i="0">
                          <a:solidFill>
                            <a:srgbClr val="1B1F24"/>
                          </a:solidFill>
                          <a:latin typeface="Arial"/>
                        </a:rPr>
                        <a:t> it returned a wrong state with no error.</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536448">
                <a:tc>
                  <a:txBody>
                    <a:bodyPr/>
                    <a:lstStyle/>
                    <a:p>
                      <a:pPr algn="l"/>
                      <a:r>
                        <a:rPr sz="1400" b="1" i="0">
                          <a:solidFill>
                            <a:srgbClr val="1B1F24"/>
                          </a:solidFill>
                          <a:latin typeface="Arial"/>
                        </a:rPr>
                        <a:t>Why it looked fine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The benchmark ran at a single </a:t>
                      </a:r>
                      <a:r>
                        <a:rPr sz="1288" b="0" i="0">
                          <a:solidFill>
                            <a:srgbClr val="1B1F24"/>
                          </a:solidFill>
                          <a:highlight>
                            <a:srgbClr val="EEF1F4"/>
                          </a:highlight>
                          <a:latin typeface="Menlo"/>
                        </a:rPr>
                        <a:t>n</a:t>
                      </a:r>
                      <a:r>
                        <a:rPr sz="1400" b="0" i="0">
                          <a:solidFill>
                            <a:srgbClr val="1B1F24"/>
                          </a:solidFill>
                          <a:latin typeface="Arial"/>
                        </a:rPr>
                        <a: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No test used non-adjacent pairs; the docstring was updated to claim support.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749808">
                <a:tc>
                  <a:txBody>
                    <a:bodyPr/>
                    <a:lstStyle/>
                    <a:p>
                      <a:pPr algn="l"/>
                      <a:r>
                        <a:rPr sz="1400" b="1" i="0">
                          <a:solidFill>
                            <a:srgbClr val="1B1F24"/>
                          </a:solidFill>
                          <a:latin typeface="Arial"/>
                        </a:rPr>
                        <a:t>How it was caught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Scaling test: time quadrupled per added qubit instead of doubling; out of memory at </a:t>
                      </a:r>
                      <a:r>
                        <a:rPr sz="1288" b="0" i="0">
                          <a:solidFill>
                            <a:srgbClr val="1B1F24"/>
                          </a:solidFill>
                          <a:highlight>
                            <a:srgbClr val="EEF1F4"/>
                          </a:highlight>
                          <a:latin typeface="Menlo"/>
                        </a:rPr>
                        <a:t>n = 16</a:t>
                      </a:r>
                      <a:r>
                        <a:rPr sz="1400" b="0" i="0">
                          <a:solidFill>
                            <a:srgbClr val="1B1F24"/>
                          </a:solidFill>
                          <a:latin typeface="Arial"/>
                        </a:rPr>
                        <a: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The Trotter circuit with periodic boundaries (Exercise 3) needs the gate on </a:t>
                      </a:r>
                      <a:r>
                        <a:rPr sz="1288" b="0" i="0">
                          <a:solidFill>
                            <a:srgbClr val="1B1F24"/>
                          </a:solidFill>
                          <a:highlight>
                            <a:srgbClr val="EEF1F4"/>
                          </a:highlight>
                          <a:latin typeface="Menlo"/>
                        </a:rPr>
                        <a:t>(n-1, 0)</a:t>
                      </a:r>
                      <a:r>
                        <a:rPr sz="1400" b="0" i="0">
                          <a:solidFill>
                            <a:srgbClr val="1B1F24"/>
                          </a:solidFill>
                          <a:latin typeface="Arial"/>
                        </a:rPr>
                        <a:t>; </a:t>
                      </a:r>
                      <a:r>
                        <a:rPr sz="1288" b="0" i="0">
                          <a:solidFill>
                            <a:srgbClr val="1B1F24"/>
                          </a:solidFill>
                          <a:highlight>
                            <a:srgbClr val="EEF1F4"/>
                          </a:highlight>
                          <a:latin typeface="Menlo"/>
                        </a:rPr>
                        <a:t>⟨Z_0⟩(t)</a:t>
                      </a:r>
                      <a:r>
                        <a:rPr sz="1400" b="0" i="0">
                          <a:solidFill>
                            <a:srgbClr val="1B1F24"/>
                          </a:solidFill>
                          <a:latin typeface="Arial"/>
                        </a:rPr>
                        <a:t> disagreed with exact evolution.</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r h="749808">
                <a:tc>
                  <a:txBody>
                    <a:bodyPr/>
                    <a:lstStyle/>
                    <a:p>
                      <a:pPr algn="l"/>
                      <a:r>
                        <a:rPr sz="1400" b="1" i="0">
                          <a:solidFill>
                            <a:srgbClr val="1B1F24"/>
                          </a:solidFill>
                          <a:latin typeface="Arial"/>
                        </a:rPr>
                        <a:t>Rule added</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Scaling test in the </a:t>
                      </a:r>
                      <a:r>
                        <a:rPr sz="1288" b="0" i="0">
                          <a:solidFill>
                            <a:srgbClr val="1B1F24"/>
                          </a:solidFill>
                          <a:highlight>
                            <a:srgbClr val="EEF1F4"/>
                          </a:highlight>
                          <a:latin typeface="Menlo"/>
                        </a:rPr>
                        <a:t>verify-sim</a:t>
                      </a:r>
                      <a:r>
                        <a:rPr sz="1400" b="0" i="0">
                          <a:solidFill>
                            <a:srgbClr val="1B1F24"/>
                          </a:solidFill>
                          <a:latin typeface="Arial"/>
                        </a:rPr>
                        <a:t> skill; benchmarks always report the ratio between consecutive </a:t>
                      </a:r>
                      <a:r>
                        <a:rPr sz="1288" b="0" i="0">
                          <a:solidFill>
                            <a:srgbClr val="1B1F24"/>
                          </a:solidFill>
                          <a:highlight>
                            <a:srgbClr val="EEF1F4"/>
                          </a:highlight>
                          <a:latin typeface="Menlo"/>
                        </a:rPr>
                        <a:t>n</a:t>
                      </a:r>
                      <a:r>
                        <a:rPr sz="1400" b="0" i="0">
                          <a:solidFill>
                            <a:srgbClr val="1B1F24"/>
                          </a:solidFill>
                          <a:latin typeface="Arial"/>
                        </a:rPr>
                        <a: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00" b="0" i="0">
                          <a:solidFill>
                            <a:srgbClr val="1B1F24"/>
                          </a:solidFill>
                          <a:latin typeface="Arial"/>
                        </a:rPr>
                        <a:t>Restore the assertion; implement a general 2-qubit gate properly (</a:t>
                      </a:r>
                      <a:r>
                        <a:rPr sz="1288" b="0" i="0">
                          <a:solidFill>
                            <a:srgbClr val="1B1F24"/>
                          </a:solidFill>
                          <a:highlight>
                            <a:srgbClr val="EEF1F4"/>
                          </a:highlight>
                          <a:latin typeface="Menlo"/>
                        </a:rPr>
                        <a:t>einsum</a:t>
                      </a:r>
                      <a:r>
                        <a:rPr sz="1400" b="0" i="0">
                          <a:solidFill>
                            <a:srgbClr val="1B1F24"/>
                          </a:solidFill>
                          <a:latin typeface="Arial"/>
                        </a:rPr>
                        <a:t> on two axes) with its own test against </a:t>
                      </a:r>
                      <a:r>
                        <a:rPr sz="1288" b="0" i="0">
                          <a:solidFill>
                            <a:srgbClr val="1B1F24"/>
                          </a:solidFill>
                          <a:highlight>
                            <a:srgbClr val="EEF1F4"/>
                          </a:highlight>
                          <a:latin typeface="Menlo"/>
                        </a:rPr>
                        <a:t>simulate</a:t>
                      </a:r>
                      <a:r>
                        <a:rPr sz="1400" b="0" i="0">
                          <a:solidFill>
                            <a:srgbClr val="1B1F24"/>
                          </a:solidFill>
                          <a:latin typeface="Arial"/>
                        </a:rPr>
                        <a: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800600"/>
            <a:ext cx="11094415" cy="380999"/>
          </a:xfrm>
          <a:prstGeom prst="rect">
            <a:avLst/>
          </a:prstGeom>
          <a:noFill/>
        </p:spPr>
        <p:txBody>
          <a:bodyPr wrap="square" lIns="0" tIns="0" rIns="0" bIns="0">
            <a:spAutoFit/>
          </a:bodyPr>
          <a:lstStyle/>
          <a:p>
            <a:pPr marL="256032" indent="-256032">
              <a:spcAft>
                <a:spcPts val="600"/>
              </a:spcAft>
              <a:buClr>
                <a:srgbClr val="0E5A8A"/>
              </a:buClr>
              <a:buFont typeface="Arial"/>
              <a:buChar char="•"/>
            </a:pPr>
            <a:r>
              <a:rPr sz="1700" b="0" i="0">
                <a:solidFill>
                  <a:srgbClr val="1B1F24"/>
                </a:solidFill>
                <a:latin typeface="Arial"/>
              </a:rPr>
              <a:t>Lessons: complexity is a physics claim, test it like one; silent wrong answers are worse than exceptions.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B5451B"/>
                </a:solidFill>
                <a:latin typeface="Arial"/>
              </a:rPr>
              <a:t>Backup</a:t>
            </a:r>
          </a:p>
        </p:txBody>
      </p:sp>
      <p:sp>
        <p:nvSpPr>
          <p:cNvPr id="3" name="TextBox 2"/>
          <p:cNvSpPr txBox="1"/>
          <p:nvPr/>
        </p:nvSpPr>
        <p:spPr>
          <a:xfrm>
            <a:off x="548640" y="621792"/>
            <a:ext cx="11094415" cy="594360"/>
          </a:xfrm>
          <a:prstGeom prst="rect">
            <a:avLst/>
          </a:prstGeom>
          <a:noFill/>
        </p:spPr>
        <p:txBody>
          <a:bodyPr wrap="square" lIns="0" tIns="0" rIns="0" bIns="0" anchor="t">
            <a:spAutoFit/>
          </a:bodyPr>
          <a:lstStyle/>
          <a:p>
            <a:pPr algn="l"/>
            <a:r>
              <a:rPr sz="3600" b="1" i="0">
                <a:solidFill>
                  <a:srgbClr val="1B1F24"/>
                </a:solidFill>
                <a:latin typeface="Georgia"/>
              </a:rPr>
              <a:t>Backup slides</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Backup</a:t>
            </a:r>
          </a:p>
        </p:txBody>
      </p:sp>
      <p:sp>
        <p:nvSpPr>
          <p:cNvPr id="6" name="TextBox 5"/>
          <p:cNvSpPr txBox="1"/>
          <p:nvPr/>
        </p:nvSpPr>
        <p:spPr>
          <a:xfrm>
            <a:off x="548640" y="1645920"/>
            <a:ext cx="11094415" cy="2052320"/>
          </a:xfrm>
          <a:prstGeom prst="rect">
            <a:avLst/>
          </a:prstGeom>
          <a:noFill/>
        </p:spPr>
        <p:txBody>
          <a:bodyPr wrap="square" lIns="0" tIns="0" rIns="0" bIns="0">
            <a:spAutoFit/>
          </a:bodyPr>
          <a:lstStyle/>
          <a:p>
            <a:pPr marL="256032" indent="-256032">
              <a:spcAft>
                <a:spcPts val="1000"/>
              </a:spcAft>
              <a:buClr>
                <a:srgbClr val="0E5A8A"/>
              </a:buClr>
              <a:buFont typeface="Arial"/>
              <a:buChar char="•"/>
            </a:pPr>
            <a:r>
              <a:rPr sz="1800" b="0" i="0">
                <a:solidFill>
                  <a:srgbClr val="1B1F24"/>
                </a:solidFill>
                <a:latin typeface="Arial"/>
              </a:rPr>
              <a:t>B1  Context hygiene in this project</a:t>
            </a:r>
          </a:p>
          <a:p>
            <a:pPr marL="256032" indent="-256032">
              <a:spcAft>
                <a:spcPts val="1000"/>
              </a:spcAft>
              <a:buClr>
                <a:srgbClr val="0E5A8A"/>
              </a:buClr>
              <a:buFont typeface="Arial"/>
              <a:buChar char="•"/>
            </a:pPr>
            <a:r>
              <a:rPr sz="1800" b="0" i="0">
                <a:solidFill>
                  <a:srgbClr val="1B1F24"/>
                </a:solidFill>
                <a:latin typeface="Arial"/>
              </a:rPr>
              <a:t>B2  Using the AI to understand the result</a:t>
            </a:r>
          </a:p>
          <a:p>
            <a:pPr marL="256032" indent="-256032">
              <a:spcAft>
                <a:spcPts val="1000"/>
              </a:spcAft>
              <a:buClr>
                <a:srgbClr val="0E5A8A"/>
              </a:buClr>
              <a:buFont typeface="Arial"/>
              <a:buChar char="•"/>
            </a:pPr>
            <a:r>
              <a:rPr sz="1800" b="0" i="0">
                <a:solidFill>
                  <a:srgbClr val="1B1F24"/>
                </a:solidFill>
                <a:latin typeface="Arial"/>
              </a:rPr>
              <a:t>B3  Extending with the same discipline</a:t>
            </a:r>
          </a:p>
          <a:p>
            <a:pPr marL="256032" indent="-256032">
              <a:spcAft>
                <a:spcPts val="1000"/>
              </a:spcAft>
              <a:buClr>
                <a:srgbClr val="0E5A8A"/>
              </a:buClr>
              <a:buFont typeface="Arial"/>
              <a:buChar char="•"/>
            </a:pPr>
            <a:r>
              <a:rPr sz="1800" b="0" i="0">
                <a:solidFill>
                  <a:srgbClr val="1B1F24"/>
                </a:solidFill>
                <a:latin typeface="Arial"/>
              </a:rPr>
              <a:t>B4  Other features worth knowing</a:t>
            </a:r>
          </a:p>
          <a:p>
            <a:pPr marL="256032" indent="-256032">
              <a:spcAft>
                <a:spcPts val="1000"/>
              </a:spcAft>
              <a:buClr>
                <a:srgbClr val="0E5A8A"/>
              </a:buClr>
              <a:buFont typeface="Arial"/>
              <a:buChar char="•"/>
            </a:pPr>
            <a:r>
              <a:rPr sz="1800" b="0" i="0">
                <a:solidFill>
                  <a:srgbClr val="1B1F24"/>
                </a:solidFill>
                <a:latin typeface="Arial"/>
              </a:rPr>
              <a:t>B5  Part 1 checklist</a:t>
            </a:r>
          </a:p>
        </p:txBody>
      </p:sp>
      <p:sp>
        <p:nvSpPr>
          <p:cNvPr id="7" name="TextBox 6"/>
          <p:cNvSpPr txBox="1"/>
          <p:nvPr/>
        </p:nvSpPr>
        <p:spPr>
          <a:xfrm>
            <a:off x="548640" y="3972559"/>
            <a:ext cx="11094415" cy="365760"/>
          </a:xfrm>
          <a:prstGeom prst="rect">
            <a:avLst/>
          </a:prstGeom>
          <a:noFill/>
        </p:spPr>
        <p:txBody>
          <a:bodyPr wrap="square" lIns="0" tIns="0" rIns="0" bIns="0" anchor="t">
            <a:spAutoFit/>
          </a:bodyPr>
          <a:lstStyle/>
          <a:p>
            <a:pPr algn="l"/>
            <a:r>
              <a:rPr sz="1400" b="0" i="0">
                <a:solidFill>
                  <a:srgbClr val="5B6470"/>
                </a:solidFill>
                <a:latin typeface="Arial"/>
              </a:rPr>
              <a:t>Cut for time. Hidden in the slideshow; unhide any you need.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B5451B"/>
                </a:solidFill>
                <a:latin typeface="Arial"/>
              </a:rPr>
              <a:t>Backup B1</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Context hygiene in this project</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Backup</a:t>
            </a:r>
          </a:p>
        </p:txBody>
      </p:sp>
      <p:sp>
        <p:nvSpPr>
          <p:cNvPr id="6" name="TextBox 5"/>
          <p:cNvSpPr txBox="1"/>
          <p:nvPr/>
        </p:nvSpPr>
        <p:spPr>
          <a:xfrm>
            <a:off x="548640" y="1371600"/>
            <a:ext cx="11094415" cy="2575560"/>
          </a:xfrm>
          <a:prstGeom prst="rect">
            <a:avLst/>
          </a:prstGeom>
          <a:noFill/>
        </p:spPr>
        <p:txBody>
          <a:bodyPr wrap="square" lIns="0" tIns="0" rIns="0" bIns="0">
            <a:spAutoFit/>
          </a:bodyPr>
          <a:lstStyle/>
          <a:p>
            <a:pPr marL="256032" indent="-256032">
              <a:spcAft>
                <a:spcPts val="1200"/>
              </a:spcAft>
              <a:buClr>
                <a:srgbClr val="0E5A8A"/>
              </a:buClr>
              <a:buFont typeface="Arial"/>
              <a:buChar char="•"/>
            </a:pPr>
            <a:r>
              <a:rPr sz="1800" b="0" i="0">
                <a:solidFill>
                  <a:srgbClr val="1B1F24"/>
                </a:solidFill>
                <a:latin typeface="Arial"/>
              </a:rPr>
              <a:t>Sessions used: (1) explore and plan, (2) tests, (3) 1-qubit gate, (4) 2-qubit gate, (5) benchmark and optimisation, (6) general 2-qubit gate. </a:t>
            </a:r>
            <a:r>
              <a:rPr sz="1656" b="0" i="0">
                <a:solidFill>
                  <a:srgbClr val="1B1F24"/>
                </a:solidFill>
                <a:highlight>
                  <a:srgbClr val="EEF1F4"/>
                </a:highlight>
                <a:latin typeface="Menlo"/>
              </a:rPr>
              <a:t>/clear</a:t>
            </a:r>
            <a:r>
              <a:rPr sz="1800" b="0" i="0">
                <a:solidFill>
                  <a:srgbClr val="1B1F24"/>
                </a:solidFill>
                <a:latin typeface="Arial"/>
              </a:rPr>
              <a:t> between them.</a:t>
            </a:r>
          </a:p>
          <a:p>
            <a:pPr marL="256032" indent="-256032">
              <a:spcAft>
                <a:spcPts val="1200"/>
              </a:spcAft>
              <a:buClr>
                <a:srgbClr val="0E5A8A"/>
              </a:buClr>
              <a:buFont typeface="Arial"/>
              <a:buChar char="•"/>
            </a:pPr>
            <a:r>
              <a:rPr sz="1800" b="0" i="0">
                <a:solidFill>
                  <a:srgbClr val="1B1F24"/>
                </a:solidFill>
                <a:latin typeface="Arial"/>
              </a:rPr>
              <a:t>State carried between sessions lives in files: </a:t>
            </a:r>
            <a:r>
              <a:rPr sz="1656" b="0" i="0">
                <a:solidFill>
                  <a:srgbClr val="1B1F24"/>
                </a:solidFill>
                <a:highlight>
                  <a:srgbClr val="EEF1F4"/>
                </a:highlight>
                <a:latin typeface="Menlo"/>
              </a:rPr>
              <a:t>CLAUDE.md</a:t>
            </a:r>
            <a:r>
              <a:rPr sz="1800" b="0" i="0">
                <a:solidFill>
                  <a:srgbClr val="1B1F24"/>
                </a:solidFill>
                <a:latin typeface="Arial"/>
              </a:rPr>
              <a:t> (rules), </a:t>
            </a:r>
            <a:r>
              <a:rPr sz="1656" b="0" i="0">
                <a:solidFill>
                  <a:srgbClr val="1B1F24"/>
                </a:solidFill>
                <a:highlight>
                  <a:srgbClr val="EEF1F4"/>
                </a:highlight>
                <a:latin typeface="Menlo"/>
              </a:rPr>
              <a:t>PLAN.md</a:t>
            </a:r>
            <a:r>
              <a:rPr sz="1800" b="0" i="0">
                <a:solidFill>
                  <a:srgbClr val="1B1F24"/>
                </a:solidFill>
                <a:latin typeface="Arial"/>
              </a:rPr>
              <a:t> (the agreed plan, checked off), tests, git log.</a:t>
            </a:r>
          </a:p>
          <a:p>
            <a:pPr marL="256032" indent="-256032">
              <a:spcAft>
                <a:spcPts val="1200"/>
              </a:spcAft>
              <a:buClr>
                <a:srgbClr val="0E5A8A"/>
              </a:buClr>
              <a:buFont typeface="Arial"/>
              <a:buChar char="•"/>
            </a:pPr>
            <a:r>
              <a:rPr sz="1800" b="0" i="0">
                <a:solidFill>
                  <a:srgbClr val="1B1F24"/>
                </a:solidFill>
                <a:latin typeface="Arial"/>
              </a:rPr>
              <a:t>When a session grows: </a:t>
            </a:r>
            <a:r>
              <a:rPr sz="1656" b="0" i="0">
                <a:solidFill>
                  <a:srgbClr val="1B1F24"/>
                </a:solidFill>
                <a:highlight>
                  <a:srgbClr val="EEF1F4"/>
                </a:highlight>
                <a:latin typeface="Menlo"/>
              </a:rPr>
              <a:t>/compact focus on the convention, the failing test, and the last diff</a:t>
            </a:r>
            <a:r>
              <a:rPr sz="1800" b="0" i="0">
                <a:solidFill>
                  <a:srgbClr val="1B1F24"/>
                </a:solidFill>
                <a:latin typeface="Arial"/>
              </a:rPr>
              <a:t>.</a:t>
            </a:r>
          </a:p>
          <a:p>
            <a:pPr marL="256032" indent="-256032">
              <a:spcAft>
                <a:spcPts val="1200"/>
              </a:spcAft>
              <a:buClr>
                <a:srgbClr val="0E5A8A"/>
              </a:buClr>
              <a:buFont typeface="Arial"/>
              <a:buChar char="•"/>
            </a:pPr>
            <a:r>
              <a:rPr sz="1800" b="0" i="0">
                <a:solidFill>
                  <a:srgbClr val="1B1F24"/>
                </a:solidFill>
                <a:latin typeface="Arial"/>
              </a:rPr>
              <a:t>Large explorations (“find all places that assume adjacency”) go to a subagent so the search output does not flood the main window.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B5451B"/>
                </a:solidFill>
                <a:latin typeface="Arial"/>
              </a:rPr>
              <a:t>Backup B2</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Using the AI to understand the result</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Backup</a:t>
            </a:r>
          </a:p>
        </p:txBody>
      </p:sp>
      <p:sp>
        <p:nvSpPr>
          <p:cNvPr id="6" name="TextBox 5"/>
          <p:cNvSpPr txBox="1"/>
          <p:nvPr/>
        </p:nvSpPr>
        <p:spPr>
          <a:xfrm>
            <a:off x="548640" y="1371600"/>
            <a:ext cx="11094415" cy="2453640"/>
          </a:xfrm>
          <a:prstGeom prst="rect">
            <a:avLst/>
          </a:prstGeom>
          <a:noFill/>
        </p:spPr>
        <p:txBody>
          <a:bodyPr wrap="square" lIns="0" tIns="0" rIns="0" bIns="0">
            <a:spAutoFit/>
          </a:bodyPr>
          <a:lstStyle/>
          <a:p>
            <a:pPr marL="256032" indent="-256032">
              <a:spcAft>
                <a:spcPts val="1200"/>
              </a:spcAft>
              <a:buClr>
                <a:srgbClr val="0E5A8A"/>
              </a:buClr>
              <a:buFont typeface="Arial"/>
              <a:buChar char="•"/>
            </a:pPr>
            <a:r>
              <a:rPr sz="1800" b="0" i="0">
                <a:solidFill>
                  <a:srgbClr val="1B1F24"/>
                </a:solidFill>
                <a:latin typeface="Arial"/>
              </a:rPr>
              <a:t>“Explain </a:t>
            </a:r>
            <a:r>
              <a:rPr sz="1656" b="0" i="0">
                <a:solidFill>
                  <a:srgbClr val="1B1F24"/>
                </a:solidFill>
                <a:highlight>
                  <a:srgbClr val="EEF1F4"/>
                </a:highlight>
                <a:latin typeface="Menlo"/>
              </a:rPr>
              <a:t>apply_gate_2q_fast</a:t>
            </a:r>
            <a:r>
              <a:rPr sz="1800" b="0" i="0">
                <a:solidFill>
                  <a:srgbClr val="1B1F24"/>
                </a:solidFill>
                <a:latin typeface="Arial"/>
              </a:rPr>
              <a:t> line by line for </a:t>
            </a:r>
            <a:r>
              <a:rPr sz="1656" b="0" i="0">
                <a:solidFill>
                  <a:srgbClr val="1B1F24"/>
                </a:solidFill>
                <a:highlight>
                  <a:srgbClr val="EEF1F4"/>
                </a:highlight>
                <a:latin typeface="Menlo"/>
              </a:rPr>
              <a:t>n = 5, j = 1, k = 2</a:t>
            </a:r>
            <a:r>
              <a:rPr sz="1800" b="0" i="0">
                <a:solidFill>
                  <a:srgbClr val="1B1F24"/>
                </a:solidFill>
                <a:latin typeface="Arial"/>
              </a:rPr>
              <a:t>, showing the bit patterns.”</a:t>
            </a:r>
          </a:p>
          <a:p>
            <a:pPr marL="256032" indent="-256032">
              <a:spcAft>
                <a:spcPts val="1200"/>
              </a:spcAft>
              <a:buClr>
                <a:srgbClr val="0E5A8A"/>
              </a:buClr>
              <a:buFont typeface="Arial"/>
              <a:buChar char="•"/>
            </a:pPr>
            <a:r>
              <a:rPr sz="1800" b="0" i="0">
                <a:solidFill>
                  <a:srgbClr val="1B1F24"/>
                </a:solidFill>
                <a:latin typeface="Arial"/>
              </a:rPr>
              <a:t>“Why is the 1-qubit gate axis </a:t>
            </a:r>
            <a:r>
              <a:rPr sz="1656" b="0" i="0">
                <a:solidFill>
                  <a:srgbClr val="1B1F24"/>
                </a:solidFill>
                <a:highlight>
                  <a:srgbClr val="EEF1F4"/>
                </a:highlight>
                <a:latin typeface="Menlo"/>
              </a:rPr>
              <a:t>n-1-j</a:t>
            </a:r>
            <a:r>
              <a:rPr sz="1800" b="0" i="0">
                <a:solidFill>
                  <a:srgbClr val="1B1F24"/>
                </a:solidFill>
                <a:latin typeface="Arial"/>
              </a:rPr>
              <a:t> and not </a:t>
            </a:r>
            <a:r>
              <a:rPr sz="1656" b="0" i="0">
                <a:solidFill>
                  <a:srgbClr val="1B1F24"/>
                </a:solidFill>
                <a:highlight>
                  <a:srgbClr val="EEF1F4"/>
                </a:highlight>
                <a:latin typeface="Menlo"/>
              </a:rPr>
              <a:t>j</a:t>
            </a:r>
            <a:r>
              <a:rPr sz="1800" b="0" i="0">
                <a:solidFill>
                  <a:srgbClr val="1B1F24"/>
                </a:solidFill>
                <a:latin typeface="Arial"/>
              </a:rPr>
              <a:t>? Show it with </a:t>
            </a:r>
            <a:r>
              <a:rPr sz="1656" b="0" i="0">
                <a:solidFill>
                  <a:srgbClr val="1B1F24"/>
                </a:solidFill>
                <a:highlight>
                  <a:srgbClr val="EEF1F4"/>
                </a:highlight>
                <a:latin typeface="Menlo"/>
              </a:rPr>
              <a:t>np.arange(8).reshape(2,2,2)</a:t>
            </a:r>
            <a:r>
              <a:rPr sz="1800" b="0" i="0">
                <a:solidFill>
                  <a:srgbClr val="1B1F24"/>
                </a:solidFill>
                <a:latin typeface="Arial"/>
              </a:rPr>
              <a:t>.”</a:t>
            </a:r>
          </a:p>
          <a:p>
            <a:pPr marL="256032" indent="-256032">
              <a:spcAft>
                <a:spcPts val="1200"/>
              </a:spcAft>
              <a:buClr>
                <a:srgbClr val="0E5A8A"/>
              </a:buClr>
              <a:buFont typeface="Arial"/>
              <a:buChar char="•"/>
            </a:pPr>
            <a:r>
              <a:rPr sz="1800" b="0" i="0">
                <a:solidFill>
                  <a:srgbClr val="1B1F24"/>
                </a:solidFill>
                <a:latin typeface="Arial"/>
              </a:rPr>
              <a:t>“What is the memory traffic per gate for the tensordot version at </a:t>
            </a:r>
            <a:r>
              <a:rPr sz="1656" b="0" i="0">
                <a:solidFill>
                  <a:srgbClr val="1B1F24"/>
                </a:solidFill>
                <a:highlight>
                  <a:srgbClr val="EEF1F4"/>
                </a:highlight>
                <a:latin typeface="Menlo"/>
              </a:rPr>
              <a:t>n = 24</a:t>
            </a:r>
            <a:r>
              <a:rPr sz="1800" b="0" i="0">
                <a:solidFill>
                  <a:srgbClr val="1B1F24"/>
                </a:solidFill>
                <a:latin typeface="Arial"/>
              </a:rPr>
              <a:t>? Is it compute-bound or memory-bound?”</a:t>
            </a:r>
          </a:p>
          <a:p>
            <a:pPr marL="256032" indent="-256032">
              <a:spcAft>
                <a:spcPts val="1200"/>
              </a:spcAft>
              <a:buClr>
                <a:srgbClr val="0E5A8A"/>
              </a:buClr>
              <a:buFont typeface="Arial"/>
              <a:buChar char="•"/>
            </a:pPr>
            <a:r>
              <a:rPr sz="1800" b="0" i="0">
                <a:solidFill>
                  <a:srgbClr val="1B1F24"/>
                </a:solidFill>
                <a:latin typeface="Arial"/>
              </a:rPr>
              <a:t>“Give me three exam questions about this implementation, then grade my answers.”</a:t>
            </a:r>
          </a:p>
          <a:p>
            <a:pPr marL="256032" indent="-256032">
              <a:spcAft>
                <a:spcPts val="1200"/>
              </a:spcAft>
              <a:buClr>
                <a:srgbClr val="0E5A8A"/>
              </a:buClr>
              <a:buFont typeface="Arial"/>
              <a:buChar char="•"/>
            </a:pPr>
            <a:r>
              <a:rPr sz="1800" b="0" i="0">
                <a:solidFill>
                  <a:srgbClr val="1B1F24"/>
                </a:solidFill>
                <a:latin typeface="Arial"/>
              </a:rPr>
              <a:t>Course policy again: use the AI to get to understanding faster, not to avoid it. The final presentation will probe understanding of submitted code.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B5451B"/>
                </a:solidFill>
                <a:latin typeface="Arial"/>
              </a:rPr>
              <a:t>Backup B3</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Extending with the same discipline</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Backup</a:t>
            </a:r>
          </a:p>
        </p:txBody>
      </p:sp>
      <p:graphicFrame>
        <p:nvGraphicFramePr>
          <p:cNvPr id="6" name="Table 5"/>
          <p:cNvGraphicFramePr>
            <a:graphicFrameLocks noGrp="1"/>
          </p:cNvGraphicFramePr>
          <p:nvPr/>
        </p:nvGraphicFramePr>
        <p:xfrm>
          <a:off x="548640" y="1371600"/>
          <a:ext cx="11094415" cy="2481072"/>
        </p:xfrm>
        <a:graphic>
          <a:graphicData uri="http://schemas.openxmlformats.org/drawingml/2006/table">
            <a:tbl>
              <a:tblPr/>
              <a:tblGrid>
                <a:gridCol w="34747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413455">
                  <a:extLst>
                    <a:ext uri="{9D8B030D-6E8A-4147-A177-3AD203B41FA5}">
                      <a16:colId xmlns:a16="http://schemas.microsoft.com/office/drawing/2014/main" val="20002"/>
                    </a:ext>
                  </a:extLst>
                </a:gridCol>
              </a:tblGrid>
              <a:tr h="353568">
                <a:tc>
                  <a:txBody>
                    <a:bodyPr/>
                    <a:lstStyle/>
                    <a:p>
                      <a:pPr algn="l"/>
                      <a:r>
                        <a:rPr sz="1600" b="1" i="0">
                          <a:solidFill>
                            <a:srgbClr val="1B1F24"/>
                          </a:solidFill>
                          <a:latin typeface="Arial"/>
                        </a:rPr>
                        <a:t>Extension</a:t>
                      </a:r>
                    </a:p>
                  </a:txBody>
                  <a:tcPr marL="82296" marR="82296">
                    <a:lnL w="0">
                      <a:noFill/>
                    </a:lnL>
                    <a:lnR w="0">
                      <a:noFill/>
                    </a:lnR>
                    <a:lnT w="0">
                      <a:noFill/>
                    </a:lnT>
                    <a:lnB w="19050" cap="flat" cmpd="sng" algn="ctr">
                      <a:solidFill>
                        <a:srgbClr val="0E5A8A"/>
                      </a:solidFill>
                      <a:prstDash val="solid"/>
                    </a:lnB>
                  </a:tcPr>
                </a:tc>
                <a:tc>
                  <a:txBody>
                    <a:bodyPr/>
                    <a:lstStyle/>
                    <a:p>
                      <a:pPr algn="l"/>
                      <a:r>
                        <a:rPr sz="1600" b="1" i="0">
                          <a:solidFill>
                            <a:srgbClr val="1B1F24"/>
                          </a:solidFill>
                          <a:latin typeface="Arial"/>
                        </a:rPr>
                        <a:t>Oracle</a:t>
                      </a:r>
                    </a:p>
                  </a:txBody>
                  <a:tcPr marL="82296" marR="82296">
                    <a:lnL w="0">
                      <a:noFill/>
                    </a:lnL>
                    <a:lnR w="0">
                      <a:noFill/>
                    </a:lnR>
                    <a:lnT w="0">
                      <a:noFill/>
                    </a:lnT>
                    <a:lnB w="19050" cap="flat" cmpd="sng" algn="ctr">
                      <a:solidFill>
                        <a:srgbClr val="0E5A8A"/>
                      </a:solidFill>
                      <a:prstDash val="solid"/>
                    </a:lnB>
                  </a:tcPr>
                </a:tc>
                <a:tc>
                  <a:txBody>
                    <a:bodyPr/>
                    <a:lstStyle/>
                    <a:p>
                      <a:pPr algn="l"/>
                      <a:r>
                        <a:rPr sz="1600" b="1" i="0">
                          <a:solidFill>
                            <a:srgbClr val="1B1F24"/>
                          </a:solidFill>
                          <a:latin typeface="Arial"/>
                        </a:rPr>
                        <a:t>Extra test</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597408">
                <a:tc>
                  <a:txBody>
                    <a:bodyPr/>
                    <a:lstStyle/>
                    <a:p>
                      <a:pPr algn="l"/>
                      <a:r>
                        <a:rPr sz="1600" b="1" i="0">
                          <a:solidFill>
                            <a:srgbClr val="1B1F24"/>
                          </a:solidFill>
                          <a:latin typeface="Arial"/>
                        </a:rPr>
                        <a:t>Non-adjacent 2-qubit gates</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472" b="0" i="0">
                          <a:solidFill>
                            <a:srgbClr val="1B1F24"/>
                          </a:solidFill>
                          <a:highlight>
                            <a:srgbClr val="EEF1F4"/>
                          </a:highlight>
                          <a:latin typeface="Menlo"/>
                        </a:rPr>
                        <a:t>simulate</a:t>
                      </a:r>
                      <a:r>
                        <a:rPr sz="1600" b="0" i="0">
                          <a:solidFill>
                            <a:srgbClr val="1B1F24"/>
                          </a:solidFill>
                          <a:latin typeface="Arial"/>
                        </a:rPr>
                        <a:t> with an explicit swap network, or dense </a:t>
                      </a:r>
                      <a:r>
                        <a:rPr sz="1472" b="0" i="0">
                          <a:solidFill>
                            <a:srgbClr val="1B1F24"/>
                          </a:solidFill>
                          <a:highlight>
                            <a:srgbClr val="EEF1F4"/>
                          </a:highlight>
                          <a:latin typeface="Menlo"/>
                        </a:rPr>
                        <a:t>kron</a:t>
                      </a:r>
                      <a:r>
                        <a:rPr sz="1600" b="0" i="0">
                          <a:solidFill>
                            <a:srgbClr val="1B1F24"/>
                          </a:solidFill>
                          <a:latin typeface="Arial"/>
                        </a:rPr>
                        <a:t> on small </a:t>
                      </a:r>
                      <a:r>
                        <a:rPr sz="1472" b="0" i="0">
                          <a:solidFill>
                            <a:srgbClr val="1B1F24"/>
                          </a:solidFill>
                          <a:highlight>
                            <a:srgbClr val="EEF1F4"/>
                          </a:highlight>
                          <a:latin typeface="Menlo"/>
                        </a:rPr>
                        <a:t>n</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Random </a:t>
                      </a:r>
                      <a:r>
                        <a:rPr sz="1472" b="0" i="0">
                          <a:solidFill>
                            <a:srgbClr val="1B1F24"/>
                          </a:solidFill>
                          <a:highlight>
                            <a:srgbClr val="EEF1F4"/>
                          </a:highlight>
                          <a:latin typeface="Menlo"/>
                        </a:rPr>
                        <a:t>(j, k)</a:t>
                      </a:r>
                      <a:r>
                        <a:rPr sz="1600" b="0" i="0">
                          <a:solidFill>
                            <a:srgbClr val="1B1F24"/>
                          </a:solidFill>
                          <a:latin typeface="Arial"/>
                        </a:rPr>
                        <a:t> pairs</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597408">
                <a:tc>
                  <a:txBody>
                    <a:bodyPr/>
                    <a:lstStyle/>
                    <a:p>
                      <a:pPr algn="l"/>
                      <a:r>
                        <a:rPr sz="1600" b="1" i="0">
                          <a:solidFill>
                            <a:srgbClr val="1B1F24"/>
                          </a:solidFill>
                          <a:latin typeface="Arial"/>
                        </a:rPr>
                        <a:t>Trotter circuit for the mixed-field Ising model (Exercise 3)</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472" b="0" i="0">
                          <a:solidFill>
                            <a:srgbClr val="1B1F24"/>
                          </a:solidFill>
                          <a:highlight>
                            <a:srgbClr val="EEF1F4"/>
                          </a:highlight>
                          <a:latin typeface="Menlo"/>
                        </a:rPr>
                        <a:t>expm(-iHt)</a:t>
                      </a:r>
                      <a:r>
                        <a:rPr sz="1600" b="0" i="0">
                          <a:solidFill>
                            <a:srgbClr val="1B1F24"/>
                          </a:solidFill>
                          <a:latin typeface="Arial"/>
                        </a:rPr>
                        <a:t> from NB01/NB02 at </a:t>
                      </a:r>
                      <a:r>
                        <a:rPr sz="1472" b="0" i="0">
                          <a:solidFill>
                            <a:srgbClr val="1B1F24"/>
                          </a:solidFill>
                          <a:highlight>
                            <a:srgbClr val="EEF1F4"/>
                          </a:highlight>
                          <a:latin typeface="Menlo"/>
                        </a:rPr>
                        <a:t>n = 10</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Error vs </a:t>
                      </a:r>
                      <a:r>
                        <a:rPr sz="1472" b="0" i="0">
                          <a:solidFill>
                            <a:srgbClr val="1B1F24"/>
                          </a:solidFill>
                          <a:highlight>
                            <a:srgbClr val="EEF1F4"/>
                          </a:highlight>
                          <a:latin typeface="Menlo"/>
                        </a:rPr>
                        <a:t>Δt</a:t>
                      </a:r>
                      <a:r>
                        <a:rPr sz="1600" b="0" i="0">
                          <a:solidFill>
                            <a:srgbClr val="1B1F24"/>
                          </a:solidFill>
                          <a:latin typeface="Arial"/>
                        </a:rPr>
                        <a:t> scales as </a:t>
                      </a:r>
                      <a:r>
                        <a:rPr sz="1472" b="0" i="0">
                          <a:solidFill>
                            <a:srgbClr val="1B1F24"/>
                          </a:solidFill>
                          <a:highlight>
                            <a:srgbClr val="EEF1F4"/>
                          </a:highlight>
                          <a:latin typeface="Menlo"/>
                        </a:rPr>
                        <a:t>Δt^2</a:t>
                      </a:r>
                      <a:r>
                        <a:rPr sz="1600" b="0" i="0">
                          <a:solidFill>
                            <a:srgbClr val="1B1F24"/>
                          </a:solidFill>
                          <a:latin typeface="Arial"/>
                        </a:rPr>
                        <a:t> (second order)</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353568">
                <a:tc>
                  <a:txBody>
                    <a:bodyPr/>
                    <a:lstStyle/>
                    <a:p>
                      <a:pPr algn="l"/>
                      <a:r>
                        <a:rPr sz="1600" b="1" i="0">
                          <a:solidFill>
                            <a:srgbClr val="1B1F24"/>
                          </a:solidFill>
                          <a:latin typeface="Arial"/>
                        </a:rPr>
                        <a:t>Measurement sampling</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Exact probabilities </a:t>
                      </a:r>
                      <a:r>
                        <a:rPr sz="1472" b="0" i="0">
                          <a:solidFill>
                            <a:srgbClr val="1B1F24"/>
                          </a:solidFill>
                          <a:highlight>
                            <a:srgbClr val="EEF1F4"/>
                          </a:highlight>
                          <a:latin typeface="Menlo"/>
                        </a:rPr>
                        <a:t>|ψ|^2</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Chi-squared on 10</a:t>
                      </a:r>
                      <a:r>
                        <a:rPr sz="1600" b="0" i="0" baseline="30000">
                          <a:solidFill>
                            <a:srgbClr val="1B1F24"/>
                          </a:solidFill>
                          <a:latin typeface="Arial"/>
                        </a:rPr>
                        <a:t>5</a:t>
                      </a:r>
                      <a:r>
                        <a:rPr sz="1600" b="0" i="0">
                          <a:solidFill>
                            <a:srgbClr val="1B1F24"/>
                          </a:solidFill>
                          <a:latin typeface="Arial"/>
                        </a:rPr>
                        <a:t> shots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r h="353568">
                <a:tc>
                  <a:txBody>
                    <a:bodyPr/>
                    <a:lstStyle/>
                    <a:p>
                      <a:pPr algn="l"/>
                      <a:r>
                        <a:rPr sz="1600" b="1" i="0">
                          <a:solidFill>
                            <a:srgbClr val="1B1F24"/>
                          </a:solidFill>
                          <a:latin typeface="Arial"/>
                        </a:rPr>
                        <a:t>GPU (CuPy) or Numba</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The NumPy version</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600" b="0" i="0">
                          <a:solidFill>
                            <a:srgbClr val="1B1F24"/>
                          </a:solidFill>
                          <a:latin typeface="Arial"/>
                        </a:rPr>
                        <a:t>Identical results to 1e-10; scaling test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B5451B"/>
                </a:solidFill>
                <a:latin typeface="Arial"/>
              </a:rPr>
              <a:t>Backup B4</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Other features worth knowing</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Backup</a:t>
            </a:r>
          </a:p>
        </p:txBody>
      </p:sp>
      <p:graphicFrame>
        <p:nvGraphicFramePr>
          <p:cNvPr id="6" name="Table 5"/>
          <p:cNvGraphicFramePr>
            <a:graphicFrameLocks noGrp="1"/>
          </p:cNvGraphicFramePr>
          <p:nvPr/>
        </p:nvGraphicFramePr>
        <p:xfrm>
          <a:off x="548640" y="1371600"/>
          <a:ext cx="11094415" cy="3959352"/>
        </p:xfrm>
        <a:graphic>
          <a:graphicData uri="http://schemas.openxmlformats.org/drawingml/2006/table">
            <a:tbl>
              <a:tblPr/>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44975">
                  <a:extLst>
                    <a:ext uri="{9D8B030D-6E8A-4147-A177-3AD203B41FA5}">
                      <a16:colId xmlns:a16="http://schemas.microsoft.com/office/drawing/2014/main" val="20002"/>
                    </a:ext>
                  </a:extLst>
                </a:gridCol>
              </a:tblGrid>
              <a:tr h="307848">
                <a:tc>
                  <a:txBody>
                    <a:bodyPr/>
                    <a:lstStyle/>
                    <a:p>
                      <a:pPr algn="l"/>
                      <a:r>
                        <a:rPr sz="1300" b="1" i="0">
                          <a:solidFill>
                            <a:srgbClr val="1B1F24"/>
                          </a:solidFill>
                          <a:latin typeface="Arial"/>
                        </a:rPr>
                        <a:t>Feature</a:t>
                      </a:r>
                    </a:p>
                  </a:txBody>
                  <a:tcPr marL="82296" marR="82296">
                    <a:lnL w="0">
                      <a:noFill/>
                    </a:lnL>
                    <a:lnR w="0">
                      <a:noFill/>
                    </a:lnR>
                    <a:lnT w="0">
                      <a:noFill/>
                    </a:lnT>
                    <a:lnB w="19050" cap="flat" cmpd="sng" algn="ctr">
                      <a:solidFill>
                        <a:srgbClr val="0E5A8A"/>
                      </a:solidFill>
                      <a:prstDash val="solid"/>
                    </a:lnB>
                  </a:tcPr>
                </a:tc>
                <a:tc>
                  <a:txBody>
                    <a:bodyPr/>
                    <a:lstStyle/>
                    <a:p>
                      <a:pPr algn="l"/>
                      <a:r>
                        <a:rPr sz="1300" b="1" i="0">
                          <a:solidFill>
                            <a:srgbClr val="1B1F24"/>
                          </a:solidFill>
                          <a:latin typeface="Arial"/>
                        </a:rPr>
                        <a:t>What it is</a:t>
                      </a:r>
                    </a:p>
                  </a:txBody>
                  <a:tcPr marL="82296" marR="82296">
                    <a:lnL w="0">
                      <a:noFill/>
                    </a:lnL>
                    <a:lnR w="0">
                      <a:noFill/>
                    </a:lnR>
                    <a:lnT w="0">
                      <a:noFill/>
                    </a:lnT>
                    <a:lnB w="19050" cap="flat" cmpd="sng" algn="ctr">
                      <a:solidFill>
                        <a:srgbClr val="0E5A8A"/>
                      </a:solidFill>
                      <a:prstDash val="solid"/>
                    </a:lnB>
                  </a:tcPr>
                </a:tc>
                <a:tc>
                  <a:txBody>
                    <a:bodyPr/>
                    <a:lstStyle/>
                    <a:p>
                      <a:pPr algn="l"/>
                      <a:r>
                        <a:rPr sz="1300" b="1" i="0">
                          <a:solidFill>
                            <a:srgbClr val="1B1F24"/>
                          </a:solidFill>
                          <a:latin typeface="Arial"/>
                        </a:rPr>
                        <a:t>When you care</a:t>
                      </a:r>
                    </a:p>
                  </a:txBody>
                  <a:tcPr marL="82296" marR="82296">
                    <a:lnL w="0">
                      <a:noFill/>
                    </a:lnL>
                    <a:lnR w="0">
                      <a:noFill/>
                    </a:lnR>
                    <a:lnT w="0">
                      <a:noFill/>
                    </a:lnT>
                    <a:lnB w="19050" cap="flat" cmpd="sng" algn="ctr">
                      <a:solidFill>
                        <a:srgbClr val="0E5A8A"/>
                      </a:solidFill>
                      <a:prstDash val="solid"/>
                    </a:lnB>
                  </a:tcPr>
                </a:tc>
                <a:extLst>
                  <a:ext uri="{0D108BD9-81ED-4DB2-BD59-A6C34878D82A}">
                    <a16:rowId xmlns:a16="http://schemas.microsoft.com/office/drawing/2014/main" val="10000"/>
                  </a:ext>
                </a:extLst>
              </a:tr>
              <a:tr h="505968">
                <a:tc>
                  <a:txBody>
                    <a:bodyPr/>
                    <a:lstStyle/>
                    <a:p>
                      <a:pPr algn="l"/>
                      <a:r>
                        <a:rPr sz="1196" b="1" i="0">
                          <a:solidFill>
                            <a:srgbClr val="1B1F24"/>
                          </a:solidFill>
                          <a:highlight>
                            <a:srgbClr val="EEF1F4"/>
                          </a:highlight>
                          <a:latin typeface="Menlo"/>
                        </a:rPr>
                        <a:t>/model</a:t>
                      </a:r>
                      <a:r>
                        <a:rPr sz="1300" b="1" i="0">
                          <a:solidFill>
                            <a:srgbClr val="1B1F24"/>
                          </a:solidFill>
                          <a:latin typeface="Arial"/>
                        </a:rPr>
                        <a:t>, effort</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Pick the model and how hard it thinks</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Bigger model and higher effort for design and debugging; smaller for boilerplate</a:t>
                      </a:r>
                    </a:p>
                  </a:txBody>
                  <a:tcPr marL="82296" marR="82296">
                    <a:lnL w="0">
                      <a:noFill/>
                    </a:lnL>
                    <a:lnR w="0">
                      <a:noFill/>
                    </a:lnR>
                    <a:lnT w="19050" cap="flat" cmpd="sng" algn="ctr">
                      <a:solidFill>
                        <a:srgbClr val="0E5A8A"/>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1"/>
                  </a:ext>
                </a:extLst>
              </a:tr>
              <a:tr h="505968">
                <a:tc>
                  <a:txBody>
                    <a:bodyPr/>
                    <a:lstStyle/>
                    <a:p>
                      <a:pPr algn="l"/>
                      <a:r>
                        <a:rPr sz="1300" b="1" i="0">
                          <a:solidFill>
                            <a:srgbClr val="1B1F24"/>
                          </a:solidFill>
                          <a:latin typeface="Arial"/>
                        </a:rPr>
                        <a:t>Subagents, </a:t>
                      </a:r>
                      <a:r>
                        <a:rPr sz="1196" b="1" i="0">
                          <a:solidFill>
                            <a:srgbClr val="1B1F24"/>
                          </a:solidFill>
                          <a:highlight>
                            <a:srgbClr val="EEF1F4"/>
                          </a:highlight>
                          <a:latin typeface="Menlo"/>
                        </a:rPr>
                        <a:t>--worktree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Side workers with their own context; parallel sessions in isolated git worktrees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Big searches; a fresh “reviewer” that checks a diff against the spec; trying two approaches at once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2"/>
                  </a:ext>
                </a:extLst>
              </a:tr>
              <a:tr h="505968">
                <a:tc>
                  <a:txBody>
                    <a:bodyPr/>
                    <a:lstStyle/>
                    <a:p>
                      <a:pPr algn="l"/>
                      <a:r>
                        <a:rPr sz="1196" b="1" i="0">
                          <a:solidFill>
                            <a:srgbClr val="1B1F24"/>
                          </a:solidFill>
                          <a:highlight>
                            <a:srgbClr val="EEF1F4"/>
                          </a:highlight>
                          <a:latin typeface="Menlo"/>
                        </a:rPr>
                        <a:t>/code-review</a:t>
                      </a:r>
                      <a:r>
                        <a:rPr sz="1300" b="1" i="0">
                          <a:solidFill>
                            <a:srgbClr val="1B1F24"/>
                          </a:solidFill>
                          <a:latin typeface="Arial"/>
                        </a:rPr>
                        <a:t>, </a:t>
                      </a:r>
                      <a:r>
                        <a:rPr sz="1196" b="1" i="0">
                          <a:solidFill>
                            <a:srgbClr val="1B1F24"/>
                          </a:solidFill>
                          <a:highlight>
                            <a:srgbClr val="EEF1F4"/>
                          </a:highlight>
                          <a:latin typeface="Menlo"/>
                        </a:rPr>
                        <a:t>/security-review</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Bundled review skills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A second, fresh look at a diff before you commit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3"/>
                  </a:ext>
                </a:extLst>
              </a:tr>
              <a:tr h="704088">
                <a:tc>
                  <a:txBody>
                    <a:bodyPr/>
                    <a:lstStyle/>
                    <a:p>
                      <a:pPr algn="l"/>
                      <a:r>
                        <a:rPr sz="1300" b="1" i="0">
                          <a:solidFill>
                            <a:srgbClr val="1B1F24"/>
                          </a:solidFill>
                          <a:latin typeface="Arial"/>
                        </a:rPr>
                        <a:t>Hooks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Shell commands run automatically on events (</a:t>
                      </a:r>
                      <a:r>
                        <a:rPr sz="1196" b="0" i="0">
                          <a:solidFill>
                            <a:srgbClr val="1B1F24"/>
                          </a:solidFill>
                          <a:highlight>
                            <a:srgbClr val="EEF1F4"/>
                          </a:highlight>
                          <a:latin typeface="Menlo"/>
                        </a:rPr>
                        <a:t>PreToolUse</a:t>
                      </a:r>
                      <a:r>
                        <a:rPr sz="1300" b="0" i="0">
                          <a:solidFill>
                            <a:srgbClr val="1B1F24"/>
                          </a:solidFill>
                          <a:latin typeface="Arial"/>
                        </a:rPr>
                        <a:t>, </a:t>
                      </a:r>
                      <a:r>
                        <a:rPr sz="1196" b="0" i="0">
                          <a:solidFill>
                            <a:srgbClr val="1B1F24"/>
                          </a:solidFill>
                          <a:highlight>
                            <a:srgbClr val="EEF1F4"/>
                          </a:highlight>
                          <a:latin typeface="Menlo"/>
                        </a:rPr>
                        <a:t>PostToolUse</a:t>
                      </a:r>
                      <a:r>
                        <a:rPr sz="1300" b="0" i="0">
                          <a:solidFill>
                            <a:srgbClr val="1B1F24"/>
                          </a:solidFill>
                          <a:latin typeface="Arial"/>
                        </a:rPr>
                        <a:t>, </a:t>
                      </a:r>
                      <a:r>
                        <a:rPr sz="1196" b="0" i="0">
                          <a:solidFill>
                            <a:srgbClr val="1B1F24"/>
                          </a:solidFill>
                          <a:highlight>
                            <a:srgbClr val="EEF1F4"/>
                          </a:highlight>
                          <a:latin typeface="Menlo"/>
                        </a:rPr>
                        <a:t>Stop</a:t>
                      </a:r>
                      <a:r>
                        <a:rPr sz="1300" b="0" i="0">
                          <a:solidFill>
                            <a:srgbClr val="1B1F24"/>
                          </a:solidFill>
                          <a:latin typeface="Arial"/>
                        </a:rPr>
                        <a:t>), configured in </a:t>
                      </a:r>
                      <a:r>
                        <a:rPr sz="1196" b="0" i="0">
                          <a:solidFill>
                            <a:srgbClr val="1B1F24"/>
                          </a:solidFill>
                          <a:highlight>
                            <a:srgbClr val="EEF1F4"/>
                          </a:highlight>
                          <a:latin typeface="Menlo"/>
                        </a:rPr>
                        <a:t>.claude/settings.json</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Auto-format, auto-run tests, block edits to protected files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4"/>
                  </a:ext>
                </a:extLst>
              </a:tr>
              <a:tr h="307848">
                <a:tc>
                  <a:txBody>
                    <a:bodyPr/>
                    <a:lstStyle/>
                    <a:p>
                      <a:pPr algn="l"/>
                      <a:r>
                        <a:rPr sz="1300" b="1" i="0">
                          <a:solidFill>
                            <a:srgbClr val="1B1F24"/>
                          </a:solidFill>
                          <a:latin typeface="Arial"/>
                        </a:rPr>
                        <a:t>MCP servers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Plug-in tools: databases, docs, browsers, instruments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When the agent needs data it cannot get from files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5"/>
                  </a:ext>
                </a:extLst>
              </a:tr>
              <a:tr h="307848">
                <a:tc>
                  <a:txBody>
                    <a:bodyPr/>
                    <a:lstStyle/>
                    <a:p>
                      <a:pPr algn="l"/>
                      <a:r>
                        <a:rPr sz="1196" b="1" i="0">
                          <a:solidFill>
                            <a:srgbClr val="1B1F24"/>
                          </a:solidFill>
                          <a:highlight>
                            <a:srgbClr val="EEF1F4"/>
                          </a:highlight>
                          <a:latin typeface="Menlo"/>
                        </a:rPr>
                        <a:t>! command</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Run a shell command yourself; output goes into context</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Quick checks without leaving the session</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6"/>
                  </a:ext>
                </a:extLst>
              </a:tr>
              <a:tr h="307848">
                <a:tc>
                  <a:txBody>
                    <a:bodyPr/>
                    <a:lstStyle/>
                    <a:p>
                      <a:pPr algn="l"/>
                      <a:r>
                        <a:rPr sz="1196" b="1" i="0">
                          <a:solidFill>
                            <a:srgbClr val="1B1F24"/>
                          </a:solidFill>
                          <a:highlight>
                            <a:srgbClr val="EEF1F4"/>
                          </a:highlight>
                          <a:latin typeface="Menlo"/>
                        </a:rPr>
                        <a:t>claude -p "..."</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Non-interactive, scriptable mode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Batch jobs, CI, “explain this file” from a Makefile</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7"/>
                  </a:ext>
                </a:extLst>
              </a:tr>
              <a:tr h="505968">
                <a:tc>
                  <a:txBody>
                    <a:bodyPr/>
                    <a:lstStyle/>
                    <a:p>
                      <a:pPr algn="l"/>
                      <a:r>
                        <a:rPr sz="1300" b="1" i="0">
                          <a:solidFill>
                            <a:srgbClr val="1B1F24"/>
                          </a:solidFill>
                          <a:latin typeface="Arial"/>
                        </a:rPr>
                        <a:t>Auto memory</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Claude Code keeps small notes across sessions in </a:t>
                      </a:r>
                      <a:r>
                        <a:rPr sz="1196" b="0" i="0">
                          <a:solidFill>
                            <a:srgbClr val="1B1F24"/>
                          </a:solidFill>
                          <a:highlight>
                            <a:srgbClr val="EEF1F4"/>
                          </a:highlight>
                          <a:latin typeface="Menlo"/>
                        </a:rPr>
                        <a:t>~/.claude/projects/</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tc>
                  <a:txBody>
                    <a:bodyPr/>
                    <a:lstStyle/>
                    <a:p>
                      <a:pPr algn="l"/>
                      <a:r>
                        <a:rPr sz="1300" b="0" i="0">
                          <a:solidFill>
                            <a:srgbClr val="1B1F24"/>
                          </a:solidFill>
                          <a:latin typeface="Arial"/>
                        </a:rPr>
                        <a:t>Convenience only; conventions still belong in </a:t>
                      </a:r>
                      <a:r>
                        <a:rPr sz="1196" b="0" i="0">
                          <a:solidFill>
                            <a:srgbClr val="1B1F24"/>
                          </a:solidFill>
                          <a:highlight>
                            <a:srgbClr val="EEF1F4"/>
                          </a:highlight>
                          <a:latin typeface="Menlo"/>
                        </a:rPr>
                        <a:t>CLAUDE.md</a:t>
                      </a:r>
                    </a:p>
                  </a:txBody>
                  <a:tcPr marL="82296" marR="82296">
                    <a:lnL w="0">
                      <a:noFill/>
                    </a:lnL>
                    <a:lnR w="0">
                      <a:noFill/>
                    </a:lnR>
                    <a:lnT w="9525" cap="flat" cmpd="sng" algn="ctr">
                      <a:solidFill>
                        <a:srgbClr val="D5D9DE"/>
                      </a:solidFill>
                      <a:prstDash val="solid"/>
                      <a:round/>
                      <a:headEnd type="none" w="med" len="med"/>
                      <a:tailEnd type="none" w="med" len="med"/>
                    </a:lnT>
                    <a:lnB w="9525" cap="flat" cmpd="sng" algn="ctr">
                      <a:solidFill>
                        <a:srgbClr val="D5D9DE"/>
                      </a:solidFill>
                      <a:prstDash val="soli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11094415" cy="274320"/>
          </a:xfrm>
          <a:prstGeom prst="rect">
            <a:avLst/>
          </a:prstGeom>
          <a:noFill/>
        </p:spPr>
        <p:txBody>
          <a:bodyPr wrap="square" lIns="0" tIns="0" rIns="0" bIns="0" anchor="t">
            <a:spAutoFit/>
          </a:bodyPr>
          <a:lstStyle/>
          <a:p>
            <a:pPr algn="l"/>
            <a:r>
              <a:rPr sz="1100" b="1" i="0" cap="all" spc="180">
                <a:solidFill>
                  <a:srgbClr val="B5451B"/>
                </a:solidFill>
                <a:latin typeface="Arial"/>
              </a:rPr>
              <a:t>Backup B5</a:t>
            </a:r>
          </a:p>
        </p:txBody>
      </p:sp>
      <p:sp>
        <p:nvSpPr>
          <p:cNvPr id="3" name="TextBox 2"/>
          <p:cNvSpPr txBox="1"/>
          <p:nvPr/>
        </p:nvSpPr>
        <p:spPr>
          <a:xfrm>
            <a:off x="548640" y="621792"/>
            <a:ext cx="11094415" cy="502920"/>
          </a:xfrm>
          <a:prstGeom prst="rect">
            <a:avLst/>
          </a:prstGeom>
          <a:noFill/>
        </p:spPr>
        <p:txBody>
          <a:bodyPr wrap="square" lIns="0" tIns="0" rIns="0" bIns="0" anchor="t">
            <a:spAutoFit/>
          </a:bodyPr>
          <a:lstStyle/>
          <a:p>
            <a:pPr algn="l"/>
            <a:r>
              <a:rPr sz="3000" b="1" i="0">
                <a:solidFill>
                  <a:srgbClr val="1B1F24"/>
                </a:solidFill>
                <a:latin typeface="Georgia"/>
              </a:rPr>
              <a:t>Part 1 checklist</a:t>
            </a:r>
          </a:p>
        </p:txBody>
      </p:sp>
      <p:sp>
        <p:nvSpPr>
          <p:cNvPr id="4" name="TextBox 3"/>
          <p:cNvSpPr txBox="1"/>
          <p:nvPr/>
        </p:nvSpPr>
        <p:spPr>
          <a:xfrm>
            <a:off x="548640" y="6419088"/>
            <a:ext cx="5486400" cy="274320"/>
          </a:xfrm>
          <a:prstGeom prst="rect">
            <a:avLst/>
          </a:prstGeom>
          <a:noFill/>
        </p:spPr>
        <p:txBody>
          <a:bodyPr wrap="square" lIns="0" tIns="0" rIns="0" bIns="0" anchor="t">
            <a:spAutoFit/>
          </a:bodyPr>
          <a:lstStyle/>
          <a:p>
            <a:pPr algn="l"/>
            <a:r>
              <a:rPr sz="1000" b="0" i="0">
                <a:solidFill>
                  <a:srgbClr val="5B6470"/>
                </a:solidFill>
                <a:latin typeface="Arial"/>
              </a:rPr>
              <a:t>PHY 517/617 · AI-assisted coding · Week 6</a:t>
            </a:r>
          </a:p>
        </p:txBody>
      </p:sp>
      <p:sp>
        <p:nvSpPr>
          <p:cNvPr id="5" name="TextBox 4"/>
          <p:cNvSpPr txBox="1"/>
          <p:nvPr/>
        </p:nvSpPr>
        <p:spPr>
          <a:xfrm>
            <a:off x="9814255" y="6419088"/>
            <a:ext cx="1828800" cy="274320"/>
          </a:xfrm>
          <a:prstGeom prst="rect">
            <a:avLst/>
          </a:prstGeom>
          <a:noFill/>
        </p:spPr>
        <p:txBody>
          <a:bodyPr wrap="square" lIns="0" tIns="0" rIns="0" bIns="0" anchor="t">
            <a:spAutoFit/>
          </a:bodyPr>
          <a:lstStyle/>
          <a:p>
            <a:pPr algn="r"/>
            <a:r>
              <a:rPr sz="1000" b="0" i="0">
                <a:solidFill>
                  <a:srgbClr val="5B6470"/>
                </a:solidFill>
                <a:latin typeface="Arial"/>
              </a:rPr>
              <a:t>Backup</a:t>
            </a:r>
          </a:p>
        </p:txBody>
      </p:sp>
      <p:sp>
        <p:nvSpPr>
          <p:cNvPr id="6" name="TextBox 5"/>
          <p:cNvSpPr txBox="1"/>
          <p:nvPr/>
        </p:nvSpPr>
        <p:spPr>
          <a:xfrm>
            <a:off x="548640" y="1371600"/>
            <a:ext cx="11094415" cy="3657600"/>
          </a:xfrm>
          <a:prstGeom prst="rect">
            <a:avLst/>
          </a:prstGeom>
          <a:noFill/>
        </p:spPr>
        <p:txBody>
          <a:bodyPr wrap="square" lIns="0" tIns="0" rIns="0" bIns="0">
            <a:spAutoFit/>
          </a:bodyPr>
          <a:lstStyle/>
          <a:p>
            <a:pPr marL="411480" indent="-411480">
              <a:spcAft>
                <a:spcPts val="1000"/>
              </a:spcAft>
              <a:buClr>
                <a:srgbClr val="0E5A8A"/>
              </a:buClr>
              <a:buFont typeface="Arial"/>
              <a:buChar char="☐"/>
            </a:pPr>
            <a:r>
              <a:rPr sz="1800" b="0" i="0">
                <a:solidFill>
                  <a:srgbClr val="1B1F24"/>
                </a:solidFill>
                <a:latin typeface="Arial"/>
              </a:rPr>
              <a:t>Start Claude Code </a:t>
            </a:r>
            <a:r>
              <a:rPr sz="1800" b="1" i="0">
                <a:solidFill>
                  <a:srgbClr val="1B1F24"/>
                </a:solidFill>
                <a:latin typeface="Arial"/>
              </a:rPr>
              <a:t>inside the project</a:t>
            </a:r>
            <a:r>
              <a:rPr sz="1800" b="0" i="0">
                <a:solidFill>
                  <a:srgbClr val="1B1F24"/>
                </a:solidFill>
                <a:latin typeface="Arial"/>
              </a:rPr>
              <a:t>; know your permission mode.</a:t>
            </a:r>
          </a:p>
          <a:p>
            <a:pPr marL="411480" indent="-411480">
              <a:spcAft>
                <a:spcPts val="1000"/>
              </a:spcAft>
              <a:buClr>
                <a:srgbClr val="0E5A8A"/>
              </a:buClr>
              <a:buFont typeface="Arial"/>
              <a:buChar char="☐"/>
            </a:pPr>
            <a:r>
              <a:rPr sz="1800" b="0" i="0">
                <a:solidFill>
                  <a:srgbClr val="1B1F24"/>
                </a:solidFill>
                <a:latin typeface="Arial"/>
              </a:rPr>
              <a:t>Write </a:t>
            </a:r>
            <a:r>
              <a:rPr sz="1656" b="0" i="0">
                <a:solidFill>
                  <a:srgbClr val="1B1F24"/>
                </a:solidFill>
                <a:highlight>
                  <a:srgbClr val="EEF1F4"/>
                </a:highlight>
                <a:latin typeface="Menlo"/>
              </a:rPr>
              <a:t>CLAUDE.md</a:t>
            </a:r>
            <a:r>
              <a:rPr sz="1800" b="0" i="0">
                <a:solidFill>
                  <a:srgbClr val="1B1F24"/>
                </a:solidFill>
                <a:latin typeface="Arial"/>
              </a:rPr>
              <a:t> (or </a:t>
            </a:r>
            <a:r>
              <a:rPr sz="1656" b="0" i="0">
                <a:solidFill>
                  <a:srgbClr val="1B1F24"/>
                </a:solidFill>
                <a:highlight>
                  <a:srgbClr val="EEF1F4"/>
                </a:highlight>
                <a:latin typeface="Menlo"/>
              </a:rPr>
              <a:t>AGENTS.md</a:t>
            </a:r>
            <a:r>
              <a:rPr sz="1800" b="0" i="0">
                <a:solidFill>
                  <a:srgbClr val="1B1F24"/>
                </a:solidFill>
                <a:latin typeface="Arial"/>
              </a:rPr>
              <a:t>): commands, conventions, protected files, rules.</a:t>
            </a:r>
          </a:p>
          <a:p>
            <a:pPr marL="411480" indent="-411480">
              <a:spcAft>
                <a:spcPts val="1000"/>
              </a:spcAft>
              <a:buClr>
                <a:srgbClr val="0E5A8A"/>
              </a:buClr>
              <a:buFont typeface="Arial"/>
              <a:buChar char="☐"/>
            </a:pPr>
            <a:r>
              <a:rPr sz="1800" b="0" i="0">
                <a:solidFill>
                  <a:srgbClr val="1B1F24"/>
                </a:solidFill>
                <a:latin typeface="Arial"/>
              </a:rPr>
              <a:t>Explore, then </a:t>
            </a:r>
            <a:r>
              <a:rPr sz="1800" b="1" i="0">
                <a:solidFill>
                  <a:srgbClr val="1B1F24"/>
                </a:solidFill>
                <a:latin typeface="Arial"/>
              </a:rPr>
              <a:t>plan in plan mode</a:t>
            </a:r>
            <a:r>
              <a:rPr sz="1800" b="0" i="0">
                <a:solidFill>
                  <a:srgbClr val="1B1F24"/>
                </a:solidFill>
                <a:latin typeface="Arial"/>
              </a:rPr>
              <a:t>, then code one piece, then commit.</a:t>
            </a:r>
          </a:p>
          <a:p>
            <a:pPr marL="411480" indent="-411480">
              <a:spcAft>
                <a:spcPts val="1000"/>
              </a:spcAft>
              <a:buClr>
                <a:srgbClr val="0E5A8A"/>
              </a:buClr>
              <a:buFont typeface="Arial"/>
              <a:buChar char="☐"/>
            </a:pPr>
            <a:r>
              <a:rPr sz="1800" b="0" i="0">
                <a:solidFill>
                  <a:srgbClr val="1B1F24"/>
                </a:solidFill>
                <a:latin typeface="Arial"/>
              </a:rPr>
              <a:t>Give it a </a:t>
            </a:r>
            <a:r>
              <a:rPr sz="1800" b="1" i="0">
                <a:solidFill>
                  <a:srgbClr val="1B1F24"/>
                </a:solidFill>
                <a:latin typeface="Arial"/>
              </a:rPr>
              <a:t>verifiable target</a:t>
            </a:r>
            <a:r>
              <a:rPr sz="1800" b="0" i="0">
                <a:solidFill>
                  <a:srgbClr val="1B1F24"/>
                </a:solidFill>
                <a:latin typeface="Arial"/>
              </a:rPr>
              <a:t>: reference implementation, invariants, limits.</a:t>
            </a:r>
          </a:p>
          <a:p>
            <a:pPr marL="411480" indent="-411480">
              <a:spcAft>
                <a:spcPts val="1000"/>
              </a:spcAft>
              <a:buClr>
                <a:srgbClr val="0E5A8A"/>
              </a:buClr>
              <a:buFont typeface="Arial"/>
              <a:buChar char="☐"/>
            </a:pPr>
            <a:r>
              <a:rPr sz="1800" b="0" i="0">
                <a:solidFill>
                  <a:srgbClr val="1B1F24"/>
                </a:solidFill>
                <a:latin typeface="Arial"/>
              </a:rPr>
              <a:t>Review every diff; watch for edits to tests and references.</a:t>
            </a:r>
          </a:p>
          <a:p>
            <a:pPr marL="411480" indent="-411480">
              <a:spcAft>
                <a:spcPts val="1000"/>
              </a:spcAft>
              <a:buClr>
                <a:srgbClr val="0E5A8A"/>
              </a:buClr>
              <a:buFont typeface="Arial"/>
              <a:buChar char="☐"/>
            </a:pPr>
            <a:r>
              <a:rPr sz="1800" b="0" i="0">
                <a:solidFill>
                  <a:srgbClr val="1B1F24"/>
                </a:solidFill>
                <a:latin typeface="Arial"/>
              </a:rPr>
              <a:t>Keep sessions focused; </a:t>
            </a:r>
            <a:r>
              <a:rPr sz="1656" b="0" i="0">
                <a:solidFill>
                  <a:srgbClr val="1B1F24"/>
                </a:solidFill>
                <a:highlight>
                  <a:srgbClr val="EEF1F4"/>
                </a:highlight>
                <a:latin typeface="Menlo"/>
              </a:rPr>
              <a:t>/context</a:t>
            </a:r>
            <a:r>
              <a:rPr sz="1800" b="0" i="0">
                <a:solidFill>
                  <a:srgbClr val="1B1F24"/>
                </a:solidFill>
                <a:latin typeface="Arial"/>
              </a:rPr>
              <a:t>, </a:t>
            </a:r>
            <a:r>
              <a:rPr sz="1656" b="0" i="0">
                <a:solidFill>
                  <a:srgbClr val="1B1F24"/>
                </a:solidFill>
                <a:highlight>
                  <a:srgbClr val="EEF1F4"/>
                </a:highlight>
                <a:latin typeface="Menlo"/>
              </a:rPr>
              <a:t>/compact</a:t>
            </a:r>
            <a:r>
              <a:rPr sz="1800" b="0" i="0">
                <a:solidFill>
                  <a:srgbClr val="1B1F24"/>
                </a:solidFill>
                <a:latin typeface="Arial"/>
              </a:rPr>
              <a:t>, </a:t>
            </a:r>
            <a:r>
              <a:rPr sz="1656" b="0" i="0">
                <a:solidFill>
                  <a:srgbClr val="1B1F24"/>
                </a:solidFill>
                <a:highlight>
                  <a:srgbClr val="EEF1F4"/>
                </a:highlight>
                <a:latin typeface="Menlo"/>
              </a:rPr>
              <a:t>/clear</a:t>
            </a:r>
            <a:r>
              <a:rPr sz="1800" b="0" i="0">
                <a:solidFill>
                  <a:srgbClr val="1B1F24"/>
                </a:solidFill>
                <a:latin typeface="Arial"/>
              </a:rPr>
              <a:t>.</a:t>
            </a:r>
          </a:p>
          <a:p>
            <a:pPr marL="411480" indent="-411480">
              <a:spcAft>
                <a:spcPts val="1000"/>
              </a:spcAft>
              <a:buClr>
                <a:srgbClr val="0E5A8A"/>
              </a:buClr>
              <a:buFont typeface="Arial"/>
              <a:buChar char="☐"/>
            </a:pPr>
            <a:r>
              <a:rPr sz="1800" b="0" i="0">
                <a:solidFill>
                  <a:srgbClr val="1B1F24"/>
                </a:solidFill>
                <a:latin typeface="Arial"/>
              </a:rPr>
              <a:t>Package repeated procedures as </a:t>
            </a:r>
            <a:r>
              <a:rPr sz="1800" b="1" i="0">
                <a:solidFill>
                  <a:srgbClr val="1B1F24"/>
                </a:solidFill>
                <a:latin typeface="Arial"/>
              </a:rPr>
              <a:t>skills</a:t>
            </a:r>
            <a:r>
              <a:rPr sz="1800" b="0" i="0">
                <a:solidFill>
                  <a:srgbClr val="1B1F24"/>
                </a:solidFill>
                <a:latin typeface="Arial"/>
              </a:rPr>
              <a:t>.</a:t>
            </a:r>
          </a:p>
          <a:p>
            <a:pPr marL="411480" indent="-411480">
              <a:spcAft>
                <a:spcPts val="1000"/>
              </a:spcAft>
              <a:buClr>
                <a:srgbClr val="0E5A8A"/>
              </a:buClr>
              <a:buFont typeface="Arial"/>
              <a:buChar char="☐"/>
            </a:pPr>
            <a:r>
              <a:rPr sz="1800" b="0" i="0">
                <a:solidFill>
                  <a:srgbClr val="1B1F24"/>
                </a:solidFill>
                <a:latin typeface="Arial"/>
              </a:rPr>
              <a:t>Verify independently; document one failure you caught.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TotalTime>
  <Words>6462</Words>
  <Application>Microsoft Macintosh PowerPoint</Application>
  <PresentationFormat>Widescreen</PresentationFormat>
  <Paragraphs>498</Paragraphs>
  <Slides>29</Slides>
  <Notes>29</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Georgia</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Lin, Cheng-Ju</cp:lastModifiedBy>
  <cp:revision>6</cp:revision>
  <dcterms:created xsi:type="dcterms:W3CDTF">2013-01-27T09:14:16Z</dcterms:created>
  <dcterms:modified xsi:type="dcterms:W3CDTF">2026-09-25T19:23:18Z</dcterms:modified>
  <cp:category/>
</cp:coreProperties>
</file>